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UniNav精读第2页，独立文件。保留原uninav01_architecture_cn.pptx及精读第1页uninav_io01_inputs_outputs_cn.pptx，不合并、不预先决定总页码。</a:t>
            </a:r>
          </a:p>
          <a:p>
            <a:r>
              <a:t>主来源：用户上传UniNav arXiv2608.03244v1.pdf，§3.2–3.3及图2（PDF第3–4页）、§4.1（第5页）。</a:t>
            </a:r>
          </a:p>
          <a:p>
            <a:r>
              <a:t>视觉：历史/目标/未来均由冻结Wan视频VAE编码并patchify为时空latent tokens。未来视觉latent先按式4加噪，再形成h_pred；历史h_hist与目标h_goal是已知条件。具体latent通道/分辨率/时间压缩/patch尺寸/视觉token数及embedding实现正文未给，不能直接套Wan默认数值。VAE作用通俗叫压缩，切块嵌入映射至模型输入隐藏空间。</a:t>
            </a:r>
          </a:p>
          <a:p>
            <a:r>
              <a:t>轨迹：x_traj为K×3（K=6）局部航点(Δx,Δy,Δψ)。加噪得z_traj；每个航点由MLP_traj映射h_traj,k=MLP_traj(z_traj,k)，共有6个轨迹tokens。输出头预测同轨迹形状的flow velocity，非直接一次输出最终动作。</a:t>
            </a:r>
          </a:p>
          <a:p>
            <a:r>
              <a:t>几何：式2使用冻结Gξ=DA3读取历史与真实未来图像（不是目标图像），取未来6视角对应camera-aware targets并Norm；记x_cam,k。加噪成z_cam,k，MLP_c映射h_cam,k。每个未来视角一个归一化目标token；其维度及逐维物理解释正文未给，不能宣称就是深度图、显式点云或具体相机内外参矩阵。DA3在这里是训练教师，不意味着部署可读取真实未来。</a:t>
            </a:r>
          </a:p>
          <a:p>
            <a:r>
              <a:t>拼接顺序式3：[h_cam|h_pred|h_traj|h_hist|h_goal|h_reg]。全序列进入共享去噪Transformer，以Wan2.1-T2V-1.3B初始化并微调。寄存向量可学习，帮助异构信息交换。视觉沿用预训练视频模型时空位置编码；轨迹、相机、寄存向量采用原文所说identity positional encodings，正文未详细给此操作，页面只说不强加图像网格位置，不能推断完全不区分步骤。</a:t>
            </a:r>
          </a:p>
          <a:p>
            <a:r>
              <a:t>单步网络以噪声水平为条件，由不同输出头预测v_theta,vid/traj/cam，目标u_m=epsilon_m-x_m。三者更新量形状分别与对应视频latent、6×3轨迹和几何token目标匹配，不是图像像素、物理速度或最终去噪结果。采样迭代再得到干净表示；视频经冻结VAE解码RGB，轨迹直接作为连续数值，不需要VAE；几何保持特征形式，非必须直接提供机器人执行。</a:t>
            </a:r>
          </a:p>
          <a:p>
            <a:r>
              <a:t>本图主要画训练编码和单次去噪计算。实际推理时未知目标从随机噪声初始化，不输入真实未来图像或教师提取的真实未来几何。Full联合生成视觉/轨迹/几何；Fast注意力与删token留后页。</a:t>
            </a:r>
          </a:p>
          <a:p>
            <a:r>
              <a:t>原文未在式3明确列噪声水平embedding或所有投影实现，本页省略细节，并非否认噪声水平条件。三损失与flow matching采样公式留第3页展开。图是依据论文重绘的示意，不是已验证实现代码，也不声称逐维复现论文。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UniNav 精读 / 编码、共享计算与分支输出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每类数据如何编码，又如何得到输出？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2748A"/>
                </a:solidFill>
                <a:latin typeface="Noto Sans CJK SC"/>
              </a:defRPr>
            </a:pPr>
            <a:r>
              <a:t>不同数据先变成可共同处理的向量；共享网络计算后，各输出头预测相应的去噪更新量。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04288"/>
            <a:ext cx="178308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原始数据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304288"/>
            <a:ext cx="3511296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编码与映射（训练时）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04288"/>
            <a:ext cx="1435608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142B46"/>
                </a:solidFill>
                <a:latin typeface="Noto Sans CJK SC"/>
              </a:defRPr>
            </a:pPr>
            <a:r>
              <a:t>共同计算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304288"/>
            <a:ext cx="3118104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分支输出 → 最终结果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6148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3 帧历史 + 1 张目标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7296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已知视觉条件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61488" y="276148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85292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VAE → 压缩特征 → 切块 / 嵌入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3172968"/>
            <a:ext cx="3273552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得到历史、目标条件向量；不作为加噪目标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07238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72784" y="307238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353872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3931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6 帧未来画面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5020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训练预测目标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1488" y="353872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9504" y="363016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VAE → 特征加噪 → 切块 / 嵌入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3950208"/>
            <a:ext cx="3273552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在压缩的视觉特征空间中加噪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384962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272784" y="384962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431596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1655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6 × 3 航点数值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2744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训练预测目标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1488" y="431596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9504" y="4407407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数值加噪 → 小型映射网络 MLP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4727448"/>
            <a:ext cx="3273552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每个航点映射为 1 个向量，共 6 个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68880" y="462686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272784" y="462686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5800" y="5093208"/>
            <a:ext cx="1783080" cy="62179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193792"/>
            <a:ext cx="16916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历史 + 真实未来图像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04688"/>
            <a:ext cx="169164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训练几何教师的输入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61488" y="5093208"/>
            <a:ext cx="3511296" cy="621792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89504" y="5184648"/>
            <a:ext cx="3273552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2B46"/>
                </a:solidFill>
                <a:latin typeface="Noto Sans CJK SC"/>
              </a:defRPr>
            </a:pPr>
            <a:r>
              <a:t>冻结 DA3 → 取未来几何特征 → 归一化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9504" y="5504688"/>
            <a:ext cx="3273552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特征加噪 → MLP；共 6 个未来几何向量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68880" y="5404104"/>
            <a:ext cx="29260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72784" y="5404104"/>
            <a:ext cx="384048" cy="0"/>
          </a:xfrm>
          <a:prstGeom prst="line">
            <a:avLst/>
          </a:prstGeom>
          <a:ln w="1397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56832" y="2761488"/>
            <a:ext cx="1435608" cy="2953512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9984" y="3163824"/>
            <a:ext cx="1289304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48D91"/>
                </a:solidFill>
                <a:latin typeface="Noto Sans CJK SC"/>
              </a:defRPr>
            </a:pPr>
            <a:r>
              <a:t>共享网络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3648456"/>
            <a:ext cx="1289304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Transformer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4142232"/>
            <a:ext cx="1289304" cy="1033271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拼接向量序列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交换信息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更新共享特征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9984" y="5349240"/>
            <a:ext cx="1289304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900" b="0">
                <a:solidFill>
                  <a:srgbClr val="148D91"/>
                </a:solidFill>
                <a:latin typeface="Noto Sans CJK SC"/>
              </a:defRPr>
            </a:pPr>
            <a:r>
              <a:t>主网络参与微调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2852928"/>
            <a:ext cx="3118104" cy="4572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历史与目标只作条件；</a:t>
            </a:r>
          </a:p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下方三支输出的是更新量。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94192" y="353872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13064" y="3630168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视频输出头 → 视觉特征更新量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3064" y="395020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迭代恢复特征，再由 VAE 解码为 6 帧 RGB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092440" y="384962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8394192" y="431596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407407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轨迹输出头 → 6 × 3 更新量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72744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迭代后得到 6 × 3 的连续航点轨迹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92440" y="462686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394192" y="5093208"/>
            <a:ext cx="3118104" cy="62179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13064" y="5184648"/>
            <a:ext cx="2880360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48D91"/>
                </a:solidFill>
                <a:latin typeface="Noto Sans CJK SC"/>
              </a:defRPr>
            </a:pPr>
            <a:r>
              <a:t>几何输出头 → 几何特征更新量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13064" y="5504688"/>
            <a:ext cx="2880360" cy="18288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迭代后恢复未来视角的相机几何特征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092440" y="5404104"/>
            <a:ext cx="301752" cy="0"/>
          </a:xfrm>
          <a:prstGeom prst="line">
            <a:avLst/>
          </a:prstGeom>
          <a:ln w="1397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85800" y="5888736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另加入可学习的寄存向量帮助信息交流；视觉向量保留时空位置编码，其余类型不强加图像网格位置。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6272784"/>
            <a:ext cx="10826496" cy="36576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" y="6336792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48D91"/>
                </a:solidFill>
                <a:latin typeface="Noto Sans CJK SC"/>
              </a:defRPr>
            </a:pPr>
            <a:r>
              <a:t>参数更新：VAE 与 DA3 冻结；共享网络、新增 MLP 与输出头训练。更新量不是机器人速度。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6711696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 §3.2–3.3、图 2；正文未给出视觉向量数量、隐藏维度及几何特征维度，本页不补造。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8440" y="6711696"/>
            <a:ext cx="1133856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编码架构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