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单页论文导读，按尚未开展相关实验的口吻介绍，不声称已实现任何改进。原有UniNav架构页保留，未拼接总稿。</a:t>
            </a:r>
          </a:p>
          <a:p>
            <a:r>
              <a:t>UniNav: A Unified World-Action Diffusion Model for Visual Navigation. arXiv:2608.03244v1，用户上传版本。来源图2、§3、表1、表4、§5。</a:t>
            </a:r>
          </a:p>
          <a:p>
            <a:r>
              <a:t>表1：Full/Fast两个变体合看在RECON、SaCSoN、GO Stanford、SCAND四基准分别取得表中最佳ATE，不代表Full独自全部最佳，也不代表RPE全部最佳。RECON strongest baseline NWM ATE .326，Full .314，下降(.326-.314)/.326=3.68%。这只是论文设置下的结果，不能证明某一模块单独的因果贡献。表1仅使用带轨迹标签的导航数据，未额外加入视频数据。</a:t>
            </a:r>
          </a:p>
          <a:p>
            <a:r>
              <a:t>表4：单RTX4090，RECON，2步采样，Full latency .389秒/ATE .314；Fast .212秒/ATE .316，速度比约1.835，延迟下降约45.5%。2步是去噪采样次数，不是2个航点。Fast非所有对比方法中最快。主比较默认预测6个未来航点。</a:t>
            </a:r>
          </a:p>
          <a:p>
            <a:r>
              <a:t>已知条件为3帧历史（含当前）与1张目标图像。训练时未来图像、轨迹及相机几何表征是被监督的目标，真实未来信息不会作为部署时的已知条件。几何教师为冻结DA3；视觉VAE冻结。共享Transformer以Wan2.1初始化。</a:t>
            </a:r>
          </a:p>
          <a:p>
            <a:r>
              <a:t>Fast需要非对称注意力及专门训练，不能直接随意删Full分支。它在推理时移除未来视频tokens及VAE解码；此处不声称所有辅助分支都被移除。</a:t>
            </a:r>
          </a:p>
          <a:p>
            <a:r>
              <a:t>启发是增加未来运动信息作为辅助监督。逐步转角辅助头是适合本项目的研究设想，不是UniNav原文中的单独yaw辅助算法；用转角积分代替直接方向是另一个需要验证的推理假设。未声称已实现UniNav、采用其世界模型、DA3或未来视频生成。</a:t>
            </a:r>
          </a:p>
          <a:p>
            <a:r>
              <a:t>论文局限主要为离线短时局部轨迹评估，更广泛闭环实机部署仍待探索。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14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457200"/>
            <a:ext cx="50292" cy="210312"/>
          </a:xfrm>
          <a:prstGeom prst="rect">
            <a:avLst/>
          </a:prstGeom>
          <a:solidFill>
            <a:srgbClr val="148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20624"/>
            <a:ext cx="10058400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62748A"/>
                </a:solidFill>
                <a:latin typeface="Noto Sans CJK SC"/>
              </a:defRPr>
            </a:pPr>
            <a:r>
              <a:t>论文启发 / UniNav：成果、特点与研究启发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86968"/>
            <a:ext cx="10972800" cy="54864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2700" b="1">
                <a:solidFill>
                  <a:srgbClr val="142B46"/>
                </a:solidFill>
                <a:latin typeface="Noto Sans CJK SC"/>
              </a:defRPr>
            </a:pPr>
            <a:r>
              <a:t>把“未来会看到什么”和“接下来怎么走”一起学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1508760"/>
            <a:ext cx="10972800" cy="30175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62748A"/>
                </a:solidFill>
                <a:latin typeface="Noto Sans CJK SC"/>
              </a:defRPr>
            </a:pPr>
            <a:r>
              <a:t>核心思路：联合预测未来画面、运动轨迹与几何表征，让视觉预见参与导航学习。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7512" y="2039112"/>
            <a:ext cx="2340864" cy="630936"/>
          </a:xfrm>
          <a:prstGeom prst="roundRect">
            <a:avLst>
              <a:gd name="adj" fmla="val 12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0664" y="2185416"/>
            <a:ext cx="2194560" cy="32004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500" b="1">
                <a:solidFill>
                  <a:srgbClr val="142B46"/>
                </a:solidFill>
                <a:latin typeface="Noto Sans CJK SC"/>
              </a:defRPr>
            </a:pPr>
            <a:r>
              <a:t>历史画面 + 目标图像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017520" y="2359152"/>
            <a:ext cx="557784" cy="0"/>
          </a:xfrm>
          <a:prstGeom prst="line">
            <a:avLst/>
          </a:prstGeom>
          <a:ln w="17780">
            <a:solidFill>
              <a:srgbClr val="62748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593592" y="1984248"/>
            <a:ext cx="2770632" cy="740664"/>
          </a:xfrm>
          <a:prstGeom prst="roundRect">
            <a:avLst>
              <a:gd name="adj" fmla="val 12000"/>
            </a:avLst>
          </a:prstGeom>
          <a:solidFill>
            <a:srgbClr val="DF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75887" y="2084831"/>
            <a:ext cx="2606040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800" b="1">
                <a:solidFill>
                  <a:srgbClr val="148D91"/>
                </a:solidFill>
                <a:latin typeface="Noto Sans CJK SC"/>
              </a:defRPr>
            </a:pPr>
            <a:r>
              <a:t>共享生成网络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75887" y="2441448"/>
            <a:ext cx="2606040" cy="20116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联合学习三类信息的生成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382512" y="2359152"/>
            <a:ext cx="557784" cy="0"/>
          </a:xfrm>
          <a:prstGeom prst="line">
            <a:avLst/>
          </a:prstGeom>
          <a:ln w="17780">
            <a:solidFill>
              <a:srgbClr val="62748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958584" y="1984248"/>
            <a:ext cx="1435608" cy="740664"/>
          </a:xfrm>
          <a:prstGeom prst="roundRect">
            <a:avLst>
              <a:gd name="adj" fmla="val 12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86016" y="2084831"/>
            <a:ext cx="1380744" cy="26517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400" b="1">
                <a:solidFill>
                  <a:srgbClr val="142B46"/>
                </a:solidFill>
                <a:latin typeface="Noto Sans CJK SC"/>
              </a:defRPr>
            </a:pPr>
            <a:r>
              <a:t>未来画面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2450592"/>
            <a:ext cx="1380744" cy="20116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场景如何变化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503920" y="1984248"/>
            <a:ext cx="1435608" cy="740664"/>
          </a:xfrm>
          <a:prstGeom prst="roundRect">
            <a:avLst>
              <a:gd name="adj" fmla="val 12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31352" y="2084831"/>
            <a:ext cx="1380744" cy="26517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400" b="1">
                <a:solidFill>
                  <a:srgbClr val="142B46"/>
                </a:solidFill>
                <a:latin typeface="Noto Sans CJK SC"/>
              </a:defRPr>
            </a:pPr>
            <a:r>
              <a:t>运动轨迹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31352" y="2450592"/>
            <a:ext cx="1380744" cy="20116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平移 + 转角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049256" y="1984248"/>
            <a:ext cx="1472184" cy="740664"/>
          </a:xfrm>
          <a:prstGeom prst="roundRect">
            <a:avLst>
              <a:gd name="adj" fmla="val 12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76688" y="2084831"/>
            <a:ext cx="1417320" cy="26517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400" b="1">
                <a:solidFill>
                  <a:srgbClr val="142B46"/>
                </a:solidFill>
                <a:latin typeface="Noto Sans CJK SC"/>
              </a:defRPr>
            </a:pPr>
            <a:r>
              <a:t>几何表征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76688" y="2450592"/>
            <a:ext cx="1417320" cy="20116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空间结构信息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7512" y="3035808"/>
            <a:ext cx="3401568" cy="2560320"/>
          </a:xfrm>
          <a:prstGeom prst="roundRect">
            <a:avLst>
              <a:gd name="adj" fmla="val 12000"/>
            </a:avLst>
          </a:prstGeom>
          <a:solidFill>
            <a:srgbClr val="EF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270248" y="3035808"/>
            <a:ext cx="3401568" cy="2560320"/>
          </a:xfrm>
          <a:prstGeom prst="roundRect">
            <a:avLst>
              <a:gd name="adj" fmla="val 12000"/>
            </a:avLst>
          </a:prstGeom>
          <a:solidFill>
            <a:srgbClr val="EF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872983" y="3035808"/>
            <a:ext cx="3648456" cy="2560320"/>
          </a:xfrm>
          <a:prstGeom prst="roundRect">
            <a:avLst>
              <a:gd name="adj" fmla="val 12000"/>
            </a:avLst>
          </a:prstGeom>
          <a:solidFill>
            <a:srgbClr val="EF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1248" y="3209544"/>
            <a:ext cx="3017520" cy="29260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800" b="1">
                <a:solidFill>
                  <a:srgbClr val="142B46"/>
                </a:solidFill>
                <a:latin typeface="Noto Sans CJK SC"/>
              </a:defRPr>
            </a:pPr>
            <a:r>
              <a:t>01  取得了什么？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3666744"/>
            <a:ext cx="3017520" cy="29260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48D91"/>
                </a:solidFill>
                <a:latin typeface="Noto Sans CJK SC"/>
              </a:defRPr>
            </a:pPr>
            <a:r>
              <a:t>四个基准，轨迹误差更低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" y="4069080"/>
            <a:ext cx="3063240" cy="56692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62748A"/>
                </a:solidFill>
                <a:latin typeface="Noto Sans CJK SC"/>
              </a:defRPr>
            </a:pPr>
            <a:r>
              <a:t>Full / Fast 在四个数据集上</a:t>
            </a:r>
          </a:p>
          <a:p>
            <a:pPr>
              <a:spcAft>
                <a:spcPts val="700"/>
              </a:spcAft>
              <a:defRPr sz="1200" b="0">
                <a:solidFill>
                  <a:srgbClr val="62748A"/>
                </a:solidFill>
                <a:latin typeface="Noto Sans CJK SC"/>
              </a:defRPr>
            </a:pPr>
            <a:r>
              <a:t>取得表中最佳绝对轨迹误差。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" y="4727448"/>
            <a:ext cx="3063240" cy="26517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1">
                <a:solidFill>
                  <a:srgbClr val="142B46"/>
                </a:solidFill>
                <a:latin typeface="Noto Sans CJK SC"/>
              </a:defRPr>
            </a:pPr>
            <a:r>
              <a:t>RECON：Full 的误差降低 3.7%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1248" y="5065776"/>
            <a:ext cx="3063240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1">
                <a:solidFill>
                  <a:srgbClr val="142B46"/>
                </a:solidFill>
                <a:latin typeface="Noto Sans CJK SC"/>
              </a:defRPr>
            </a:pPr>
            <a:r>
              <a:t>同为两步，Fast 比 Full 快约 1.8 倍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43984" y="3209544"/>
            <a:ext cx="3017520" cy="29260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800" b="1">
                <a:solidFill>
                  <a:srgbClr val="142B46"/>
                </a:solidFill>
                <a:latin typeface="Noto Sans CJK SC"/>
              </a:defRPr>
            </a:pPr>
            <a:r>
              <a:t>02  有什么特点？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43984" y="3666744"/>
            <a:ext cx="3017520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48D91"/>
                </a:solidFill>
                <a:latin typeface="Noto Sans CJK SC"/>
              </a:defRPr>
            </a:pPr>
            <a:r>
              <a:t>环境与动作，放在一起学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43984" y="4087368"/>
            <a:ext cx="3063240" cy="5029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62748A"/>
                </a:solidFill>
                <a:latin typeface="Noto Sans CJK SC"/>
              </a:defRPr>
            </a:pPr>
            <a:r>
              <a:t>未来画面、轨迹、几何表征</a:t>
            </a:r>
          </a:p>
          <a:p>
            <a:pPr>
              <a:spcAft>
                <a:spcPts val="700"/>
              </a:spcAft>
              <a:defRPr sz="1200" b="0">
                <a:solidFill>
                  <a:srgbClr val="62748A"/>
                </a:solidFill>
                <a:latin typeface="Noto Sans CJK SC"/>
              </a:defRPr>
            </a:pPr>
            <a:r>
              <a:t>共享网络，接受各自的监督。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43984" y="4727448"/>
            <a:ext cx="3017520" cy="26517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142B46"/>
                </a:solidFill>
                <a:latin typeface="Noto Sans CJK SC"/>
              </a:defRPr>
            </a:pPr>
            <a:r>
              <a:t>训练学得丰富，推理可以精简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43984" y="5074920"/>
            <a:ext cx="3063240" cy="26517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50" b="0">
                <a:solidFill>
                  <a:srgbClr val="62748A"/>
                </a:solidFill>
                <a:latin typeface="Noto Sans CJK SC"/>
              </a:defRPr>
            </a:pPr>
            <a:r>
              <a:t>Fast 经专门训练，省去未来画面生成。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46720" y="3209544"/>
            <a:ext cx="3200400" cy="29260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800" b="1">
                <a:solidFill>
                  <a:srgbClr val="142B46"/>
                </a:solidFill>
                <a:latin typeface="Noto Sans CJK SC"/>
              </a:defRPr>
            </a:pPr>
            <a:r>
              <a:t>03  对我的启发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46720" y="3666744"/>
            <a:ext cx="3200400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400" b="1">
                <a:solidFill>
                  <a:srgbClr val="148D91"/>
                </a:solidFill>
                <a:latin typeface="Noto Sans CJK SC"/>
              </a:defRPr>
            </a:pPr>
            <a:r>
              <a:t>不只监督终点，也监督运动过程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46720" y="4087368"/>
            <a:ext cx="3200400" cy="56692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62748A"/>
                </a:solidFill>
                <a:latin typeface="Noto Sans CJK SC"/>
              </a:defRPr>
            </a:pPr>
            <a:r>
              <a:t>可加入逐步转角等辅助任务，</a:t>
            </a:r>
          </a:p>
          <a:p>
            <a:pPr>
              <a:spcAft>
                <a:spcPts val="700"/>
              </a:spcAft>
              <a:defRPr sz="1200" b="0">
                <a:solidFill>
                  <a:srgbClr val="62748A"/>
                </a:solidFill>
                <a:latin typeface="Noto Sans CJK SC"/>
              </a:defRPr>
            </a:pPr>
            <a:r>
              <a:t>让共享视觉特征学习途中如何转弯。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46720" y="4754880"/>
            <a:ext cx="3200400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1">
                <a:solidFill>
                  <a:srgbClr val="142B46"/>
                </a:solidFill>
                <a:latin typeface="Noto Sans CJK SC"/>
              </a:defRPr>
            </a:pPr>
            <a:r>
              <a:t>再分别验证：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46720" y="5093208"/>
            <a:ext cx="3200400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142B46"/>
                </a:solidFill>
                <a:latin typeface="Noto Sans CJK SC"/>
              </a:defRPr>
            </a:pPr>
            <a:r>
              <a:t>只辅助训练 / 是否用于推理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67512" y="5815584"/>
            <a:ext cx="10853928" cy="438912"/>
          </a:xfrm>
          <a:prstGeom prst="roundRect">
            <a:avLst>
              <a:gd name="adj" fmla="val 12000"/>
            </a:avLst>
          </a:prstGeom>
          <a:solidFill>
            <a:srgbClr val="E0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50392" y="5897880"/>
            <a:ext cx="10469880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148D91"/>
                </a:solidFill>
                <a:latin typeface="Noto Sans CJK SC"/>
              </a:defRPr>
            </a:pPr>
            <a:r>
              <a:t>可借鉴的是“增加未来信息的训练监督”；转角辅助任务能否改善方向预测，还需要实验检验。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7512" y="6391656"/>
            <a:ext cx="10972800" cy="23774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口径：轨迹误差越低越好；主要为离线评估，不能直接等同于实机导航成功率。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7512" y="6684264"/>
            <a:ext cx="10789920" cy="14630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来源：UniNav，arXiv:2608.03244v1，图 2、表 1 / 4、§3.4 / 5。RECON 对比 NWM；速度为 RTX 4090 两步采样。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