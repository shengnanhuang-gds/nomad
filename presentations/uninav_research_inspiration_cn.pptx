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单页论文导读，按尚未开展相关实验的口吻介绍，不声称已实现任何改进。原有UniNav架构页保留，未拼接总稿。</a:t>
            </a:r>
          </a:p>
          <a:p>
            <a:r>
              <a:t>UniNav: A Unified World-Action Diffusion Model for Visual Navigation. arXiv:2608.03244v1，用户上传版本。来源图2、§3、表1、表4、§5。</a:t>
            </a:r>
          </a:p>
          <a:p>
            <a:r>
              <a:t>表1：Full/Fast两个变体合看在RECON、SaCSoN、GO Stanford、SCAND四基准分别取得表中最佳ATE，不代表Full独自全部最佳，也不代表RPE全部最佳。RECON strongest baseline NWM ATE .326，Full .314，下降(.326-.314)/.326=3.68%。这只是论文设置下的结果，不能证明某一模块单独的因果贡献。表1仅使用带轨迹标签的导航数据，未额外加入视频数据。新增四行表：RECON .326(NWM)→.314(Full), 3.7%；SaCSoN .616(ViNT)→.464(Full), 24.7%；GO Stanford .840(NavDP)→.687(Fast), 18.2%；SCAND .497(NWM)→.463(Full), 6.8%。百分比按原表精度四舍五入。</a:t>
            </a:r>
          </a:p>
          <a:p>
            <a:r>
              <a:t>表4：单RTX4090，RECON，2步采样，Full latency .389秒/ATE .314；Fast .212秒/ATE .316，速度比约1.835，延迟下降约45.5%。2步是去噪采样次数，不是2个航点。Fast非所有对比方法中最快。主比较默认预测6个未来航点。</a:t>
            </a:r>
          </a:p>
          <a:p>
            <a:r>
              <a:t>已知条件为3帧历史（含当前）与1张目标图像。训练时未来图像、轨迹及相机几何表征是被监督的目标，真实未来信息不会作为部署时的已知条件。几何教师为冻结DA3；视觉VAE冻结。共享Transformer以Wan2.1初始化。</a:t>
            </a:r>
          </a:p>
          <a:p>
            <a:r>
              <a:t>Fast需要非对称注意力及专门训练，不能直接随意删Full分支。它在推理时移除未来视频tokens及VAE解码；此处不声称所有辅助分支都被移除。</a:t>
            </a:r>
          </a:p>
          <a:p>
            <a:r>
              <a:t>启发是增加未来运动信息作为辅助监督。逐步转角辅助头是适合本项目的研究设想，不是UniNav原文中的单独yaw辅助算法；用转角积分代替直接方向是另一个需要验证的推理假设。未声称已实现UniNav、采用其世界模型、DA3或未来视频生成。</a:t>
            </a:r>
          </a:p>
          <a:p>
            <a:r>
              <a:t>论文局限主要为离线短时局部轨迹评估，更广泛闭环实机部署仍待探索。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57200"/>
            <a:ext cx="50292" cy="210312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论文启发 / UniNav：成果、特点与研究启发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86968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B46"/>
                </a:solidFill>
                <a:latin typeface="Noto Sans CJK SC"/>
              </a:defRPr>
            </a:pPr>
            <a:r>
              <a:t>把“未来会看到什么”和“接下来怎么走”一起学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10972800" cy="3017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核心思路：联合预测未来画面、运动轨迹与几何表征，让视觉预见参与导航学习。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039112"/>
            <a:ext cx="2340864" cy="63093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185416"/>
            <a:ext cx="219456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历史画面 + 目标图像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359152"/>
            <a:ext cx="55778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93592" y="1984248"/>
            <a:ext cx="2770632" cy="740664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084831"/>
            <a:ext cx="26060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8D91"/>
                </a:solidFill>
                <a:latin typeface="Noto Sans CJK SC"/>
              </a:defRPr>
            </a:pPr>
            <a:r>
              <a:t>共享生成网络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441448"/>
            <a:ext cx="2606040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联合学习三类信息的生成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82512" y="2359152"/>
            <a:ext cx="557784" cy="0"/>
          </a:xfrm>
          <a:prstGeom prst="line">
            <a:avLst/>
          </a:prstGeom>
          <a:ln w="1778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58584" y="1984248"/>
            <a:ext cx="1435608" cy="740664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084831"/>
            <a:ext cx="1380744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未来画面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450592"/>
            <a:ext cx="1380744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场景如何变化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984248"/>
            <a:ext cx="1435608" cy="740664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84831"/>
            <a:ext cx="1380744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运动轨迹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450592"/>
            <a:ext cx="1380744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平移 + 转角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49256" y="1984248"/>
            <a:ext cx="1472184" cy="740664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2084831"/>
            <a:ext cx="141732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几何表征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2450592"/>
            <a:ext cx="1417320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空间结构信息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3017520"/>
            <a:ext cx="5760720" cy="2587752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72968"/>
            <a:ext cx="539496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B46"/>
                </a:solidFill>
                <a:latin typeface="Noto Sans CJK SC"/>
              </a:defRPr>
            </a:pPr>
            <a:r>
              <a:t>01  四个数据集的 ATE 均优于最强对照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575304"/>
            <a:ext cx="53949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ATE：绝对轨迹误差，衡量预测与真实轨迹的差距，越低越好。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950208"/>
            <a:ext cx="139903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数据集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3950208"/>
            <a:ext cx="1234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最强对照 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950208"/>
            <a:ext cx="1344168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UniNav 最好 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3950208"/>
            <a:ext cx="987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误差降低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261104"/>
            <a:ext cx="5376672" cy="0"/>
          </a:xfrm>
          <a:prstGeom prst="line">
            <a:avLst/>
          </a:prstGeom>
          <a:ln w="1270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" y="4370832"/>
            <a:ext cx="139903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RECON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370832"/>
            <a:ext cx="1234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0.326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4370832"/>
            <a:ext cx="1344168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0.314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4370832"/>
            <a:ext cx="987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3.7%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622292"/>
            <a:ext cx="139903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SaCSoN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4622292"/>
            <a:ext cx="1234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0.616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622292"/>
            <a:ext cx="1344168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0.464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5504" y="4622292"/>
            <a:ext cx="987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24.7%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4873752"/>
            <a:ext cx="139903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GO Stanford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4873752"/>
            <a:ext cx="1234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0.840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4873752"/>
            <a:ext cx="1344168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0.687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5504" y="4873752"/>
            <a:ext cx="987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18.2%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5125212"/>
            <a:ext cx="139903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SCAND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5125212"/>
            <a:ext cx="12344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42B46"/>
                </a:solidFill>
                <a:latin typeface="Noto Sans CJK SC"/>
              </a:defRPr>
            </a:pPr>
            <a:r>
              <a:t>0.497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5125212"/>
            <a:ext cx="1344168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0.463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5125212"/>
            <a:ext cx="987552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6.8%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431536"/>
            <a:ext cx="5367528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最好值：GO Stanford 为 Fast，其余为 Full；最强对照取论文表 1 各列最优值。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3017520"/>
            <a:ext cx="4892040" cy="1197864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3172968"/>
            <a:ext cx="4535424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02  特点：环境与动作，放在一起学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602736"/>
            <a:ext cx="4535424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未来画面、轨迹和几何表征共享网络，接受各自监督。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3136" y="3922776"/>
            <a:ext cx="4535424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Fast 经专门训练，在推理时省去未来画面生成。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4407408"/>
            <a:ext cx="4892040" cy="1197864"/>
          </a:xfrm>
          <a:prstGeom prst="roundRect">
            <a:avLst>
              <a:gd name="adj" fmla="val 12000"/>
            </a:avLst>
          </a:prstGeom>
          <a:solidFill>
            <a:srgbClr val="EF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03136" y="4562856"/>
            <a:ext cx="4535424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03  启发：借鉴联合监督，提出待验证假设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4992624"/>
            <a:ext cx="4535424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借鉴多种未来信息共同训练的思路，尝试转角辅助任务。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5312664"/>
            <a:ext cx="4535424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转角能否改善方向预测，需独立对照实验验证。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7512" y="5815584"/>
            <a:ext cx="10853928" cy="438912"/>
          </a:xfrm>
          <a:prstGeom prst="roundRect">
            <a:avLst>
              <a:gd name="adj" fmla="val 12000"/>
            </a:avLst>
          </a:prstGeom>
          <a:solidFill>
            <a:srgbClr val="E0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" y="5897880"/>
            <a:ext cx="1046988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论文验证的是整体方法，不能将其提升归因于转角监督；本项目仅借鉴联合监督的思路。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6391656"/>
            <a:ext cx="109728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口径：轨迹误差越低越好；主要为离线评估，不能直接等同于实机导航成功率。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" y="6684264"/>
            <a:ext cx="107899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来源：UniNav，arXiv:2608.03244v1，图 2、表 1、§3.4 / 5。误差降低 =（最强对照 ATE − UniNav 最好 ATE）/ 最强对照 ATE。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