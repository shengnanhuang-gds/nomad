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第7页公式修订：原损失L_orig=sum(b_i*l_i)/sum(b_i)；新损失L_new=sum(b_i*alpha_i*l_i)/sum(b_i*alpha_i)。两者都按权重和归一化，不是把整个loss或绝对梯度直接乘2/3。</a:t>
            </a:r>
          </a:p>
          <a:p>
            <a:r>
              <a:t>代码来源main c1b3750：train/train_goal_dino.py:run_epoch中基础b_i=steps_dev/FAR_STEPS，训练时乘turn_strict系数或curvature tier；train/train_goal_dir.py:direction_loss中(per_sample*weight).sum()/weight.sum()。</a:t>
            </a:r>
          </a:p>
          <a:p>
            <a:r>
              <a:t>l_i预热阶段1-cos(theta_i)，之后为von Mises NLL -kappa_i*cos(theta_i)+log I0(kappa_i)，省略常数log2pi；theta为预测WP相对真实endpoint方位的夹角，I0为0阶第一类修正贝塞尔函数。kappa是模型预测集中度，不是本次训练加权alpha。</a:t>
            </a:r>
          </a:p>
          <a:p>
            <a:r>
              <a:t>B strictturn alpha2、C alpha3，其他1；strictturn来自GT endpoint lateral&gt;=.30m OR abs yawchange&gt;=45deg。D在训练帧累计绝对转角的33.333/66.667分位点按1/1.5/3分档，实际不是按每米曲率计算，故主页面改称累计转角分档。B/C/D独立方案，不将三个权重叠乘为同一实验。</a:t>
            </a:r>
          </a:p>
          <a:p>
            <a:r>
              <a:t>保留P3_training_batch.md与p3_morning_metrics.csv原始Val结果：ctx2/B/C/D的turn median13.02/12.11/12.55/11.98deg，turn P9053.12/55.77/54.01/53.95deg；全量&gt;45比例7.08/8.04/7.44/7.75%。</a:t>
            </a:r>
          </a:p>
          <a:p>
            <a:r>
              <a:t>Val allfar n5110、turn n2751；全量&gt;45比例不能与第6页turn子集比例混用。ctx2参考标SeedA，B/C/D标Seed0，未建立多种子显著性，不与后续turnhard组合训练混为同一配方。C的P95有改善，故结论只针对展示的P90和全量&gt;45，不声称所有尾部指标都变差。</a:t>
            </a:r>
          </a:p>
          <a:p>
            <a:r>
              <a:t>所有公式采用原生可编辑文本+分数线，结果表仍可编辑。新增alpha仅用于训练，验证取消额外turn/curvature权重，保留原评估规则。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P3 / 转弯加权：公式与验证结果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提高转弯样本权重，能否减少尾部错误？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2748A"/>
                </a:solidFill>
                <a:latin typeface="Noto Sans CJK SC"/>
              </a:defRPr>
            </a:pPr>
            <a:r>
              <a:t>单样本方向损失不变；在原有距离权重上，再乘转弯权重，让难例对训练影响更大。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85416"/>
            <a:ext cx="5303520" cy="10789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295144"/>
            <a:ext cx="497433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原来：仅按目标距离加权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61488"/>
            <a:ext cx="1078992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42B46"/>
                </a:solidFill>
                <a:latin typeface="Noto Sans CJK SC"/>
              </a:defRPr>
            </a:pPr>
            <a:r>
              <a:t>L原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288" y="2651760"/>
            <a:ext cx="2962656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900" b="0">
                <a:solidFill>
                  <a:srgbClr val="142B46"/>
                </a:solidFill>
                <a:latin typeface="Noto Sans CJK SC"/>
              </a:defRPr>
            </a:pPr>
            <a:r>
              <a:t>∑ᵢ bᵢ ℓᵢ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04288" y="2926080"/>
            <a:ext cx="2962656" cy="0"/>
          </a:xfrm>
          <a:prstGeom prst="line">
            <a:avLst/>
          </a:prstGeom>
          <a:ln w="13335">
            <a:solidFill>
              <a:srgbClr val="142B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304288" y="2971800"/>
            <a:ext cx="2962656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900" b="0">
                <a:solidFill>
                  <a:srgbClr val="142B46"/>
                </a:solidFill>
                <a:latin typeface="Noto Sans CJK SC"/>
              </a:defRPr>
            </a:pPr>
            <a:r>
              <a:t>∑ᵢ bᵢ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2185416"/>
            <a:ext cx="5303520" cy="10789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2295144"/>
            <a:ext cx="497433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现在：距离权重 × 转弯权重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4536" y="2761488"/>
            <a:ext cx="1078992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148D91"/>
                </a:solidFill>
                <a:latin typeface="Noto Sans CJK SC"/>
              </a:defRPr>
            </a:pPr>
            <a:r>
              <a:t>L新 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27264" y="2651760"/>
            <a:ext cx="2962656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900" b="0">
                <a:solidFill>
                  <a:srgbClr val="148D91"/>
                </a:solidFill>
                <a:latin typeface="Noto Sans CJK SC"/>
              </a:defRPr>
            </a:pPr>
            <a:r>
              <a:t>∑ᵢ bᵢ αᵢ ℓᵢ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27264" y="2926080"/>
            <a:ext cx="2962656" cy="0"/>
          </a:xfrm>
          <a:prstGeom prst="line">
            <a:avLst/>
          </a:prstGeom>
          <a:ln w="13335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827264" y="2971800"/>
            <a:ext cx="2962656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900" b="0">
                <a:solidFill>
                  <a:srgbClr val="148D91"/>
                </a:solidFill>
                <a:latin typeface="Noto Sans CJK SC"/>
              </a:defRPr>
            </a:pPr>
            <a:r>
              <a:t>∑ᵢ bᵢ αᵢ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410712"/>
            <a:ext cx="10826496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ℓᵢ：单样本方向损失；bᵢ：原有目标距离权重；αᵢ：本次新增的转弯权重。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749039"/>
            <a:ext cx="10826496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B：转弯 α=2；C：转弯 α=3（其他样本均为 1）；D：累计转角低 / 中 / 高三档 α=1 / 1.5 / 3。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078224"/>
            <a:ext cx="10826496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ℓᵢ 的计算：预热时 1−cosθᵢ；后续为 −κᵢ cosθᵢ + log I₀(κᵢ)（θᵢ 为方向误差，κᵢ 为方向集中度）。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453128"/>
            <a:ext cx="10826496" cy="32918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4526280"/>
            <a:ext cx="28346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WP 训练方案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5072" y="4526280"/>
            <a:ext cx="1773936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62748A"/>
                </a:solidFill>
                <a:latin typeface="Noto Sans CJK SC"/>
              </a:defRPr>
            </a:pPr>
            <a:r>
              <a:t>全量中位误差 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0448" y="4526280"/>
            <a:ext cx="1773936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62748A"/>
                </a:solidFill>
                <a:latin typeface="Noto Sans CJK SC"/>
              </a:defRPr>
            </a:pPr>
            <a:r>
              <a:t>转弯中位误差 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35824" y="4526280"/>
            <a:ext cx="1773936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62748A"/>
                </a:solidFill>
                <a:latin typeface="Noto Sans CJK SC"/>
              </a:defRPr>
            </a:pPr>
            <a:r>
              <a:t>转弯 P90 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526280"/>
            <a:ext cx="1911095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62748A"/>
                </a:solidFill>
                <a:latin typeface="Noto Sans CJK SC"/>
              </a:defRPr>
            </a:pPr>
            <a:r>
              <a:t>全量 &gt;45° 占比 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882896"/>
            <a:ext cx="10826496" cy="26517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4901184"/>
            <a:ext cx="310896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ctx2｜仅原有距离权重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5072" y="490118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7.97°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0448" y="490118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13.02°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35824" y="490118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53.12°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4901184"/>
            <a:ext cx="1911095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7.08%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5175504"/>
            <a:ext cx="310896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B｜严格转弯 ×2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05072" y="517550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8.04°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0448" y="517550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12.11°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35824" y="517550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55.77°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5175504"/>
            <a:ext cx="1911095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8.04%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5800" y="5422392"/>
            <a:ext cx="10826496" cy="0"/>
          </a:xfrm>
          <a:prstGeom prst="line">
            <a:avLst/>
          </a:prstGeom>
          <a:ln w="6985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41248" y="5449824"/>
            <a:ext cx="310896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C｜严格转弯 ×3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05072" y="544982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8.11°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70448" y="544982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12.55°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5824" y="544982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54.01°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5449824"/>
            <a:ext cx="1911095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7.44%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85800" y="5696712"/>
            <a:ext cx="10826496" cy="0"/>
          </a:xfrm>
          <a:prstGeom prst="line">
            <a:avLst/>
          </a:prstGeom>
          <a:ln w="6985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41248" y="5724144"/>
            <a:ext cx="310896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D｜累计转角分档 1 / 1.5 / 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05072" y="572414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8.07°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70448" y="572414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11.98°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35824" y="5724144"/>
            <a:ext cx="177393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53.95°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01200" y="5724144"/>
            <a:ext cx="1911095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7.75%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85800" y="5971031"/>
            <a:ext cx="10826496" cy="0"/>
          </a:xfrm>
          <a:prstGeom prst="line">
            <a:avLst/>
          </a:prstGeom>
          <a:ln w="6985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85800" y="6035040"/>
            <a:ext cx="10826496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仅训练时增加 α；验证时取消额外转弯加权。表中 &gt;45° 比例的分母是全部 Val 远目标帧。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85800" y="6327648"/>
            <a:ext cx="10826496" cy="320040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9536" y="6373368"/>
            <a:ext cx="1042416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结论：转弯中位误差下降，但 P90 和全量大误差比例仍未优于 ctx2。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6711696"/>
            <a:ext cx="10058400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700" b="0">
                <a:solidFill>
                  <a:srgbClr val="62748A"/>
                </a:solidFill>
                <a:latin typeface="Noto Sans CJK SC"/>
              </a:defRPr>
            </a:pPr>
            <a:r>
              <a:t>来源：train_goal_dino.py、train_goal_dir.py、P3_training_batch.md、p3_morning_metrics.csv；单次运行，尚需多种子验证。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06456" y="6711696"/>
            <a:ext cx="960120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700" b="0">
                <a:solidFill>
                  <a:srgbClr val="62748A"/>
                </a:solidFill>
                <a:latin typeface="Noto Sans CJK SC"/>
              </a:defRPr>
            </a:pPr>
            <a:r>
              <a:t>转弯加权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