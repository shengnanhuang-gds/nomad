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第7页公式修订：原损失L_orig=sum(b_i*l_i)/sum(b_i)；新损失L_new=sum(b_i*alpha_i*l_i)/sum(b_i*alpha_i)。两者都按权重和归一化，不是把整个loss或绝对梯度直接乘2/3。</a:t>
            </a:r>
          </a:p>
          <a:p>
            <a:r>
              <a:t>代码来源main c1b3750：train/train_goal_dino.py:run_epoch中基础b_i=steps_dev/FAR_STEPS，训练时乘turn_strict系数或curvature tier；train/train_goal_dir.py:direction_loss中(per_sample*weight).sum()/weight.sum()。</a:t>
            </a:r>
          </a:p>
          <a:p>
            <a:r>
              <a:t>l_i预热阶段1-cos(theta_i)，之后为von Mises NLL -kappa_i*cos(theta_i)+log I0(kappa_i)，省略常数log2pi；theta为预测WP相对真实endpoint方位的夹角，I0为0阶第一类修正贝塞尔函数。kappa是模型预测集中度，不是本次训练加权alpha。</a:t>
            </a:r>
          </a:p>
          <a:p>
            <a:r>
              <a:t>B strictturn alpha2、C alpha3，其他1；strictturn来自GT endpoint lateral&gt;=.30m OR abs yawchange&gt;=45deg。D在训练帧累计绝对转角的33.333/66.667分位点按1/1.5/3分档，实际不是按每米曲率计算，故主页面改称累计转角分档。B/C/D独立方案，不将三个权重叠乘为同一实验。页面新增D分档公式：S=sum(k=1..8,abs(delta_yaw_k))；每步角差应wrap后再取绝对值。按训练帧S的33.333/66.667分位点划分低中高，alpha1/1.5/3；分界由训练数据决定，不是固定角度阈值。比如左转20再右转20的累计转角40deg，净航向变化0deg；累计与净变化不同。</a:t>
            </a:r>
          </a:p>
          <a:p>
            <a:r>
              <a:t>保留P3_training_batch.md与p3_morning_metrics.csv原始Val结果：ctx2/B/C/D的turn median13.02/12.11/12.55/11.98deg，turn P9053.12/55.77/54.01/53.95deg；全量&gt;45比例7.08/8.04/7.44/7.75%。</a:t>
            </a:r>
          </a:p>
          <a:p>
            <a:r>
              <a:t>Val allfar n5110、turn n2751；全量&gt;45比例不能与第6页turn子集比例混用。ctx2参考标SeedA，B/C/D标Seed0，未建立多种子显著性，不与后续turnhard组合训练混为同一配方。C的P95有改善，故结论只针对展示的P90和全量&gt;45，不声称所有尾部指标都变差。</a:t>
            </a:r>
          </a:p>
          <a:p>
            <a:r>
              <a:t>所有公式采用原生可编辑文本+分数线，结果表仍可编辑。新增alpha仅用于训练，验证取消额外turn/curvature权重，保留原评估规则。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4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585216"/>
            <a:ext cx="54864" cy="201168"/>
          </a:xfrm>
          <a:prstGeom prst="rect">
            <a:avLst/>
          </a:prstGeom>
          <a:solidFill>
            <a:srgbClr val="148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548640"/>
            <a:ext cx="9144000" cy="27432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62748A"/>
                </a:solidFill>
                <a:latin typeface="Noto Sans CJK SC"/>
              </a:defRPr>
            </a:pPr>
            <a:r>
              <a:t>P3 / 转弯加权：公式与验证结果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987552"/>
            <a:ext cx="10972800" cy="54864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42B46"/>
                </a:solidFill>
                <a:latin typeface="Noto Sans CJK SC"/>
              </a:defRPr>
            </a:pPr>
            <a:r>
              <a:t>提高转弯样本权重，能否减少尾部错误？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19072"/>
            <a:ext cx="10972800" cy="310896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62748A"/>
                </a:solidFill>
                <a:latin typeface="Noto Sans CJK SC"/>
              </a:defRPr>
            </a:pPr>
            <a:r>
              <a:t>单样本方向损失不变；在原有距离权重上，再乘转弯权重，让难例对训练影响更大。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185416"/>
            <a:ext cx="5303520" cy="859536"/>
          </a:xfrm>
          <a:prstGeom prst="roundRect">
            <a:avLst>
              <a:gd name="adj" fmla="val 12000"/>
            </a:avLst>
          </a:prstGeom>
          <a:solidFill>
            <a:srgbClr val="EC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2258568"/>
            <a:ext cx="4974336" cy="237744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142B46"/>
                </a:solidFill>
                <a:latin typeface="Noto Sans CJK SC"/>
              </a:defRPr>
            </a:pPr>
            <a:r>
              <a:t>原来：仅按目标距离加权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660904"/>
            <a:ext cx="1078992" cy="27432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42B46"/>
                </a:solidFill>
                <a:latin typeface="Noto Sans CJK SC"/>
              </a:defRPr>
            </a:pPr>
            <a:r>
              <a:t>L原 =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04288" y="2523744"/>
            <a:ext cx="2962656" cy="219456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1800" b="0">
                <a:solidFill>
                  <a:srgbClr val="142B46"/>
                </a:solidFill>
                <a:latin typeface="Noto Sans CJK SC"/>
              </a:defRPr>
            </a:pPr>
            <a:r>
              <a:t>∑ᵢ bᵢ ℓᵢ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304288" y="2761488"/>
            <a:ext cx="2962656" cy="0"/>
          </a:xfrm>
          <a:prstGeom prst="line">
            <a:avLst/>
          </a:prstGeom>
          <a:ln w="13335">
            <a:solidFill>
              <a:srgbClr val="142B4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304288" y="2788920"/>
            <a:ext cx="2962656" cy="219456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1800" b="0">
                <a:solidFill>
                  <a:srgbClr val="142B46"/>
                </a:solidFill>
                <a:latin typeface="Noto Sans CJK SC"/>
              </a:defRPr>
            </a:pPr>
            <a:r>
              <a:t>∑ᵢ bᵢ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8776" y="2185416"/>
            <a:ext cx="5303520" cy="859536"/>
          </a:xfrm>
          <a:prstGeom prst="roundRect">
            <a:avLst>
              <a:gd name="adj" fmla="val 12000"/>
            </a:avLst>
          </a:prstGeom>
          <a:solidFill>
            <a:srgbClr val="E8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3368" y="2258568"/>
            <a:ext cx="4974336" cy="237744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148D91"/>
                </a:solidFill>
                <a:latin typeface="Noto Sans CJK SC"/>
              </a:defRPr>
            </a:pPr>
            <a:r>
              <a:t>现在：距离权重 × 转弯权重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74536" y="2660904"/>
            <a:ext cx="1078992" cy="27432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48D91"/>
                </a:solidFill>
                <a:latin typeface="Noto Sans CJK SC"/>
              </a:defRPr>
            </a:pPr>
            <a:r>
              <a:t>L新 =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27264" y="2523744"/>
            <a:ext cx="2962656" cy="219456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1800" b="0">
                <a:solidFill>
                  <a:srgbClr val="148D91"/>
                </a:solidFill>
                <a:latin typeface="Noto Sans CJK SC"/>
              </a:defRPr>
            </a:pPr>
            <a:r>
              <a:t>∑ᵢ bᵢ αᵢ ℓᵢ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827264" y="2761488"/>
            <a:ext cx="2962656" cy="0"/>
          </a:xfrm>
          <a:prstGeom prst="line">
            <a:avLst/>
          </a:prstGeom>
          <a:ln w="13335">
            <a:solidFill>
              <a:srgbClr val="148D9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827264" y="2788920"/>
            <a:ext cx="2962656" cy="219456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1800" b="0">
                <a:solidFill>
                  <a:srgbClr val="148D91"/>
                </a:solidFill>
                <a:latin typeface="Noto Sans CJK SC"/>
              </a:defRPr>
            </a:pPr>
            <a:r>
              <a:t>∑ᵢ bᵢ αᵢ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3172968"/>
            <a:ext cx="10826496" cy="22860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2748A"/>
                </a:solidFill>
                <a:latin typeface="Noto Sans CJK SC"/>
              </a:defRPr>
            </a:pPr>
            <a:r>
              <a:t>ℓᵢ：单样本方向损失；bᵢ：原有目标距离权重；αᵢ：新增权重（B 转弯×2，C 转弯×3，其余×1）。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3483864"/>
            <a:ext cx="10826496" cy="210312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2748A"/>
                </a:solidFill>
                <a:latin typeface="Noto Sans CJK SC"/>
              </a:defRPr>
            </a:pPr>
            <a:r>
              <a:t>ℓᵢ：预热时 1−cosθᵢ；后续为 −κᵢ cosθᵢ + log I₀(κᵢ)（θᵢ 为方向误差，κᵢ 为方向集中度）。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803904"/>
            <a:ext cx="10826496" cy="630936"/>
          </a:xfrm>
          <a:prstGeom prst="roundRect">
            <a:avLst>
              <a:gd name="adj" fmla="val 12000"/>
            </a:avLst>
          </a:prstGeom>
          <a:solidFill>
            <a:srgbClr val="EC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9536" y="3886200"/>
            <a:ext cx="10424160" cy="246888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142B46"/>
                </a:solidFill>
                <a:latin typeface="Noto Sans CJK SC"/>
              </a:defRPr>
            </a:pPr>
            <a:r>
              <a:t>D：累计转角 S = |Δψ₁| + … + |Δψ₈|，未来 8 步逐步取绝对值再相加，左右转都累加。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" y="4242816"/>
            <a:ext cx="10424160" cy="192024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2748A"/>
                </a:solidFill>
                <a:latin typeface="Noto Sans CJK SC"/>
              </a:defRPr>
            </a:pPr>
            <a:r>
              <a:t>按训练集 S 的 33% / 67% 分位点分档：低档 α=1；中档 α=1.5；高档 α=3。分界由训练数据确定。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562856"/>
            <a:ext cx="10826496" cy="310896"/>
          </a:xfrm>
          <a:prstGeom prst="roundRect">
            <a:avLst>
              <a:gd name="adj" fmla="val 12000"/>
            </a:avLst>
          </a:prstGeom>
          <a:solidFill>
            <a:srgbClr val="EC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" y="4636008"/>
            <a:ext cx="2834640" cy="219456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62748A"/>
                </a:solidFill>
                <a:latin typeface="Noto Sans CJK SC"/>
              </a:defRPr>
            </a:pPr>
            <a:r>
              <a:t>WP 训练方案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05072" y="4636008"/>
            <a:ext cx="1773936" cy="219456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1000" b="1">
                <a:solidFill>
                  <a:srgbClr val="62748A"/>
                </a:solidFill>
                <a:latin typeface="Noto Sans CJK SC"/>
              </a:defRPr>
            </a:pPr>
            <a:r>
              <a:t>全量中位误差 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70448" y="4636008"/>
            <a:ext cx="1773936" cy="219456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1000" b="1">
                <a:solidFill>
                  <a:srgbClr val="62748A"/>
                </a:solidFill>
                <a:latin typeface="Noto Sans CJK SC"/>
              </a:defRPr>
            </a:pPr>
            <a:r>
              <a:t>转弯中位误差 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35824" y="4636008"/>
            <a:ext cx="1773936" cy="219456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1000" b="1">
                <a:solidFill>
                  <a:srgbClr val="62748A"/>
                </a:solidFill>
                <a:latin typeface="Noto Sans CJK SC"/>
              </a:defRPr>
            </a:pPr>
            <a:r>
              <a:t>转弯 P90 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4636008"/>
            <a:ext cx="1911095" cy="219456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1000" b="1">
                <a:solidFill>
                  <a:srgbClr val="62748A"/>
                </a:solidFill>
                <a:latin typeface="Noto Sans CJK SC"/>
              </a:defRPr>
            </a:pPr>
            <a:r>
              <a:t>全量 &gt;45° 占比 ↓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" y="4974336"/>
            <a:ext cx="10826496" cy="265176"/>
          </a:xfrm>
          <a:prstGeom prst="roundRect">
            <a:avLst>
              <a:gd name="adj" fmla="val 12000"/>
            </a:avLst>
          </a:prstGeom>
          <a:solidFill>
            <a:srgbClr val="E8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1248" y="4992624"/>
            <a:ext cx="3108960" cy="237744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142B46"/>
                </a:solidFill>
                <a:latin typeface="Noto Sans CJK SC"/>
              </a:defRPr>
            </a:pPr>
            <a:r>
              <a:t>ctx2｜仅原有距离权重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05072" y="4992624"/>
            <a:ext cx="1773936" cy="246888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1300" b="1">
                <a:solidFill>
                  <a:srgbClr val="148D91"/>
                </a:solidFill>
                <a:latin typeface="Noto Sans CJK SC"/>
              </a:defRPr>
            </a:pPr>
            <a:r>
              <a:t>7.97°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70448" y="4992624"/>
            <a:ext cx="1773936" cy="246888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1300" b="1">
                <a:solidFill>
                  <a:srgbClr val="142B46"/>
                </a:solidFill>
                <a:latin typeface="Noto Sans CJK SC"/>
              </a:defRPr>
            </a:pPr>
            <a:r>
              <a:t>13.02°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35824" y="4992624"/>
            <a:ext cx="1773936" cy="246888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1300" b="1">
                <a:solidFill>
                  <a:srgbClr val="148D91"/>
                </a:solidFill>
                <a:latin typeface="Noto Sans CJK SC"/>
              </a:defRPr>
            </a:pPr>
            <a:r>
              <a:t>53.12°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01200" y="4992624"/>
            <a:ext cx="1911095" cy="246888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1300" b="1">
                <a:solidFill>
                  <a:srgbClr val="148D91"/>
                </a:solidFill>
                <a:latin typeface="Noto Sans CJK SC"/>
              </a:defRPr>
            </a:pPr>
            <a:r>
              <a:t>7.08%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1248" y="5257800"/>
            <a:ext cx="3108960" cy="237744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142B46"/>
                </a:solidFill>
                <a:latin typeface="Noto Sans CJK SC"/>
              </a:defRPr>
            </a:pPr>
            <a:r>
              <a:t>B｜严格转弯 ×2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005072" y="5257800"/>
            <a:ext cx="1773936" cy="246888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1300" b="0">
                <a:solidFill>
                  <a:srgbClr val="142B46"/>
                </a:solidFill>
                <a:latin typeface="Noto Sans CJK SC"/>
              </a:defRPr>
            </a:pPr>
            <a:r>
              <a:t>8.04°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70448" y="5257800"/>
            <a:ext cx="1773936" cy="246888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1300" b="1">
                <a:solidFill>
                  <a:srgbClr val="148D91"/>
                </a:solidFill>
                <a:latin typeface="Noto Sans CJK SC"/>
              </a:defRPr>
            </a:pPr>
            <a:r>
              <a:t>12.11°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35824" y="5257800"/>
            <a:ext cx="1773936" cy="246888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1300" b="0">
                <a:solidFill>
                  <a:srgbClr val="142B46"/>
                </a:solidFill>
                <a:latin typeface="Noto Sans CJK SC"/>
              </a:defRPr>
            </a:pPr>
            <a:r>
              <a:t>55.77°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01200" y="5257800"/>
            <a:ext cx="1911095" cy="246888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1300" b="0">
                <a:solidFill>
                  <a:srgbClr val="142B46"/>
                </a:solidFill>
                <a:latin typeface="Noto Sans CJK SC"/>
              </a:defRPr>
            </a:pPr>
            <a:r>
              <a:t>8.04%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685800" y="5504688"/>
            <a:ext cx="10826496" cy="0"/>
          </a:xfrm>
          <a:prstGeom prst="line">
            <a:avLst/>
          </a:prstGeom>
          <a:ln w="6985">
            <a:solidFill>
              <a:srgbClr val="DCE5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841248" y="5522976"/>
            <a:ext cx="3108960" cy="237744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142B46"/>
                </a:solidFill>
                <a:latin typeface="Noto Sans CJK SC"/>
              </a:defRPr>
            </a:pPr>
            <a:r>
              <a:t>C｜严格转弯 ×3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005072" y="5522976"/>
            <a:ext cx="1773936" cy="246888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1300" b="0">
                <a:solidFill>
                  <a:srgbClr val="142B46"/>
                </a:solidFill>
                <a:latin typeface="Noto Sans CJK SC"/>
              </a:defRPr>
            </a:pPr>
            <a:r>
              <a:t>8.11°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70448" y="5522976"/>
            <a:ext cx="1773936" cy="246888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1300" b="1">
                <a:solidFill>
                  <a:srgbClr val="148D91"/>
                </a:solidFill>
                <a:latin typeface="Noto Sans CJK SC"/>
              </a:defRPr>
            </a:pPr>
            <a:r>
              <a:t>12.55°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35824" y="5522976"/>
            <a:ext cx="1773936" cy="246888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1300" b="0">
                <a:solidFill>
                  <a:srgbClr val="142B46"/>
                </a:solidFill>
                <a:latin typeface="Noto Sans CJK SC"/>
              </a:defRPr>
            </a:pPr>
            <a:r>
              <a:t>54.01°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01200" y="5522976"/>
            <a:ext cx="1911095" cy="246888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1300" b="0">
                <a:solidFill>
                  <a:srgbClr val="142B46"/>
                </a:solidFill>
                <a:latin typeface="Noto Sans CJK SC"/>
              </a:defRPr>
            </a:pPr>
            <a:r>
              <a:t>7.44%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685800" y="5769864"/>
            <a:ext cx="10826496" cy="0"/>
          </a:xfrm>
          <a:prstGeom prst="line">
            <a:avLst/>
          </a:prstGeom>
          <a:ln w="6985">
            <a:solidFill>
              <a:srgbClr val="DCE5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841248" y="5788152"/>
            <a:ext cx="3108960" cy="237744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142B46"/>
                </a:solidFill>
                <a:latin typeface="Noto Sans CJK SC"/>
              </a:defRPr>
            </a:pPr>
            <a:r>
              <a:t>D｜累计转角分档 1 / 1.5 / 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005072" y="5788152"/>
            <a:ext cx="1773936" cy="246888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1300" b="0">
                <a:solidFill>
                  <a:srgbClr val="142B46"/>
                </a:solidFill>
                <a:latin typeface="Noto Sans CJK SC"/>
              </a:defRPr>
            </a:pPr>
            <a:r>
              <a:t>8.07°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870448" y="5788152"/>
            <a:ext cx="1773936" cy="246888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1300" b="1">
                <a:solidFill>
                  <a:srgbClr val="148D91"/>
                </a:solidFill>
                <a:latin typeface="Noto Sans CJK SC"/>
              </a:defRPr>
            </a:pPr>
            <a:r>
              <a:t>11.98°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35824" y="5788152"/>
            <a:ext cx="1773936" cy="246888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1300" b="0">
                <a:solidFill>
                  <a:srgbClr val="142B46"/>
                </a:solidFill>
                <a:latin typeface="Noto Sans CJK SC"/>
              </a:defRPr>
            </a:pPr>
            <a:r>
              <a:t>53.95°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601200" y="5788152"/>
            <a:ext cx="1911095" cy="246888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1300" b="0">
                <a:solidFill>
                  <a:srgbClr val="142B46"/>
                </a:solidFill>
                <a:latin typeface="Noto Sans CJK SC"/>
              </a:defRPr>
            </a:pPr>
            <a:r>
              <a:t>7.75%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685800" y="6035040"/>
            <a:ext cx="10826496" cy="0"/>
          </a:xfrm>
          <a:prstGeom prst="line">
            <a:avLst/>
          </a:prstGeom>
          <a:ln w="6985">
            <a:solidFill>
              <a:srgbClr val="DCE5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685800" y="6080760"/>
            <a:ext cx="10826496" cy="201168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2748A"/>
                </a:solidFill>
                <a:latin typeface="Noto Sans CJK SC"/>
              </a:defRPr>
            </a:pPr>
            <a:r>
              <a:t>仅训练时增加 α；验证时取消额外转弯加权。表中 &gt;45° 比例的分母是全部 Val 远目标帧。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85800" y="6327648"/>
            <a:ext cx="10826496" cy="320040"/>
          </a:xfrm>
          <a:prstGeom prst="roundRect">
            <a:avLst>
              <a:gd name="adj" fmla="val 12000"/>
            </a:avLst>
          </a:prstGeom>
          <a:solidFill>
            <a:srgbClr val="E8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59536" y="6373368"/>
            <a:ext cx="10424160" cy="237744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148D91"/>
                </a:solidFill>
                <a:latin typeface="Noto Sans CJK SC"/>
              </a:defRPr>
            </a:pPr>
            <a:r>
              <a:t>结论：转弯中位误差下降，但 P90 和全量大误差比例仍未优于 ctx2。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85800" y="6711696"/>
            <a:ext cx="10058400" cy="13716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700" b="0">
                <a:solidFill>
                  <a:srgbClr val="62748A"/>
                </a:solidFill>
                <a:latin typeface="Noto Sans CJK SC"/>
              </a:defRPr>
            </a:pPr>
            <a:r>
              <a:t>来源：train_goal_dino.py、train_goal_dir.py、P3_training_batch.md、p3_morning_metrics.csv；单次运行，尚需多种子验证。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506456" y="6711696"/>
            <a:ext cx="960120" cy="13716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700" b="0">
                <a:solidFill>
                  <a:srgbClr val="62748A"/>
                </a:solidFill>
                <a:latin typeface="Noto Sans CJK SC"/>
              </a:defRPr>
            </a:pPr>
            <a:r>
              <a:t>转弯加权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