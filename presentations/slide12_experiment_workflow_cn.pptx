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第12页，独立单页。页面说明现有脚本与结果记录支持的流程，不声称在本次PPT任务中已重跑完整训练/评估或独立复现全部数字。</a:t>
            </a:r>
          </a:p>
          <a:p>
            <a:r>
              <a:t>代码来源（main c1b3750）：</a:t>
            </a:r>
          </a:p>
          <a:p>
            <a:r>
              <a:t>1 train/cache_dino_features.py：DINO视觉特征缓存；train/logs/revalidation/P2_protocol.md引用logs/dino_cache/dinov2_vits14_reg。</a:t>
            </a:r>
          </a:p>
          <a:p>
            <a:r>
              <a:t>2 train/train_goal_dino.py：历史上下文、转弯/方向难例权重、多时域辅助、困难帧相对采样。</a:t>
            </a:r>
          </a:p>
          <a:p>
            <a:r>
              <a:t>3 train/eval_waypoint_head.py、eval_blend_ablation.py、eval_frame_sets.py：固定远目标帧、转弯/spread子集、条件收益。</a:t>
            </a:r>
          </a:p>
          <a:p>
            <a:r>
              <a:t>4 train/analyze_wp_oracle_gain.py、analyze_wp_hard120.py、analyze_p4_ablation_val.py：逐帧误差收益归因、Oracle替换、难例特征、中位与尾部。</a:t>
            </a:r>
          </a:p>
          <a:p>
            <a:r>
              <a:t>5 train/mine_hard_pairs.py、run_hard_oversample_train.py：在train split挖掘困难样本与加权采样，不把locked hard120直接当训练集。</a:t>
            </a:r>
          </a:p>
          <a:p>
            <a:r>
              <a:t>配置与汇总记录：train/logs/revalidation/P2_protocol.md、P3_training_batch.md、P4_multi_horizon.md、README_report_index.md及各CSV/JSON/TXT。</a:t>
            </a:r>
          </a:p>
          <a:p>
            <a:r>
              <a:t>P2协议要求使用Val选checkpoint；部分其他融合扫参事实上也在locked集上完成，因此不能把所有locked结果都称为未经调参的独立测试。本页说“固定样本”仅代表评估样本一致，不代表统计上的独立性。后续独立测试集与重复种子复核仍待做。</a:t>
            </a:r>
          </a:p>
          <a:p>
            <a:r>
              <a:t>跨域来源：train/logs/revalidation/recon_blend_suppress/meta.json，n_frames98、n_test_trajs65、meters_per_unit.25；scand_blend/meta.json，n_frames200、n_test_trajs111、meters_per_unit.38。均为GoStanford heads/B/E在HF重建128x128图像上的zero-shot记录。仅标注有记录及样本规模，不混用不同批次SCAND坏图采样为0的记录，不从小样本推导广泛泛化，不直接与GoStanford的条件收益大小排名。</a:t>
            </a:r>
          </a:p>
          <a:p>
            <a:r>
              <a:t>现有上传材料含代码与选择性汇总，未提供完整原始日志、数据、所有逐帧NPZ或checkpoint；“支持复核”不等于已验证从零一键复现。本页不列未经检查的服务或凭证需求。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实验支撑 / 分析与复现流程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B46"/>
                </a:solidFill>
                <a:latin typeface="Noto Sans CJK SC"/>
              </a:defRPr>
            </a:pPr>
            <a:r>
              <a:t>如何让实验可比较，让失败原因可定位？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2748A"/>
                </a:solidFill>
                <a:latin typeface="Noto Sans CJK SC"/>
              </a:defRPr>
            </a:pPr>
            <a:r>
              <a:t>把特征缓存、训练评估与逐帧分析串起来，支持方案对比和后续复核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23744"/>
            <a:ext cx="1938528" cy="1481328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660904"/>
            <a:ext cx="164592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3008376"/>
            <a:ext cx="1664208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缓存视觉特征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3493008"/>
            <a:ext cx="1691640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图像先转成特征</a:t>
            </a:r>
          </a:p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减少重复计算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24328" y="3246120"/>
            <a:ext cx="283464" cy="0"/>
          </a:xfrm>
          <a:prstGeom prst="line">
            <a:avLst/>
          </a:prstGeom>
          <a:ln w="1778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07792" y="2523744"/>
            <a:ext cx="1938528" cy="1481328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54096" y="2660904"/>
            <a:ext cx="164592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3008376"/>
            <a:ext cx="1664208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训练方向预测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3493008"/>
            <a:ext cx="1691640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比较历史、损失权重</a:t>
            </a:r>
          </a:p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与训练采样方案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46320" y="3246120"/>
            <a:ext cx="283464" cy="0"/>
          </a:xfrm>
          <a:prstGeom prst="line">
            <a:avLst/>
          </a:prstGeom>
          <a:ln w="1778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29784" y="2523744"/>
            <a:ext cx="1938528" cy="1481328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6088" y="2660904"/>
            <a:ext cx="164592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3008376"/>
            <a:ext cx="1664208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固定样本评估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3493008"/>
            <a:ext cx="1691640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同一批远目标帧</a:t>
            </a:r>
          </a:p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另看转弯等子集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68312" y="3246120"/>
            <a:ext cx="283464" cy="0"/>
          </a:xfrm>
          <a:prstGeom prst="line">
            <a:avLst/>
          </a:prstGeom>
          <a:ln w="1778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51776" y="2523744"/>
            <a:ext cx="1938528" cy="1481328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0" y="2660904"/>
            <a:ext cx="164592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3008376"/>
            <a:ext cx="1664208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定位错误来源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3493008"/>
            <a:ext cx="1691640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替换真实方向分析</a:t>
            </a:r>
          </a:p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检查逐帧误差与收益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90304" y="3246120"/>
            <a:ext cx="283464" cy="0"/>
          </a:xfrm>
          <a:prstGeom prst="line">
            <a:avLst/>
          </a:prstGeom>
          <a:ln w="1778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573768" y="2523744"/>
            <a:ext cx="1938528" cy="1481328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20072" y="2660904"/>
            <a:ext cx="164592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0072" y="3008376"/>
            <a:ext cx="1664208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反馈训练改进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072" y="3493008"/>
            <a:ext cx="1691640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在训练集中找难例</a:t>
            </a:r>
          </a:p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调整数据与监督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543032" y="4005072"/>
            <a:ext cx="0" cy="265176"/>
          </a:xfrm>
          <a:prstGeom prst="line">
            <a:avLst/>
          </a:prstGeom>
          <a:ln w="1397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3877056" y="4270248"/>
            <a:ext cx="6665976" cy="0"/>
          </a:xfrm>
          <a:prstGeom prst="line">
            <a:avLst/>
          </a:prstGeom>
          <a:ln w="1397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877056" y="4005072"/>
            <a:ext cx="0" cy="265176"/>
          </a:xfrm>
          <a:prstGeom prst="line">
            <a:avLst/>
          </a:prstGeom>
          <a:ln w="13970">
            <a:solidFill>
              <a:srgbClr val="14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736592" y="4352544"/>
            <a:ext cx="512064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8D91"/>
                </a:solidFill>
                <a:latin typeface="Noto Sans CJK SC"/>
              </a:defRPr>
            </a:pPr>
            <a:r>
              <a:t>从错误分析形成新假设，再回到训练验证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800600"/>
            <a:ext cx="3456432" cy="960120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" y="4892040"/>
            <a:ext cx="315468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看哪些指标？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" y="5285232"/>
            <a:ext cx="3154680" cy="3931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方向中位误差、大误差比例</a:t>
            </a:r>
          </a:p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以及目标信息带来的条件收益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70832" y="4800600"/>
            <a:ext cx="3456432" cy="960120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17136" y="4892040"/>
            <a:ext cx="315468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保留哪些证据？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17136" y="5285232"/>
            <a:ext cx="3154680" cy="3931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训练配置、样本选择、结果文件</a:t>
            </a:r>
          </a:p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逐帧分析与图表来源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55864" y="4800600"/>
            <a:ext cx="3456432" cy="960120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02168" y="4892040"/>
            <a:ext cx="315468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还需要补哪些验证？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02168" y="5285232"/>
            <a:ext cx="3154680" cy="3931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重复训练、配对差值区间</a:t>
            </a:r>
          </a:p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独立测试集与真实场景验证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870448"/>
            <a:ext cx="1082649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补充记录：RECON 98 帧、SCAND 200 帧；样本与数据处理不同，暂不直接横比数值或推广泛化结论。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6227064"/>
            <a:ext cx="10826496" cy="402336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" y="6300216"/>
            <a:ext cx="1042416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8D91"/>
                </a:solidFill>
                <a:latin typeface="Noto Sans CJK SC"/>
              </a:defRPr>
            </a:pPr>
            <a:r>
              <a:t>作用：既能比较结果，也能追问“哪里变好了、为什么仍会失败”。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6693408"/>
            <a:ext cx="10058400" cy="1463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来源：train/ 下特征缓存、训练、评估与难例分析脚本；revalidation/ 下结果与跨域元信息。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06456" y="6693408"/>
            <a:ext cx="960120" cy="1463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实验流程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