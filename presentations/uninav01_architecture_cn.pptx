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UniNav介绍第1页，独立文件，不与现有研究进展页合并，不预先确定整体插入页码。</a:t>
            </a:r>
          </a:p>
          <a:p>
            <a:r>
              <a:t>原文：Changqing Zhou, Yueru Luo, Zeyu Jiang, Changhao Chen. UniNav: A Unified World-Action Diffusion Model for Visual Navigation. arXiv:2608.03244v1，2026-08-04；用户上传PDF共9页。引用§3.1–3.3（PDF第3–4页）、图2（第4页），对照§3.4/4.1（第5页）。本图为依据原文中文重绘，非论文原图，省略register tokens、位置编码和模态特定输出头等细节。</a:t>
            </a:r>
          </a:p>
          <a:p>
            <a:r>
              <a:t>输入C帧历史与目标图像。论文默认C=3，预测K=6未来图像和航点。航点维度(Δx,Δy,Δψ)，模型直接联合生成含平移与yaw的轨迹，而不是仅预测yaw并假设单位步长积分。</a:t>
            </a:r>
          </a:p>
          <a:p>
            <a:r>
              <a:t>历史、目标及未来图像经冻结Wan视频VAE得到latent/token；历史与目标是条件，未来画面是加噪并预测的目标，不是部署时的真实未来输入。</a:t>
            </a:r>
          </a:p>
          <a:p>
            <a:r>
              <a:t>相机几何目标由冻结DA3（Depth Anything3，Lin et al.2025）从训练历史与未来图像提取并归一化。按论文§3.2–3.3作为带噪几何目标与其他模态共同学习；不能将干净未来几何Oracle输入解释为可部署方法。</a:t>
            </a:r>
          </a:p>
          <a:p>
            <a:r>
              <a:t>共享去噪Transformer以Wan2.1-T2V-1.3B初始化，主Transformer与新模块微调，VAE与几何教师冻结。论文实现使用flow matching目标，不是本项目原方向头von Mises损失，图中“恢复”只是通俗表达。三类目标分别为未来视频、轨迹、相机token，带可用性mask的加权训练。</a:t>
            </a:r>
          </a:p>
          <a:p>
            <a:r>
              <a:t>Full变体联合生成未来视觉与航点；Fast单独训练并使用非对称注意力，推理移除future-video tokens。此页仅说明联合架构，下一页再讲Fast与几何监督，不声称Full可直接任意删token。</a:t>
            </a:r>
          </a:p>
          <a:p>
            <a:r>
              <a:t>相机分支在图中主要表达训练监督对象；原文图2推理示意主要展示未来视频与轨迹，正文§3.4描述Full同时去噪camera tokens。相机几何特征不必是实际导航控制的独立用户输出。</a:t>
            </a:r>
          </a:p>
          <a:p>
            <a:r>
              <a:t>联合建模鼓励视觉、运动和几何信息协调，不表示有严格物理一致性约束。对用户yaw辅助头仅称局部借鉴，没有称其为UniNav复现。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论文启发 / UniNav 架构介绍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42B46"/>
                </a:solidFill>
                <a:latin typeface="Noto Sans CJK SC"/>
              </a:defRPr>
            </a:pPr>
            <a:r>
              <a:t>同时学习“怎么走”和“走后会看到什么”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动机：只预测航点缺少视觉预见；为多条候选路线分别生成未来画面，又较耗时。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13432"/>
            <a:ext cx="914400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UniNav：将未来画面、航点轨迹与几何信息放进同一个生成模型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54096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209544"/>
            <a:ext cx="1911095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142B46"/>
                </a:solidFill>
                <a:latin typeface="Noto Sans CJK SC"/>
              </a:defRPr>
            </a:pPr>
            <a:r>
              <a:t>历史与目标图像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675887"/>
            <a:ext cx="1911095" cy="23774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经冻结的视频编码器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05740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已知输入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2980944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DFF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3145536"/>
            <a:ext cx="2980944" cy="3200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148D91"/>
                </a:solidFill>
                <a:latin typeface="Noto Sans CJK SC"/>
              </a:defRPr>
            </a:pPr>
            <a:r>
              <a:t>共享生成网络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3666744"/>
            <a:ext cx="2980944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62748A"/>
                </a:solidFill>
                <a:latin typeface="Noto Sans CJK SC"/>
              </a:defRPr>
            </a:pPr>
            <a:r>
              <a:t>以 Wan2.1 视频模型初始化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4005072"/>
            <a:ext cx="2980944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148D91"/>
                </a:solidFill>
                <a:latin typeface="Noto Sans CJK SC"/>
              </a:defRPr>
            </a:pPr>
            <a:r>
              <a:t>共同学习三类信息的恢复过程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43200" y="3621024"/>
            <a:ext cx="1325880" cy="0"/>
          </a:xfrm>
          <a:prstGeom prst="line">
            <a:avLst/>
          </a:prstGeom>
          <a:ln w="19050">
            <a:solidFill>
              <a:srgbClr val="62748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54680" y="4773168"/>
            <a:ext cx="1280160" cy="35661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54680" y="4846320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带噪画面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794760" y="4553712"/>
            <a:ext cx="0" cy="219456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17720" y="4773168"/>
            <a:ext cx="1280160" cy="35661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4846320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带噪轨迹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257800" y="4553712"/>
            <a:ext cx="0" cy="219456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80760" y="4773168"/>
            <a:ext cx="1280160" cy="356616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4846320"/>
            <a:ext cx="1280160" cy="2103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62748A"/>
                </a:solidFill>
                <a:latin typeface="Noto Sans CJK SC"/>
              </a:defRPr>
            </a:pPr>
            <a:r>
              <a:t>带噪几何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720840" y="4553712"/>
            <a:ext cx="0" cy="219456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94760" y="4553712"/>
            <a:ext cx="2926080" cy="0"/>
          </a:xfrm>
          <a:prstGeom prst="line">
            <a:avLst/>
          </a:prstGeom>
          <a:ln w="12700">
            <a:solidFill>
              <a:srgbClr val="6274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715000" y="4306824"/>
            <a:ext cx="0" cy="246888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54680" y="5276088"/>
            <a:ext cx="4206240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训练时，将三类真实目标加噪，再学习恢复。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60920" y="3621024"/>
            <a:ext cx="512063" cy="0"/>
          </a:xfrm>
          <a:prstGeom prst="line">
            <a:avLst/>
          </a:prstGeom>
          <a:ln w="1905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872983" y="3081528"/>
            <a:ext cx="0" cy="1828800"/>
          </a:xfrm>
          <a:prstGeom prst="line">
            <a:avLst/>
          </a:prstGeom>
          <a:ln w="15240">
            <a:solidFill>
              <a:srgbClr val="148D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366760" y="2724912"/>
            <a:ext cx="3145536" cy="713232"/>
          </a:xfrm>
          <a:prstGeom prst="roundRect">
            <a:avLst>
              <a:gd name="adj" fmla="val 12000"/>
            </a:avLst>
          </a:prstGeom>
          <a:solidFill>
            <a:srgbClr val="EC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2816352"/>
            <a:ext cx="28346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477CCC"/>
                </a:solidFill>
                <a:latin typeface="Noto Sans CJK SC"/>
              </a:defRPr>
            </a:pPr>
            <a:r>
              <a:t>未来画面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191256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运动后可能看到的画面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72983" y="3081528"/>
            <a:ext cx="493777" cy="0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366760" y="3639312"/>
            <a:ext cx="3145536" cy="713232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3730752"/>
            <a:ext cx="28346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8D91"/>
                </a:solidFill>
                <a:latin typeface="Noto Sans CJK SC"/>
              </a:defRPr>
            </a:pPr>
            <a:r>
              <a:t>完整航点轨迹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105656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平移 + 转角（Δx、Δy、Δψ）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72983" y="3995928"/>
            <a:ext cx="493777" cy="0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366760" y="4553712"/>
            <a:ext cx="3145536" cy="71323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4645152"/>
            <a:ext cx="283464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42B46"/>
                </a:solidFill>
                <a:latin typeface="Noto Sans CJK SC"/>
              </a:defRPr>
            </a:pPr>
            <a:r>
              <a:t>相机几何特征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020056"/>
            <a:ext cx="2834640" cy="21945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几何监督来自冻结的几何模型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72983" y="4910328"/>
            <a:ext cx="493777" cy="0"/>
          </a:xfrm>
          <a:prstGeom prst="line">
            <a:avLst/>
          </a:prstGeom>
          <a:ln w="15240">
            <a:solidFill>
              <a:srgbClr val="148D9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366760" y="5404104"/>
            <a:ext cx="3145536" cy="22860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三类输出在训练中共同受监督。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779008"/>
            <a:ext cx="10826496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推理时未知量从噪声开始生成，不输入真实未来画面；轨迹同时预测平移与转角，并非只积分 yaw。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199632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" y="6272784"/>
            <a:ext cx="10424160" cy="26517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借鉴思路：学习运动过程与视觉变化的联系，而不只预测一个终点方向。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来源：UniNav，arXiv:2608.03244v1，§3.1–3.3、图 2；本页为中文简化重绘，Fast 设计另页说明。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06456" y="6684264"/>
            <a:ext cx="9601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UniNav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