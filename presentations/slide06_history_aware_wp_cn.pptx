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第6页，独立单页。来源为main c1b3750，train/logs/revalidation/P2_protocol.md、P2_conclusions_revised.md及p2_val_bearing/summary.txt。</a:t>
            </a:r>
          </a:p>
          <a:p>
            <a:r>
              <a:t>P2_protocol：ctx0和ctx2使用相同e60初始化与训练预算，ctx2表示额外加入2帧历史，目标仍为8步endpoint；不表示总共仅输入两帧，不使用未来帧。冻结NoMaD、DINOv2与E-oracle，优化方向头。</a:t>
            </a:r>
          </a:p>
          <a:p>
            <a:r>
              <a:t>Val n=5110：e60/ctx0/ctx2全量中位角误差8.58/8.50/7.97deg；turn_strict n=2751的P90=57.84/59.80/53.12deg；turn_strict子集内&gt;45deg比例14.5/14.9/12.6%。不能与all_far的8.5/8.6/7.1%混用。</a:t>
            </a:r>
          </a:p>
          <a:p>
            <a:r>
              <a:t>Locked kappa-blend use_cm取自P2_conclusions_revised.md：e60/ctx0/ctx2=2.56/2.68/2.80cm，属于该评估口径，不与P0 oracle_factorial的2.62cm基线直接相混。</a:t>
            </a:r>
          </a:p>
          <a:p>
            <a:r>
              <a:t>Val配对平均角误差差值（并非中位数差）：ctx2-ctx0 turn_strict=-1.412[-2.281,-0.579]deg，ctx2-e60=-1.717[-2.626,-0.798]deg；只在备注提供，页面未对locked下游收益声称统计显著性。修订结论中locked配对Delta-U cluster bootstrap仍为TODO。</a:t>
            </a:r>
          </a:p>
          <a:p>
            <a:r>
              <a:t>use_cm=100*(masked_ADE-conditioned_ADE)，非导航成功率；下游locked与Val分开汇报。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4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585216"/>
            <a:ext cx="54864" cy="201168"/>
          </a:xfrm>
          <a:prstGeom prst="rect">
            <a:avLst/>
          </a:prstGeom>
          <a:solidFill>
            <a:srgbClr val="148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48640"/>
            <a:ext cx="914400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2748A"/>
                </a:solidFill>
                <a:latin typeface="Noto Sans CJK SC"/>
              </a:defRPr>
            </a:pPr>
            <a:r>
              <a:t>P2 / 历史感知航点方向预测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987552"/>
            <a:ext cx="10972800" cy="54864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B46"/>
                </a:solidFill>
                <a:latin typeface="Noto Sans CJK SC"/>
              </a:defRPr>
            </a:pPr>
            <a:r>
              <a:t>引入视觉历史，能否改善转弯方向预测？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972800" cy="31089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2748A"/>
                </a:solidFill>
                <a:latin typeface="Noto Sans CJK SC"/>
              </a:defRPr>
            </a:pPr>
            <a:r>
              <a:t>冻结 NoMaD、DINOv2 与扩散策略 · 比较无历史对照 ctx0 与两帧历史 ctx2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04288"/>
            <a:ext cx="4206240" cy="30175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B46"/>
                </a:solidFill>
                <a:latin typeface="Noto Sans CJK SC"/>
              </a:defRPr>
            </a:pPr>
            <a:r>
              <a:t>干预：仅增加 WP 头的历史输入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15768"/>
            <a:ext cx="429768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ctx0 / ctx2：相同初始化与训练预算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82696"/>
            <a:ext cx="640080" cy="28346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477CCC"/>
                </a:solidFill>
                <a:latin typeface="Noto Sans CJK SC"/>
              </a:defRPr>
            </a:pPr>
            <a:r>
              <a:t>ctx0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44752" y="3163824"/>
            <a:ext cx="2157984" cy="585216"/>
          </a:xfrm>
          <a:prstGeom prst="roundRect">
            <a:avLst>
              <a:gd name="adj" fmla="val 12000"/>
            </a:avLst>
          </a:prstGeom>
          <a:solidFill>
            <a:srgbClr val="EC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81328" y="3328416"/>
            <a:ext cx="2084831" cy="26517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477CCC"/>
                </a:solidFill>
                <a:latin typeface="Noto Sans CJK SC"/>
              </a:defRPr>
            </a:pPr>
            <a:r>
              <a:t>当前观测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02736" y="3456432"/>
            <a:ext cx="283464" cy="0"/>
          </a:xfrm>
          <a:prstGeom prst="line">
            <a:avLst/>
          </a:prstGeom>
          <a:ln w="16510">
            <a:solidFill>
              <a:srgbClr val="477CC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886200" y="3163824"/>
            <a:ext cx="932688" cy="585216"/>
          </a:xfrm>
          <a:prstGeom prst="roundRect">
            <a:avLst>
              <a:gd name="adj" fmla="val 12000"/>
            </a:avLst>
          </a:prstGeom>
          <a:solidFill>
            <a:srgbClr val="EC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04487" y="3328416"/>
            <a:ext cx="896112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477CCC"/>
                </a:solidFill>
                <a:latin typeface="Noto Sans CJK SC"/>
              </a:defRPr>
            </a:pPr>
            <a:r>
              <a:t>WP 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114800"/>
            <a:ext cx="640080" cy="28346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48D91"/>
                </a:solidFill>
                <a:latin typeface="Noto Sans CJK SC"/>
              </a:defRPr>
            </a:pPr>
            <a:r>
              <a:t>ctx2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44752" y="3995928"/>
            <a:ext cx="2157984" cy="585216"/>
          </a:xfrm>
          <a:prstGeom prst="roundRect">
            <a:avLst>
              <a:gd name="adj" fmla="val 12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81328" y="4160520"/>
            <a:ext cx="2084831" cy="26517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148D91"/>
                </a:solidFill>
                <a:latin typeface="Noto Sans CJK SC"/>
              </a:defRPr>
            </a:pPr>
            <a:r>
              <a:t>当前观测 + 两帧历史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602736" y="4288536"/>
            <a:ext cx="283464" cy="0"/>
          </a:xfrm>
          <a:prstGeom prst="line">
            <a:avLst/>
          </a:prstGeom>
          <a:ln w="16510">
            <a:solidFill>
              <a:srgbClr val="148D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886200" y="3995928"/>
            <a:ext cx="932688" cy="585216"/>
          </a:xfrm>
          <a:prstGeom prst="roundRect">
            <a:avLst>
              <a:gd name="adj" fmla="val 12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04487" y="4160520"/>
            <a:ext cx="896112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148D91"/>
                </a:solidFill>
                <a:latin typeface="Noto Sans CJK SC"/>
              </a:defRPr>
            </a:pPr>
            <a:r>
              <a:t>WP 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4752" y="4700016"/>
            <a:ext cx="3383280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目标图像输入保持一致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48072"/>
            <a:ext cx="4142232" cy="475488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5248656"/>
            <a:ext cx="3840480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e60：原始 WP 基线；ctx0：无历史续训对照。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76088" y="2304288"/>
            <a:ext cx="6236208" cy="30175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B46"/>
                </a:solidFill>
                <a:latin typeface="Noto Sans CJK SC"/>
              </a:defRPr>
            </a:pPr>
            <a:r>
              <a:t>方向误差与下游条件收益分别评估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76088" y="2743200"/>
            <a:ext cx="6236208" cy="393192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94959" y="2834640"/>
            <a:ext cx="2377440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62748A"/>
                </a:solidFill>
                <a:latin typeface="Noto Sans CJK SC"/>
              </a:defRPr>
            </a:pPr>
            <a:r>
              <a:t>模型 / 指标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37575" y="2816352"/>
            <a:ext cx="1115568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142B46"/>
                </a:solidFill>
                <a:latin typeface="Noto Sans CJK SC"/>
              </a:defRPr>
            </a:pPr>
            <a:r>
              <a:t>e60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98863" y="2816352"/>
            <a:ext cx="1115568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142B46"/>
                </a:solidFill>
                <a:latin typeface="Noto Sans CJK SC"/>
              </a:defRPr>
            </a:pPr>
            <a:r>
              <a:t>ctx0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60151" y="2816352"/>
            <a:ext cx="1115568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148D91"/>
                </a:solidFill>
                <a:latin typeface="Noto Sans CJK SC"/>
              </a:defRPr>
            </a:pPr>
            <a:r>
              <a:t>ctx2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76088" y="3282696"/>
            <a:ext cx="6236208" cy="23774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验证集 Val · 5,110 远目标帧 · 误差越低越好 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21807" y="3675887"/>
            <a:ext cx="2743200" cy="25603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142B46"/>
                </a:solidFill>
                <a:latin typeface="Noto Sans CJK SC"/>
              </a:defRPr>
            </a:pPr>
            <a:r>
              <a:t>全量中位角误差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37575" y="3675887"/>
            <a:ext cx="1115568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142B46"/>
                </a:solidFill>
                <a:latin typeface="Noto Sans CJK SC"/>
              </a:defRPr>
            </a:pPr>
            <a:r>
              <a:t>8.58°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98863" y="3675887"/>
            <a:ext cx="1115568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142B46"/>
                </a:solidFill>
                <a:latin typeface="Noto Sans CJK SC"/>
              </a:defRPr>
            </a:pPr>
            <a:r>
              <a:t>8.50°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60151" y="3675887"/>
            <a:ext cx="1115568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48D91"/>
                </a:solidFill>
                <a:latin typeface="Noto Sans CJK SC"/>
              </a:defRPr>
            </a:pPr>
            <a:r>
              <a:t>7.97°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276088" y="3986783"/>
            <a:ext cx="6236208" cy="0"/>
          </a:xfrm>
          <a:prstGeom prst="line">
            <a:avLst/>
          </a:prstGeom>
          <a:ln w="7620">
            <a:solidFill>
              <a:srgbClr val="DC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321807" y="4069079"/>
            <a:ext cx="2743200" cy="25603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142B46"/>
                </a:solidFill>
                <a:latin typeface="Noto Sans CJK SC"/>
              </a:defRPr>
            </a:pPr>
            <a:r>
              <a:t>转弯角误差 P90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37575" y="4069079"/>
            <a:ext cx="1115568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142B46"/>
                </a:solidFill>
                <a:latin typeface="Noto Sans CJK SC"/>
              </a:defRPr>
            </a:pPr>
            <a:r>
              <a:t>57.84°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98863" y="4069079"/>
            <a:ext cx="1115568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142B46"/>
                </a:solidFill>
                <a:latin typeface="Noto Sans CJK SC"/>
              </a:defRPr>
            </a:pPr>
            <a:r>
              <a:t>59.80°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60151" y="4069079"/>
            <a:ext cx="1115568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48D91"/>
                </a:solidFill>
                <a:latin typeface="Noto Sans CJK SC"/>
              </a:defRPr>
            </a:pPr>
            <a:r>
              <a:t>53.12°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276088" y="4379975"/>
            <a:ext cx="6236208" cy="0"/>
          </a:xfrm>
          <a:prstGeom prst="line">
            <a:avLst/>
          </a:prstGeom>
          <a:ln w="7620">
            <a:solidFill>
              <a:srgbClr val="DC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321807" y="4462272"/>
            <a:ext cx="2743200" cy="25603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142B46"/>
                </a:solidFill>
                <a:latin typeface="Noto Sans CJK SC"/>
              </a:defRPr>
            </a:pPr>
            <a:r>
              <a:t>转弯大误差占比 &gt;45°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37575" y="4462272"/>
            <a:ext cx="1115568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142B46"/>
                </a:solidFill>
                <a:latin typeface="Noto Sans CJK SC"/>
              </a:defRPr>
            </a:pPr>
            <a:r>
              <a:t>14.5%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98863" y="4462272"/>
            <a:ext cx="1115568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142B46"/>
                </a:solidFill>
                <a:latin typeface="Noto Sans CJK SC"/>
              </a:defRPr>
            </a:pPr>
            <a:r>
              <a:t>14.9%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60151" y="4462272"/>
            <a:ext cx="1115568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48D91"/>
                </a:solidFill>
                <a:latin typeface="Noto Sans CJK SC"/>
              </a:defRPr>
            </a:pPr>
            <a:r>
              <a:t>12.6%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276088" y="4773168"/>
            <a:ext cx="6236208" cy="0"/>
          </a:xfrm>
          <a:prstGeom prst="line">
            <a:avLst/>
          </a:prstGeom>
          <a:ln w="7620">
            <a:solidFill>
              <a:srgbClr val="DC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276088" y="5020056"/>
            <a:ext cx="6236208" cy="23774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Locked · 固定 1,000 远目标帧 · 条件收益越高越好 ↑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276088" y="5394960"/>
            <a:ext cx="6236208" cy="438912"/>
          </a:xfrm>
          <a:prstGeom prst="roundRect">
            <a:avLst>
              <a:gd name="adj" fmla="val 12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94959" y="5495544"/>
            <a:ext cx="2560320" cy="25603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2B46"/>
                </a:solidFill>
                <a:latin typeface="Noto Sans CJK SC"/>
              </a:defRPr>
            </a:pPr>
            <a:r>
              <a:t>κ 融合 use_cm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37575" y="5486400"/>
            <a:ext cx="1115568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42B46"/>
                </a:solidFill>
                <a:latin typeface="Noto Sans CJK SC"/>
              </a:defRPr>
            </a:pPr>
            <a:r>
              <a:t>+2.56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98863" y="5486400"/>
            <a:ext cx="1115568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42B46"/>
                </a:solidFill>
                <a:latin typeface="Noto Sans CJK SC"/>
              </a:defRPr>
            </a:pPr>
            <a:r>
              <a:t>+2.68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60151" y="5486400"/>
            <a:ext cx="1115568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48D91"/>
                </a:solidFill>
                <a:latin typeface="Noto Sans CJK SC"/>
              </a:defRPr>
            </a:pPr>
            <a:r>
              <a:t>+2.80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85800" y="6089904"/>
            <a:ext cx="10826496" cy="429768"/>
          </a:xfrm>
          <a:prstGeom prst="roundRect">
            <a:avLst>
              <a:gd name="adj" fmla="val 12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9536" y="6163056"/>
            <a:ext cx="10424160" cy="28346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48D91"/>
                </a:solidFill>
                <a:latin typeface="Noto Sans CJK SC"/>
              </a:defRPr>
            </a:pPr>
            <a:r>
              <a:t>结论：两帧视觉历史同时改善方向误差与条件收益；下游增益仍需配对统计验证。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" y="6629400"/>
            <a:ext cx="10058400" cy="16459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来源：P2_protocol.md、P2_conclusions_revised.md、p2_val_bearing/summary.txt；use 单位 cm，非成功率。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06456" y="6629400"/>
            <a:ext cx="960120" cy="16459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历史信息 / 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