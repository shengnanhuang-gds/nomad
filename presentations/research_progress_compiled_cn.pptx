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__m1.xml" ContentType="application/vnd.openxmlformats-officedocument.presentationml.slide+xml"/>
  <Override PartName="/ppt/slideLayouts/slideLayout7__m1.xml" ContentType="application/vnd.openxmlformats-officedocument.presentationml.slideLayout+xml"/>
  <Override PartName="/ppt/slideMasters/slideMaster1__m1.xml" ContentType="application/vnd.openxmlformats-officedocument.presentationml.slideMaster+xml"/>
  <Override PartName="/ppt/slideLayouts/slideLayout1__m1.xml" ContentType="application/vnd.openxmlformats-officedocument.presentationml.slideLayout+xml"/>
  <Override PartName="/ppt/slideLayouts/slideLayout2__m1.xml" ContentType="application/vnd.openxmlformats-officedocument.presentationml.slideLayout+xml"/>
  <Override PartName="/ppt/slideLayouts/slideLayout3__m1.xml" ContentType="application/vnd.openxmlformats-officedocument.presentationml.slideLayout+xml"/>
  <Override PartName="/ppt/slideLayouts/slideLayout4__m1.xml" ContentType="application/vnd.openxmlformats-officedocument.presentationml.slideLayout+xml"/>
  <Override PartName="/ppt/slideLayouts/slideLayout5__m1.xml" ContentType="application/vnd.openxmlformats-officedocument.presentationml.slideLayout+xml"/>
  <Override PartName="/ppt/slideLayouts/slideLayout6__m1.xml" ContentType="application/vnd.openxmlformats-officedocument.presentationml.slideLayout+xml"/>
  <Override PartName="/ppt/slideLayouts/slideLayout8__m1.xml" ContentType="application/vnd.openxmlformats-officedocument.presentationml.slideLayout+xml"/>
  <Override PartName="/ppt/slideLayouts/slideLayout9__m1.xml" ContentType="application/vnd.openxmlformats-officedocument.presentationml.slideLayout+xml"/>
  <Override PartName="/ppt/slideLayouts/slideLayout10__m1.xml" ContentType="application/vnd.openxmlformats-officedocument.presentationml.slideLayout+xml"/>
  <Override PartName="/ppt/slideLayouts/slideLayout11__m1.xml" ContentType="application/vnd.openxmlformats-officedocument.presentationml.slideLayout+xml"/>
  <Override PartName="/ppt/theme/theme1__m1.xml" ContentType="application/vnd.openxmlformats-officedocument.theme+xml"/>
  <Override PartName="/ppt/notesSlides/notesSlide1__m1.xml" ContentType="application/vnd.openxmlformats-officedocument.presentationml.notesSlide+xml"/>
  <Override PartName="/ppt/notesMasters/notesMaster1__m1.xml" ContentType="application/vnd.openxmlformats-officedocument.presentationml.notesMaster+xml"/>
  <Override PartName="/ppt/theme/theme2__m1.xml" ContentType="application/vnd.openxmlformats-officedocument.theme+xml"/>
  <Override PartName="/ppt/slides/slide1__m2.xml" ContentType="application/vnd.openxmlformats-officedocument.presentationml.slide+xml"/>
  <Override PartName="/ppt/slideLayouts/slideLayout7__m2.xml" ContentType="application/vnd.openxmlformats-officedocument.presentationml.slideLayout+xml"/>
  <Override PartName="/ppt/slideMasters/slideMaster1__m2.xml" ContentType="application/vnd.openxmlformats-officedocument.presentationml.slideMaster+xml"/>
  <Override PartName="/ppt/slideLayouts/slideLayout1__m2.xml" ContentType="application/vnd.openxmlformats-officedocument.presentationml.slideLayout+xml"/>
  <Override PartName="/ppt/slideLayouts/slideLayout2__m2.xml" ContentType="application/vnd.openxmlformats-officedocument.presentationml.slideLayout+xml"/>
  <Override PartName="/ppt/slideLayouts/slideLayout3__m2.xml" ContentType="application/vnd.openxmlformats-officedocument.presentationml.slideLayout+xml"/>
  <Override PartName="/ppt/slideLayouts/slideLayout4__m2.xml" ContentType="application/vnd.openxmlformats-officedocument.presentationml.slideLayout+xml"/>
  <Override PartName="/ppt/slideLayouts/slideLayout5__m2.xml" ContentType="application/vnd.openxmlformats-officedocument.presentationml.slideLayout+xml"/>
  <Override PartName="/ppt/slideLayouts/slideLayout6__m2.xml" ContentType="application/vnd.openxmlformats-officedocument.presentationml.slideLayout+xml"/>
  <Override PartName="/ppt/slideLayouts/slideLayout8__m2.xml" ContentType="application/vnd.openxmlformats-officedocument.presentationml.slideLayout+xml"/>
  <Override PartName="/ppt/slideLayouts/slideLayout9__m2.xml" ContentType="application/vnd.openxmlformats-officedocument.presentationml.slideLayout+xml"/>
  <Override PartName="/ppt/slideLayouts/slideLayout10__m2.xml" ContentType="application/vnd.openxmlformats-officedocument.presentationml.slideLayout+xml"/>
  <Override PartName="/ppt/slideLayouts/slideLayout11__m2.xml" ContentType="application/vnd.openxmlformats-officedocument.presentationml.slideLayout+xml"/>
  <Override PartName="/ppt/theme/theme1__m2.xml" ContentType="application/vnd.openxmlformats-officedocument.theme+xml"/>
  <Override PartName="/ppt/notesSlides/notesSlide1__m2.xml" ContentType="application/vnd.openxmlformats-officedocument.presentationml.notesSlide+xml"/>
  <Override PartName="/ppt/notesMasters/notesMaster1__m2.xml" ContentType="application/vnd.openxmlformats-officedocument.presentationml.notesMaster+xml"/>
  <Override PartName="/ppt/theme/theme2__m2.xml" ContentType="application/vnd.openxmlformats-officedocument.theme+xml"/>
  <Override PartName="/ppt/slides/slide1__m3.xml" ContentType="application/vnd.openxmlformats-officedocument.presentationml.slide+xml"/>
  <Override PartName="/ppt/slideLayouts/slideLayout7__m3.xml" ContentType="application/vnd.openxmlformats-officedocument.presentationml.slideLayout+xml"/>
  <Override PartName="/ppt/slideMasters/slideMaster1__m3.xml" ContentType="application/vnd.openxmlformats-officedocument.presentationml.slideMaster+xml"/>
  <Override PartName="/ppt/slideLayouts/slideLayout1__m3.xml" ContentType="application/vnd.openxmlformats-officedocument.presentationml.slideLayout+xml"/>
  <Override PartName="/ppt/slideLayouts/slideLayout2__m3.xml" ContentType="application/vnd.openxmlformats-officedocument.presentationml.slideLayout+xml"/>
  <Override PartName="/ppt/slideLayouts/slideLayout3__m3.xml" ContentType="application/vnd.openxmlformats-officedocument.presentationml.slideLayout+xml"/>
  <Override PartName="/ppt/slideLayouts/slideLayout4__m3.xml" ContentType="application/vnd.openxmlformats-officedocument.presentationml.slideLayout+xml"/>
  <Override PartName="/ppt/slideLayouts/slideLayout5__m3.xml" ContentType="application/vnd.openxmlformats-officedocument.presentationml.slideLayout+xml"/>
  <Override PartName="/ppt/slideLayouts/slideLayout6__m3.xml" ContentType="application/vnd.openxmlformats-officedocument.presentationml.slideLayout+xml"/>
  <Override PartName="/ppt/slideLayouts/slideLayout8__m3.xml" ContentType="application/vnd.openxmlformats-officedocument.presentationml.slideLayout+xml"/>
  <Override PartName="/ppt/slideLayouts/slideLayout9__m3.xml" ContentType="application/vnd.openxmlformats-officedocument.presentationml.slideLayout+xml"/>
  <Override PartName="/ppt/slideLayouts/slideLayout10__m3.xml" ContentType="application/vnd.openxmlformats-officedocument.presentationml.slideLayout+xml"/>
  <Override PartName="/ppt/slideLayouts/slideLayout11__m3.xml" ContentType="application/vnd.openxmlformats-officedocument.presentationml.slideLayout+xml"/>
  <Override PartName="/ppt/theme/theme1__m3.xml" ContentType="application/vnd.openxmlformats-officedocument.theme+xml"/>
  <Override PartName="/ppt/notesSlides/notesSlide1__m3.xml" ContentType="application/vnd.openxmlformats-officedocument.presentationml.notesSlide+xml"/>
  <Override PartName="/ppt/notesMasters/notesMaster1__m3.xml" ContentType="application/vnd.openxmlformats-officedocument.presentationml.notesMaster+xml"/>
  <Override PartName="/ppt/theme/theme2__m3.xml" ContentType="application/vnd.openxmlformats-officedocument.theme+xml"/>
  <Override PartName="/ppt/slides/slide1__m4.xml" ContentType="application/vnd.openxmlformats-officedocument.presentationml.slide+xml"/>
  <Override PartName="/ppt/slideLayouts/slideLayout7__m4.xml" ContentType="application/vnd.openxmlformats-officedocument.presentationml.slideLayout+xml"/>
  <Override PartName="/ppt/slideMasters/slideMaster1__m4.xml" ContentType="application/vnd.openxmlformats-officedocument.presentationml.slideMaster+xml"/>
  <Override PartName="/ppt/slideLayouts/slideLayout1__m4.xml" ContentType="application/vnd.openxmlformats-officedocument.presentationml.slideLayout+xml"/>
  <Override PartName="/ppt/slideLayouts/slideLayout2__m4.xml" ContentType="application/vnd.openxmlformats-officedocument.presentationml.slideLayout+xml"/>
  <Override PartName="/ppt/slideLayouts/slideLayout3__m4.xml" ContentType="application/vnd.openxmlformats-officedocument.presentationml.slideLayout+xml"/>
  <Override PartName="/ppt/slideLayouts/slideLayout4__m4.xml" ContentType="application/vnd.openxmlformats-officedocument.presentationml.slideLayout+xml"/>
  <Override PartName="/ppt/slideLayouts/slideLayout5__m4.xml" ContentType="application/vnd.openxmlformats-officedocument.presentationml.slideLayout+xml"/>
  <Override PartName="/ppt/slideLayouts/slideLayout6__m4.xml" ContentType="application/vnd.openxmlformats-officedocument.presentationml.slideLayout+xml"/>
  <Override PartName="/ppt/slideLayouts/slideLayout8__m4.xml" ContentType="application/vnd.openxmlformats-officedocument.presentationml.slideLayout+xml"/>
  <Override PartName="/ppt/slideLayouts/slideLayout9__m4.xml" ContentType="application/vnd.openxmlformats-officedocument.presentationml.slideLayout+xml"/>
  <Override PartName="/ppt/slideLayouts/slideLayout10__m4.xml" ContentType="application/vnd.openxmlformats-officedocument.presentationml.slideLayout+xml"/>
  <Override PartName="/ppt/slideLayouts/slideLayout11__m4.xml" ContentType="application/vnd.openxmlformats-officedocument.presentationml.slideLayout+xml"/>
  <Override PartName="/ppt/theme/theme1__m4.xml" ContentType="application/vnd.openxmlformats-officedocument.theme+xml"/>
  <Override PartName="/ppt/notesSlides/notesSlide1__m4.xml" ContentType="application/vnd.openxmlformats-officedocument.presentationml.notesSlide+xml"/>
  <Override PartName="/ppt/notesMasters/notesMaster1__m4.xml" ContentType="application/vnd.openxmlformats-officedocument.presentationml.notesMaster+xml"/>
  <Override PartName="/ppt/theme/theme2__m4.xml" ContentType="application/vnd.openxmlformats-officedocument.theme+xml"/>
  <Override PartName="/ppt/slides/slide1__m5.xml" ContentType="application/vnd.openxmlformats-officedocument.presentationml.slide+xml"/>
  <Override PartName="/ppt/slideLayouts/slideLayout7__m5.xml" ContentType="application/vnd.openxmlformats-officedocument.presentationml.slideLayout+xml"/>
  <Override PartName="/ppt/slideMasters/slideMaster1__m5.xml" ContentType="application/vnd.openxmlformats-officedocument.presentationml.slideMaster+xml"/>
  <Override PartName="/ppt/slideLayouts/slideLayout1__m5.xml" ContentType="application/vnd.openxmlformats-officedocument.presentationml.slideLayout+xml"/>
  <Override PartName="/ppt/slideLayouts/slideLayout2__m5.xml" ContentType="application/vnd.openxmlformats-officedocument.presentationml.slideLayout+xml"/>
  <Override PartName="/ppt/slideLayouts/slideLayout3__m5.xml" ContentType="application/vnd.openxmlformats-officedocument.presentationml.slideLayout+xml"/>
  <Override PartName="/ppt/slideLayouts/slideLayout4__m5.xml" ContentType="application/vnd.openxmlformats-officedocument.presentationml.slideLayout+xml"/>
  <Override PartName="/ppt/slideLayouts/slideLayout5__m5.xml" ContentType="application/vnd.openxmlformats-officedocument.presentationml.slideLayout+xml"/>
  <Override PartName="/ppt/slideLayouts/slideLayout6__m5.xml" ContentType="application/vnd.openxmlformats-officedocument.presentationml.slideLayout+xml"/>
  <Override PartName="/ppt/slideLayouts/slideLayout8__m5.xml" ContentType="application/vnd.openxmlformats-officedocument.presentationml.slideLayout+xml"/>
  <Override PartName="/ppt/slideLayouts/slideLayout9__m5.xml" ContentType="application/vnd.openxmlformats-officedocument.presentationml.slideLayout+xml"/>
  <Override PartName="/ppt/slideLayouts/slideLayout10__m5.xml" ContentType="application/vnd.openxmlformats-officedocument.presentationml.slideLayout+xml"/>
  <Override PartName="/ppt/slideLayouts/slideLayout11__m5.xml" ContentType="application/vnd.openxmlformats-officedocument.presentationml.slideLayout+xml"/>
  <Override PartName="/ppt/theme/theme1__m5.xml" ContentType="application/vnd.openxmlformats-officedocument.theme+xml"/>
  <Override PartName="/ppt/notesSlides/notesSlide1__m5.xml" ContentType="application/vnd.openxmlformats-officedocument.presentationml.notesSlide+xml"/>
  <Override PartName="/ppt/notesMasters/notesMaster1__m5.xml" ContentType="application/vnd.openxmlformats-officedocument.presentationml.notesMaster+xml"/>
  <Override PartName="/ppt/theme/theme2__m5.xml" ContentType="application/vnd.openxmlformats-officedocument.theme+xml"/>
  <Override PartName="/ppt/slides/slide1__m6.xml" ContentType="application/vnd.openxmlformats-officedocument.presentationml.slide+xml"/>
  <Override PartName="/ppt/slideLayouts/slideLayout7__m6.xml" ContentType="application/vnd.openxmlformats-officedocument.presentationml.slideLayout+xml"/>
  <Override PartName="/ppt/slideMasters/slideMaster1__m6.xml" ContentType="application/vnd.openxmlformats-officedocument.presentationml.slideMaster+xml"/>
  <Override PartName="/ppt/slideLayouts/slideLayout1__m6.xml" ContentType="application/vnd.openxmlformats-officedocument.presentationml.slideLayout+xml"/>
  <Override PartName="/ppt/slideLayouts/slideLayout2__m6.xml" ContentType="application/vnd.openxmlformats-officedocument.presentationml.slideLayout+xml"/>
  <Override PartName="/ppt/slideLayouts/slideLayout3__m6.xml" ContentType="application/vnd.openxmlformats-officedocument.presentationml.slideLayout+xml"/>
  <Override PartName="/ppt/slideLayouts/slideLayout4__m6.xml" ContentType="application/vnd.openxmlformats-officedocument.presentationml.slideLayout+xml"/>
  <Override PartName="/ppt/slideLayouts/slideLayout5__m6.xml" ContentType="application/vnd.openxmlformats-officedocument.presentationml.slideLayout+xml"/>
  <Override PartName="/ppt/slideLayouts/slideLayout6__m6.xml" ContentType="application/vnd.openxmlformats-officedocument.presentationml.slideLayout+xml"/>
  <Override PartName="/ppt/slideLayouts/slideLayout8__m6.xml" ContentType="application/vnd.openxmlformats-officedocument.presentationml.slideLayout+xml"/>
  <Override PartName="/ppt/slideLayouts/slideLayout9__m6.xml" ContentType="application/vnd.openxmlformats-officedocument.presentationml.slideLayout+xml"/>
  <Override PartName="/ppt/slideLayouts/slideLayout10__m6.xml" ContentType="application/vnd.openxmlformats-officedocument.presentationml.slideLayout+xml"/>
  <Override PartName="/ppt/slideLayouts/slideLayout11__m6.xml" ContentType="application/vnd.openxmlformats-officedocument.presentationml.slideLayout+xml"/>
  <Override PartName="/ppt/theme/theme1__m6.xml" ContentType="application/vnd.openxmlformats-officedocument.theme+xml"/>
  <Override PartName="/ppt/notesSlides/notesSlide1__m6.xml" ContentType="application/vnd.openxmlformats-officedocument.presentationml.notesSlide+xml"/>
  <Override PartName="/ppt/notesMasters/notesMaster1__m6.xml" ContentType="application/vnd.openxmlformats-officedocument.presentationml.notesMaster+xml"/>
  <Override PartName="/ppt/theme/theme2__m6.xml" ContentType="application/vnd.openxmlformats-officedocument.theme+xml"/>
  <Override PartName="/ppt/slides/slide1__m7.xml" ContentType="application/vnd.openxmlformats-officedocument.presentationml.slide+xml"/>
  <Override PartName="/ppt/slideLayouts/slideLayout7__m7.xml" ContentType="application/vnd.openxmlformats-officedocument.presentationml.slideLayout+xml"/>
  <Override PartName="/ppt/slideMasters/slideMaster1__m7.xml" ContentType="application/vnd.openxmlformats-officedocument.presentationml.slideMaster+xml"/>
  <Override PartName="/ppt/slideLayouts/slideLayout1__m7.xml" ContentType="application/vnd.openxmlformats-officedocument.presentationml.slideLayout+xml"/>
  <Override PartName="/ppt/slideLayouts/slideLayout2__m7.xml" ContentType="application/vnd.openxmlformats-officedocument.presentationml.slideLayout+xml"/>
  <Override PartName="/ppt/slideLayouts/slideLayout3__m7.xml" ContentType="application/vnd.openxmlformats-officedocument.presentationml.slideLayout+xml"/>
  <Override PartName="/ppt/slideLayouts/slideLayout4__m7.xml" ContentType="application/vnd.openxmlformats-officedocument.presentationml.slideLayout+xml"/>
  <Override PartName="/ppt/slideLayouts/slideLayout5__m7.xml" ContentType="application/vnd.openxmlformats-officedocument.presentationml.slideLayout+xml"/>
  <Override PartName="/ppt/slideLayouts/slideLayout6__m7.xml" ContentType="application/vnd.openxmlformats-officedocument.presentationml.slideLayout+xml"/>
  <Override PartName="/ppt/slideLayouts/slideLayout8__m7.xml" ContentType="application/vnd.openxmlformats-officedocument.presentationml.slideLayout+xml"/>
  <Override PartName="/ppt/slideLayouts/slideLayout9__m7.xml" ContentType="application/vnd.openxmlformats-officedocument.presentationml.slideLayout+xml"/>
  <Override PartName="/ppt/slideLayouts/slideLayout10__m7.xml" ContentType="application/vnd.openxmlformats-officedocument.presentationml.slideLayout+xml"/>
  <Override PartName="/ppt/slideLayouts/slideLayout11__m7.xml" ContentType="application/vnd.openxmlformats-officedocument.presentationml.slideLayout+xml"/>
  <Override PartName="/ppt/theme/theme1__m7.xml" ContentType="application/vnd.openxmlformats-officedocument.theme+xml"/>
  <Override PartName="/ppt/notesSlides/notesSlide1__m7.xml" ContentType="application/vnd.openxmlformats-officedocument.presentationml.notesSlide+xml"/>
  <Override PartName="/ppt/notesMasters/notesMaster1__m7.xml" ContentType="application/vnd.openxmlformats-officedocument.presentationml.notesMaster+xml"/>
  <Override PartName="/ppt/theme/theme2__m7.xml" ContentType="application/vnd.openxmlformats-officedocument.theme+xml"/>
  <Override PartName="/ppt/slides/slide1__m8.xml" ContentType="application/vnd.openxmlformats-officedocument.presentationml.slide+xml"/>
  <Override PartName="/ppt/slideLayouts/slideLayout7__m8.xml" ContentType="application/vnd.openxmlformats-officedocument.presentationml.slideLayout+xml"/>
  <Override PartName="/ppt/slideMasters/slideMaster1__m8.xml" ContentType="application/vnd.openxmlformats-officedocument.presentationml.slideMaster+xml"/>
  <Override PartName="/ppt/slideLayouts/slideLayout1__m8.xml" ContentType="application/vnd.openxmlformats-officedocument.presentationml.slideLayout+xml"/>
  <Override PartName="/ppt/slideLayouts/slideLayout2__m8.xml" ContentType="application/vnd.openxmlformats-officedocument.presentationml.slideLayout+xml"/>
  <Override PartName="/ppt/slideLayouts/slideLayout3__m8.xml" ContentType="application/vnd.openxmlformats-officedocument.presentationml.slideLayout+xml"/>
  <Override PartName="/ppt/slideLayouts/slideLayout4__m8.xml" ContentType="application/vnd.openxmlformats-officedocument.presentationml.slideLayout+xml"/>
  <Override PartName="/ppt/slideLayouts/slideLayout5__m8.xml" ContentType="application/vnd.openxmlformats-officedocument.presentationml.slideLayout+xml"/>
  <Override PartName="/ppt/slideLayouts/slideLayout6__m8.xml" ContentType="application/vnd.openxmlformats-officedocument.presentationml.slideLayout+xml"/>
  <Override PartName="/ppt/slideLayouts/slideLayout8__m8.xml" ContentType="application/vnd.openxmlformats-officedocument.presentationml.slideLayout+xml"/>
  <Override PartName="/ppt/slideLayouts/slideLayout9__m8.xml" ContentType="application/vnd.openxmlformats-officedocument.presentationml.slideLayout+xml"/>
  <Override PartName="/ppt/slideLayouts/slideLayout10__m8.xml" ContentType="application/vnd.openxmlformats-officedocument.presentationml.slideLayout+xml"/>
  <Override PartName="/ppt/slideLayouts/slideLayout11__m8.xml" ContentType="application/vnd.openxmlformats-officedocument.presentationml.slideLayout+xml"/>
  <Override PartName="/ppt/theme/theme1__m8.xml" ContentType="application/vnd.openxmlformats-officedocument.theme+xml"/>
  <Override PartName="/ppt/notesSlides/notesSlide1__m8.xml" ContentType="application/vnd.openxmlformats-officedocument.presentationml.notesSlide+xml"/>
  <Override PartName="/ppt/notesMasters/notesMaster1__m8.xml" ContentType="application/vnd.openxmlformats-officedocument.presentationml.notesMaster+xml"/>
  <Override PartName="/ppt/theme/theme2__m8.xml" ContentType="application/vnd.openxmlformats-officedocument.theme+xml"/>
  <Override PartName="/ppt/slides/slide1__m9.xml" ContentType="application/vnd.openxmlformats-officedocument.presentationml.slide+xml"/>
  <Override PartName="/ppt/slideLayouts/slideLayout7__m9.xml" ContentType="application/vnd.openxmlformats-officedocument.presentationml.slideLayout+xml"/>
  <Override PartName="/ppt/slideMasters/slideMaster1__m9.xml" ContentType="application/vnd.openxmlformats-officedocument.presentationml.slideMaster+xml"/>
  <Override PartName="/ppt/slideLayouts/slideLayout1__m9.xml" ContentType="application/vnd.openxmlformats-officedocument.presentationml.slideLayout+xml"/>
  <Override PartName="/ppt/slideLayouts/slideLayout2__m9.xml" ContentType="application/vnd.openxmlformats-officedocument.presentationml.slideLayout+xml"/>
  <Override PartName="/ppt/slideLayouts/slideLayout3__m9.xml" ContentType="application/vnd.openxmlformats-officedocument.presentationml.slideLayout+xml"/>
  <Override PartName="/ppt/slideLayouts/slideLayout4__m9.xml" ContentType="application/vnd.openxmlformats-officedocument.presentationml.slideLayout+xml"/>
  <Override PartName="/ppt/slideLayouts/slideLayout5__m9.xml" ContentType="application/vnd.openxmlformats-officedocument.presentationml.slideLayout+xml"/>
  <Override PartName="/ppt/slideLayouts/slideLayout6__m9.xml" ContentType="application/vnd.openxmlformats-officedocument.presentationml.slideLayout+xml"/>
  <Override PartName="/ppt/slideLayouts/slideLayout8__m9.xml" ContentType="application/vnd.openxmlformats-officedocument.presentationml.slideLayout+xml"/>
  <Override PartName="/ppt/slideLayouts/slideLayout9__m9.xml" ContentType="application/vnd.openxmlformats-officedocument.presentationml.slideLayout+xml"/>
  <Override PartName="/ppt/slideLayouts/slideLayout10__m9.xml" ContentType="application/vnd.openxmlformats-officedocument.presentationml.slideLayout+xml"/>
  <Override PartName="/ppt/slideLayouts/slideLayout11__m9.xml" ContentType="application/vnd.openxmlformats-officedocument.presentationml.slideLayout+xml"/>
  <Override PartName="/ppt/theme/theme1__m9.xml" ContentType="application/vnd.openxmlformats-officedocument.theme+xml"/>
  <Override PartName="/ppt/charts/chart1__m9.xml" ContentType="application/vnd.openxmlformats-officedocument.drawingml.chart+xml"/>
  <Default Extension="xlsx" ContentType="application/vnd.openxmlformats-officedocument.spreadsheetml.sheet"/>
  <Override PartName="/ppt/notesSlides/notesSlide1__m9.xml" ContentType="application/vnd.openxmlformats-officedocument.presentationml.notesSlide+xml"/>
  <Override PartName="/ppt/notesMasters/notesMaster1__m9.xml" ContentType="application/vnd.openxmlformats-officedocument.presentationml.notesMaster+xml"/>
  <Override PartName="/ppt/theme/theme2__m9.xml" ContentType="application/vnd.openxmlformats-officedocument.theme+xml"/>
  <Override PartName="/ppt/slides/slide1__m10.xml" ContentType="application/vnd.openxmlformats-officedocument.presentationml.slide+xml"/>
  <Override PartName="/ppt/slideLayouts/slideLayout7__m10.xml" ContentType="application/vnd.openxmlformats-officedocument.presentationml.slideLayout+xml"/>
  <Override PartName="/ppt/slideMasters/slideMaster1__m10.xml" ContentType="application/vnd.openxmlformats-officedocument.presentationml.slideMaster+xml"/>
  <Override PartName="/ppt/slideLayouts/slideLayout1__m10.xml" ContentType="application/vnd.openxmlformats-officedocument.presentationml.slideLayout+xml"/>
  <Override PartName="/ppt/slideLayouts/slideLayout2__m10.xml" ContentType="application/vnd.openxmlformats-officedocument.presentationml.slideLayout+xml"/>
  <Override PartName="/ppt/slideLayouts/slideLayout3__m10.xml" ContentType="application/vnd.openxmlformats-officedocument.presentationml.slideLayout+xml"/>
  <Override PartName="/ppt/slideLayouts/slideLayout4__m10.xml" ContentType="application/vnd.openxmlformats-officedocument.presentationml.slideLayout+xml"/>
  <Override PartName="/ppt/slideLayouts/slideLayout5__m10.xml" ContentType="application/vnd.openxmlformats-officedocument.presentationml.slideLayout+xml"/>
  <Override PartName="/ppt/slideLayouts/slideLayout6__m10.xml" ContentType="application/vnd.openxmlformats-officedocument.presentationml.slideLayout+xml"/>
  <Override PartName="/ppt/slideLayouts/slideLayout8__m10.xml" ContentType="application/vnd.openxmlformats-officedocument.presentationml.slideLayout+xml"/>
  <Override PartName="/ppt/slideLayouts/slideLayout9__m10.xml" ContentType="application/vnd.openxmlformats-officedocument.presentationml.slideLayout+xml"/>
  <Override PartName="/ppt/slideLayouts/slideLayout10__m10.xml" ContentType="application/vnd.openxmlformats-officedocument.presentationml.slideLayout+xml"/>
  <Override PartName="/ppt/slideLayouts/slideLayout11__m10.xml" ContentType="application/vnd.openxmlformats-officedocument.presentationml.slideLayout+xml"/>
  <Override PartName="/ppt/theme/theme1__m10.xml" ContentType="application/vnd.openxmlformats-officedocument.theme+xml"/>
  <Override PartName="/ppt/notesSlides/notesSlide1__m10.xml" ContentType="application/vnd.openxmlformats-officedocument.presentationml.notesSlide+xml"/>
  <Override PartName="/ppt/notesMasters/notesMaster1__m10.xml" ContentType="application/vnd.openxmlformats-officedocument.presentationml.notesMaster+xml"/>
  <Override PartName="/ppt/theme/theme2__m10.xml" ContentType="application/vnd.openxmlformats-officedocument.theme+xml"/>
  <Override PartName="/ppt/slides/slide1__m11.xml" ContentType="application/vnd.openxmlformats-officedocument.presentationml.slide+xml"/>
  <Override PartName="/ppt/slideLayouts/slideLayout7__m11.xml" ContentType="application/vnd.openxmlformats-officedocument.presentationml.slideLayout+xml"/>
  <Override PartName="/ppt/slideMasters/slideMaster1__m11.xml" ContentType="application/vnd.openxmlformats-officedocument.presentationml.slideMaster+xml"/>
  <Override PartName="/ppt/slideLayouts/slideLayout1__m11.xml" ContentType="application/vnd.openxmlformats-officedocument.presentationml.slideLayout+xml"/>
  <Override PartName="/ppt/slideLayouts/slideLayout2__m11.xml" ContentType="application/vnd.openxmlformats-officedocument.presentationml.slideLayout+xml"/>
  <Override PartName="/ppt/slideLayouts/slideLayout3__m11.xml" ContentType="application/vnd.openxmlformats-officedocument.presentationml.slideLayout+xml"/>
  <Override PartName="/ppt/slideLayouts/slideLayout4__m11.xml" ContentType="application/vnd.openxmlformats-officedocument.presentationml.slideLayout+xml"/>
  <Override PartName="/ppt/slideLayouts/slideLayout5__m11.xml" ContentType="application/vnd.openxmlformats-officedocument.presentationml.slideLayout+xml"/>
  <Override PartName="/ppt/slideLayouts/slideLayout6__m11.xml" ContentType="application/vnd.openxmlformats-officedocument.presentationml.slideLayout+xml"/>
  <Override PartName="/ppt/slideLayouts/slideLayout8__m11.xml" ContentType="application/vnd.openxmlformats-officedocument.presentationml.slideLayout+xml"/>
  <Override PartName="/ppt/slideLayouts/slideLayout9__m11.xml" ContentType="application/vnd.openxmlformats-officedocument.presentationml.slideLayout+xml"/>
  <Override PartName="/ppt/slideLayouts/slideLayout10__m11.xml" ContentType="application/vnd.openxmlformats-officedocument.presentationml.slideLayout+xml"/>
  <Override PartName="/ppt/slideLayouts/slideLayout11__m11.xml" ContentType="application/vnd.openxmlformats-officedocument.presentationml.slideLayout+xml"/>
  <Override PartName="/ppt/theme/theme1__m11.xml" ContentType="application/vnd.openxmlformats-officedocument.theme+xml"/>
  <Override PartName="/ppt/notesSlides/notesSlide1__m11.xml" ContentType="application/vnd.openxmlformats-officedocument.presentationml.notesSlide+xml"/>
  <Override PartName="/ppt/notesMasters/notesMaster1__m11.xml" ContentType="application/vnd.openxmlformats-officedocument.presentationml.notesMaster+xml"/>
  <Override PartName="/ppt/theme/theme2__m11.xml" ContentType="application/vnd.openxmlformats-officedocument.theme+xml"/>
  <Override PartName="/ppt/slides/slide1__m12.xml" ContentType="application/vnd.openxmlformats-officedocument.presentationml.slide+xml"/>
  <Override PartName="/ppt/slideLayouts/slideLayout7__m12.xml" ContentType="application/vnd.openxmlformats-officedocument.presentationml.slideLayout+xml"/>
  <Override PartName="/ppt/slideMasters/slideMaster1__m12.xml" ContentType="application/vnd.openxmlformats-officedocument.presentationml.slideMaster+xml"/>
  <Override PartName="/ppt/slideLayouts/slideLayout1__m12.xml" ContentType="application/vnd.openxmlformats-officedocument.presentationml.slideLayout+xml"/>
  <Override PartName="/ppt/slideLayouts/slideLayout2__m12.xml" ContentType="application/vnd.openxmlformats-officedocument.presentationml.slideLayout+xml"/>
  <Override PartName="/ppt/slideLayouts/slideLayout3__m12.xml" ContentType="application/vnd.openxmlformats-officedocument.presentationml.slideLayout+xml"/>
  <Override PartName="/ppt/slideLayouts/slideLayout4__m12.xml" ContentType="application/vnd.openxmlformats-officedocument.presentationml.slideLayout+xml"/>
  <Override PartName="/ppt/slideLayouts/slideLayout5__m12.xml" ContentType="application/vnd.openxmlformats-officedocument.presentationml.slideLayout+xml"/>
  <Override PartName="/ppt/slideLayouts/slideLayout6__m12.xml" ContentType="application/vnd.openxmlformats-officedocument.presentationml.slideLayout+xml"/>
  <Override PartName="/ppt/slideLayouts/slideLayout8__m12.xml" ContentType="application/vnd.openxmlformats-officedocument.presentationml.slideLayout+xml"/>
  <Override PartName="/ppt/slideLayouts/slideLayout9__m12.xml" ContentType="application/vnd.openxmlformats-officedocument.presentationml.slideLayout+xml"/>
  <Override PartName="/ppt/slideLayouts/slideLayout10__m12.xml" ContentType="application/vnd.openxmlformats-officedocument.presentationml.slideLayout+xml"/>
  <Override PartName="/ppt/slideLayouts/slideLayout11__m12.xml" ContentType="application/vnd.openxmlformats-officedocument.presentationml.slideLayout+xml"/>
  <Override PartName="/ppt/theme/theme1__m12.xml" ContentType="application/vnd.openxmlformats-officedocument.theme+xml"/>
  <Override PartName="/ppt/notesSlides/notesSlide1__m12.xml" ContentType="application/vnd.openxmlformats-officedocument.presentationml.notesSlide+xml"/>
  <Override PartName="/ppt/notesMasters/notesMaster1__m12.xml" ContentType="application/vnd.openxmlformats-officedocument.presentationml.notesMaster+xml"/>
  <Override PartName="/ppt/theme/theme2__m12.xml" ContentType="application/vnd.openxmlformats-officedocument.theme+xml"/>
  <Override PartName="/ppt/slides/slide1__m13.xml" ContentType="application/vnd.openxmlformats-officedocument.presentationml.slide+xml"/>
  <Override PartName="/ppt/slideLayouts/slideLayout7__m13.xml" ContentType="application/vnd.openxmlformats-officedocument.presentationml.slideLayout+xml"/>
  <Override PartName="/ppt/slideMasters/slideMaster1__m13.xml" ContentType="application/vnd.openxmlformats-officedocument.presentationml.slideMaster+xml"/>
  <Override PartName="/ppt/slideLayouts/slideLayout1__m13.xml" ContentType="application/vnd.openxmlformats-officedocument.presentationml.slideLayout+xml"/>
  <Override PartName="/ppt/slideLayouts/slideLayout2__m13.xml" ContentType="application/vnd.openxmlformats-officedocument.presentationml.slideLayout+xml"/>
  <Override PartName="/ppt/slideLayouts/slideLayout3__m13.xml" ContentType="application/vnd.openxmlformats-officedocument.presentationml.slideLayout+xml"/>
  <Override PartName="/ppt/slideLayouts/slideLayout4__m13.xml" ContentType="application/vnd.openxmlformats-officedocument.presentationml.slideLayout+xml"/>
  <Override PartName="/ppt/slideLayouts/slideLayout5__m13.xml" ContentType="application/vnd.openxmlformats-officedocument.presentationml.slideLayout+xml"/>
  <Override PartName="/ppt/slideLayouts/slideLayout6__m13.xml" ContentType="application/vnd.openxmlformats-officedocument.presentationml.slideLayout+xml"/>
  <Override PartName="/ppt/slideLayouts/slideLayout8__m13.xml" ContentType="application/vnd.openxmlformats-officedocument.presentationml.slideLayout+xml"/>
  <Override PartName="/ppt/slideLayouts/slideLayout9__m13.xml" ContentType="application/vnd.openxmlformats-officedocument.presentationml.slideLayout+xml"/>
  <Override PartName="/ppt/slideLayouts/slideLayout10__m13.xml" ContentType="application/vnd.openxmlformats-officedocument.presentationml.slideLayout+xml"/>
  <Override PartName="/ppt/slideLayouts/slideLayout11__m13.xml" ContentType="application/vnd.openxmlformats-officedocument.presentationml.slideLayout+xml"/>
  <Override PartName="/ppt/theme/theme1__m13.xml" ContentType="application/vnd.openxmlformats-officedocument.theme+xml"/>
  <Override PartName="/ppt/notesSlides/notesSlide1__m13.xml" ContentType="application/vnd.openxmlformats-officedocument.presentationml.notesSlide+xml"/>
  <Override PartName="/ppt/notesMasters/notesMaster1__m13.xml" ContentType="application/vnd.openxmlformats-officedocument.presentationml.notesMaster+xml"/>
  <Override PartName="/ppt/theme/theme2__m1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11"/>
    <p:sldMasterId id="2147483650" r:id="rId14"/>
    <p:sldMasterId id="2147483651" r:id="rId17"/>
    <p:sldMasterId id="2147483652" r:id="rId20"/>
    <p:sldMasterId id="2147483653" r:id="rId23"/>
    <p:sldMasterId id="2147483654" r:id="rId26"/>
    <p:sldMasterId id="2147483655" r:id="rId29"/>
    <p:sldMasterId id="2147483656" r:id="rId32"/>
    <p:sldMasterId id="2147483657" r:id="rId35"/>
    <p:sldMasterId id="2147483658" r:id="rId38"/>
    <p:sldMasterId id="2147483659" r:id="rId41"/>
    <p:sldMasterId id="2147483660" r:id="rId44"/>
    <p:sldMasterId id="2147483661" r:id="rId47"/>
  </p:sldMasterIdLst>
  <p:notesMasterIdLst>
    <p:notesMasterId r:id="rId12"/>
    <p:notesMasterId r:id="rId15"/>
    <p:notesMasterId r:id="rId18"/>
    <p:notesMasterId r:id="rId21"/>
    <p:notesMasterId r:id="rId24"/>
    <p:notesMasterId r:id="rId27"/>
    <p:notesMasterId r:id="rId30"/>
    <p:notesMasterId r:id="rId33"/>
    <p:notesMasterId r:id="rId36"/>
    <p:notesMasterId r:id="rId39"/>
    <p:notesMasterId r:id="rId42"/>
    <p:notesMasterId r:id="rId45"/>
    <p:notesMasterId r:id="rId48"/>
  </p:notesMasterIdLst>
  <p:sldIdLst>
    <p:sldId id="256" r:id="rId7"/>
    <p:sldId id="257" r:id="rId9"/>
    <p:sldId id="258" r:id="rId10"/>
    <p:sldId id="259" r:id="rId13"/>
    <p:sldId id="260" r:id="rId16"/>
    <p:sldId id="261" r:id="rId19"/>
    <p:sldId id="262" r:id="rId22"/>
    <p:sldId id="263" r:id="rId25"/>
    <p:sldId id="264" r:id="rId28"/>
    <p:sldId id="265" r:id="rId31"/>
    <p:sldId id="266" r:id="rId34"/>
    <p:sldId id="267" r:id="rId37"/>
    <p:sldId id="268" r:id="rId40"/>
    <p:sldId id="269" r:id="rId43"/>
    <p:sldId id="270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1__m1.xml"/><Relationship Id="rId11" Type="http://schemas.openxmlformats.org/officeDocument/2006/relationships/slideMaster" Target="slideMasters/slideMaster1__m1.xml"/><Relationship Id="rId12" Type="http://schemas.openxmlformats.org/officeDocument/2006/relationships/notesMaster" Target="notesMasters/notesMaster1__m1.xml"/><Relationship Id="rId13" Type="http://schemas.openxmlformats.org/officeDocument/2006/relationships/slide" Target="slides/slide1__m2.xml"/><Relationship Id="rId14" Type="http://schemas.openxmlformats.org/officeDocument/2006/relationships/slideMaster" Target="slideMasters/slideMaster1__m2.xml"/><Relationship Id="rId15" Type="http://schemas.openxmlformats.org/officeDocument/2006/relationships/notesMaster" Target="notesMasters/notesMaster1__m2.xml"/><Relationship Id="rId16" Type="http://schemas.openxmlformats.org/officeDocument/2006/relationships/slide" Target="slides/slide1__m3.xml"/><Relationship Id="rId17" Type="http://schemas.openxmlformats.org/officeDocument/2006/relationships/slideMaster" Target="slideMasters/slideMaster1__m3.xml"/><Relationship Id="rId18" Type="http://schemas.openxmlformats.org/officeDocument/2006/relationships/notesMaster" Target="notesMasters/notesMaster1__m3.xml"/><Relationship Id="rId19" Type="http://schemas.openxmlformats.org/officeDocument/2006/relationships/slide" Target="slides/slide1__m4.xml"/><Relationship Id="rId20" Type="http://schemas.openxmlformats.org/officeDocument/2006/relationships/slideMaster" Target="slideMasters/slideMaster1__m4.xml"/><Relationship Id="rId21" Type="http://schemas.openxmlformats.org/officeDocument/2006/relationships/notesMaster" Target="notesMasters/notesMaster1__m4.xml"/><Relationship Id="rId22" Type="http://schemas.openxmlformats.org/officeDocument/2006/relationships/slide" Target="slides/slide1__m5.xml"/><Relationship Id="rId23" Type="http://schemas.openxmlformats.org/officeDocument/2006/relationships/slideMaster" Target="slideMasters/slideMaster1__m5.xml"/><Relationship Id="rId24" Type="http://schemas.openxmlformats.org/officeDocument/2006/relationships/notesMaster" Target="notesMasters/notesMaster1__m5.xml"/><Relationship Id="rId25" Type="http://schemas.openxmlformats.org/officeDocument/2006/relationships/slide" Target="slides/slide1__m6.xml"/><Relationship Id="rId26" Type="http://schemas.openxmlformats.org/officeDocument/2006/relationships/slideMaster" Target="slideMasters/slideMaster1__m6.xml"/><Relationship Id="rId27" Type="http://schemas.openxmlformats.org/officeDocument/2006/relationships/notesMaster" Target="notesMasters/notesMaster1__m6.xml"/><Relationship Id="rId28" Type="http://schemas.openxmlformats.org/officeDocument/2006/relationships/slide" Target="slides/slide1__m7.xml"/><Relationship Id="rId29" Type="http://schemas.openxmlformats.org/officeDocument/2006/relationships/slideMaster" Target="slideMasters/slideMaster1__m7.xml"/><Relationship Id="rId30" Type="http://schemas.openxmlformats.org/officeDocument/2006/relationships/notesMaster" Target="notesMasters/notesMaster1__m7.xml"/><Relationship Id="rId31" Type="http://schemas.openxmlformats.org/officeDocument/2006/relationships/slide" Target="slides/slide1__m8.xml"/><Relationship Id="rId32" Type="http://schemas.openxmlformats.org/officeDocument/2006/relationships/slideMaster" Target="slideMasters/slideMaster1__m8.xml"/><Relationship Id="rId33" Type="http://schemas.openxmlformats.org/officeDocument/2006/relationships/notesMaster" Target="notesMasters/notesMaster1__m8.xml"/><Relationship Id="rId34" Type="http://schemas.openxmlformats.org/officeDocument/2006/relationships/slide" Target="slides/slide1__m9.xml"/><Relationship Id="rId35" Type="http://schemas.openxmlformats.org/officeDocument/2006/relationships/slideMaster" Target="slideMasters/slideMaster1__m9.xml"/><Relationship Id="rId36" Type="http://schemas.openxmlformats.org/officeDocument/2006/relationships/notesMaster" Target="notesMasters/notesMaster1__m9.xml"/><Relationship Id="rId37" Type="http://schemas.openxmlformats.org/officeDocument/2006/relationships/slide" Target="slides/slide1__m10.xml"/><Relationship Id="rId38" Type="http://schemas.openxmlformats.org/officeDocument/2006/relationships/slideMaster" Target="slideMasters/slideMaster1__m10.xml"/><Relationship Id="rId39" Type="http://schemas.openxmlformats.org/officeDocument/2006/relationships/notesMaster" Target="notesMasters/notesMaster1__m10.xml"/><Relationship Id="rId40" Type="http://schemas.openxmlformats.org/officeDocument/2006/relationships/slide" Target="slides/slide1__m11.xml"/><Relationship Id="rId41" Type="http://schemas.openxmlformats.org/officeDocument/2006/relationships/slideMaster" Target="slideMasters/slideMaster1__m11.xml"/><Relationship Id="rId42" Type="http://schemas.openxmlformats.org/officeDocument/2006/relationships/notesMaster" Target="notesMasters/notesMaster1__m11.xml"/><Relationship Id="rId43" Type="http://schemas.openxmlformats.org/officeDocument/2006/relationships/slide" Target="slides/slide1__m12.xml"/><Relationship Id="rId44" Type="http://schemas.openxmlformats.org/officeDocument/2006/relationships/slideMaster" Target="slideMasters/slideMaster1__m12.xml"/><Relationship Id="rId45" Type="http://schemas.openxmlformats.org/officeDocument/2006/relationships/notesMaster" Target="notesMasters/notesMaster1__m12.xml"/><Relationship Id="rId46" Type="http://schemas.openxmlformats.org/officeDocument/2006/relationships/slide" Target="slides/slide1__m13.xml"/><Relationship Id="rId47" Type="http://schemas.openxmlformats.org/officeDocument/2006/relationships/slideMaster" Target="slideMasters/slideMaster1__m13.xml"/><Relationship Id="rId48" Type="http://schemas.openxmlformats.org/officeDocument/2006/relationships/notesMaster" Target="notesMasters/notesMaster1__m13.xml"/></Relationships>
</file>

<file path=ppt/charts/_rels/chart1__m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__m9.xlsx"/></Relationships>
</file>

<file path=ppt/charts/chart1__m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条件收益（cm）</c:v>
                </c:pt>
              </c:strCache>
            </c:strRef>
          </c:tx>
          <c:dPt>
            <c:idx val="0"/>
            <c:spPr>
              <a:solidFill>
                <a:srgbClr val="B2C5DE"/>
              </a:solidFill>
              <a:ln>
                <a:noFill/>
              </a:ln>
            </c:spPr>
          </c:dPt>
          <c:dPt>
            <c:idx val="1"/>
            <c:spPr>
              <a:solidFill>
                <a:srgbClr val="92B0D6"/>
              </a:solidFill>
              <a:ln>
                <a:noFill/>
              </a:ln>
            </c:spPr>
          </c:dPt>
          <c:dPt>
            <c:idx val="2"/>
            <c:spPr>
              <a:solidFill>
                <a:srgbClr val="6B9EC7"/>
              </a:solidFill>
              <a:ln>
                <a:noFill/>
              </a:ln>
            </c:spPr>
          </c:dPt>
          <c:dPt>
            <c:idx val="3"/>
            <c:spPr>
              <a:solidFill>
                <a:srgbClr val="23999B"/>
              </a:solidFill>
              <a:ln>
                <a:noFill/>
              </a:ln>
            </c:spPr>
          </c:dPt>
          <c:dPt>
            <c:idx val="4"/>
            <c:spPr>
              <a:solidFill>
                <a:srgbClr val="148D91"/>
              </a:solidFill>
              <a:ln>
                <a:noFill/>
              </a:ln>
            </c:spPr>
          </c:dPt>
          <c:cat>
            <c:strRef>
              <c:f>Sheet1!$A$2:$A$6</c:f>
              <c:strCache>
                <c:ptCount val="5"/>
                <c:pt idx="0">
                  <c:v>原始
航点头</c:v>
                </c:pt>
                <c:pt idx="1">
                  <c:v>无历史
继续训练</c:v>
                </c:pt>
                <c:pt idx="2">
                  <c:v>加入
两帧历史</c:v>
                </c:pt>
                <c:pt idx="3">
                  <c:v>转弯难例
组合训练</c:v>
                </c:pt>
                <c:pt idx="4">
                  <c:v>困难样本
采样×3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2.56</c:v>
                </c:pt>
                <c:pt idx="1">
                  <c:v>2.68</c:v>
                </c:pt>
                <c:pt idx="2">
                  <c:v>2.8</c:v>
                </c:pt>
                <c:pt idx="3">
                  <c:v>2.93</c:v>
                </c:pt>
                <c:pt idx="4">
                  <c:v>2.94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500" b="1">
                  <a:solidFill>
                    <a:srgbClr val="142B46"/>
                  </a:solidFill>
                  <a:latin typeface="Noto Sans CJK S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CE5EF"/>
            </a:solidFill>
          </a:ln>
        </c:spPr>
        <c:txPr>
          <a:bodyPr/>
          <a:lstStyle/>
          <a:p>
            <a:pPr>
              <a:defRPr sz="1200">
                <a:solidFill>
                  <a:srgbClr val="142B46"/>
                </a:solidFill>
                <a:latin typeface="Noto Sans CJK S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4"/>
          <c:min val="0.0"/>
        </c:scaling>
        <c:delete val="0"/>
        <c:axPos val="l"/>
        <c:majorGridlines>
          <c:spPr>
            <a:ln w="7620">
              <a:solidFill>
                <a:srgbClr val="DCE5EF"/>
              </a:solidFill>
            </a:ln>
          </c:spPr>
        </c:majorGridlines>
        <c:numFmt formatCode="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62748A"/>
                </a:solidFill>
                <a:latin typeface="Noto Sans CJK SC"/>
              </a:defRPr>
            </a:pPr>
          </a:p>
        </c:txPr>
        <c:crossAx val="-2068027336"/>
        <c:crosses val="autoZero"/>
        <c:majorUnit val="1.0"/>
      </c:valAx>
    </c:plotArea>
    <c:dispBlanksAs val="gap"/>
  </c:chart>
  <c:txPr>
    <a:bodyPr/>
    <a:lstStyle/>
    <a:p>
      <a:pPr>
        <a:defRPr sz="1800">
          <a:latin typeface="Noto Sans CJK S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_rels/notesMaster1__m1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1.xml"/></Relationships>
</file>

<file path=ppt/notesMasters/_rels/notesMaster1__m2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2.xml"/></Relationships>
</file>

<file path=ppt/notesMasters/_rels/notesMaster1__m3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3.xml"/></Relationships>
</file>

<file path=ppt/notesMasters/_rels/notesMaster1__m4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4.xml"/></Relationships>
</file>

<file path=ppt/notesMasters/_rels/notesMaster1__m5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5.xml"/></Relationships>
</file>

<file path=ppt/notesMasters/_rels/notesMaster1__m6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6.xml"/></Relationships>
</file>

<file path=ppt/notesMasters/_rels/notesMaster1__m7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7.xml"/></Relationships>
</file>

<file path=ppt/notesMasters/_rels/notesMaster1__m8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8.xml"/></Relationships>
</file>

<file path=ppt/notesMasters/_rels/notesMaster1__m9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9.xml"/></Relationships>
</file>

<file path=ppt/notesMasters/_rels/notesMaster1__m10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10.xml"/></Relationships>
</file>

<file path=ppt/notesMasters/_rels/notesMaster1__m11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11.xml"/></Relationships>
</file>

<file path=ppt/notesMasters/_rels/notesMaster1__m12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12.xml"/></Relationships>
</file>

<file path=ppt/notesMasters/_rels/notesMaster1__m13.xml.rels><?xml version='1.0' encoding='UTF-8' standalone='yes'?>
<Relationships xmlns="http://schemas.openxmlformats.org/package/2006/relationships"><Relationship Id="rId1" Type="http://schemas.openxmlformats.org/officeDocument/2006/relationships/theme" Target="../theme/theme2__m1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2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3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4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5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6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7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8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9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10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1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12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notesMaster1__m13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__m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1.xml"/><Relationship Id="rId2" Type="http://schemas.openxmlformats.org/officeDocument/2006/relationships/slide" Target="../slides/slide1__m1.xml"/></Relationships>
</file>

<file path=ppt/notesSlides/_rels/notesSlide1__m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2.xml"/><Relationship Id="rId2" Type="http://schemas.openxmlformats.org/officeDocument/2006/relationships/slide" Target="../slides/slide1__m2.xml"/></Relationships>
</file>

<file path=ppt/notesSlides/_rels/notesSlide1__m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3.xml"/><Relationship Id="rId2" Type="http://schemas.openxmlformats.org/officeDocument/2006/relationships/slide" Target="../slides/slide1__m3.xml"/></Relationships>
</file>

<file path=ppt/notesSlides/_rels/notesSlide1__m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4.xml"/><Relationship Id="rId2" Type="http://schemas.openxmlformats.org/officeDocument/2006/relationships/slide" Target="../slides/slide1__m4.xml"/></Relationships>
</file>

<file path=ppt/notesSlides/_rels/notesSlide1__m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5.xml"/><Relationship Id="rId2" Type="http://schemas.openxmlformats.org/officeDocument/2006/relationships/slide" Target="../slides/slide1__m5.xml"/></Relationships>
</file>

<file path=ppt/notesSlides/_rels/notesSlide1__m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6.xml"/><Relationship Id="rId2" Type="http://schemas.openxmlformats.org/officeDocument/2006/relationships/slide" Target="../slides/slide1__m6.xml"/></Relationships>
</file>

<file path=ppt/notesSlides/_rels/notesSlide1__m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7.xml"/><Relationship Id="rId2" Type="http://schemas.openxmlformats.org/officeDocument/2006/relationships/slide" Target="../slides/slide1__m7.xml"/></Relationships>
</file>

<file path=ppt/notesSlides/_rels/notesSlide1__m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8.xml"/><Relationship Id="rId2" Type="http://schemas.openxmlformats.org/officeDocument/2006/relationships/slide" Target="../slides/slide1__m8.xml"/></Relationships>
</file>

<file path=ppt/notesSlides/_rels/notesSlide1__m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9.xml"/><Relationship Id="rId2" Type="http://schemas.openxmlformats.org/officeDocument/2006/relationships/slide" Target="../slides/slide1__m9.xml"/></Relationships>
</file>

<file path=ppt/notesSlides/_rels/notesSlide1__m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10.xml"/><Relationship Id="rId2" Type="http://schemas.openxmlformats.org/officeDocument/2006/relationships/slide" Target="../slides/slide1__m10.xml"/></Relationships>
</file>

<file path=ppt/notesSlides/_rels/notesSlide1__m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11.xml"/><Relationship Id="rId2" Type="http://schemas.openxmlformats.org/officeDocument/2006/relationships/slide" Target="../slides/slide1__m11.xml"/></Relationships>
</file>

<file path=ppt/notesSlides/_rels/notesSlide1__m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12.xml"/><Relationship Id="rId2" Type="http://schemas.openxmlformats.org/officeDocument/2006/relationships/slide" Target="../slides/slide1__m12.xml"/></Relationships>
</file>

<file path=ppt/notesSlides/_rels/notesSlide1__m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__m13.xml"/><Relationship Id="rId2" Type="http://schemas.openxmlformats.org/officeDocument/2006/relationships/slide" Target="../slides/slide1__m1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中文封面风格预览，仅第一页。研究主题来自用户提供的研究汇报 prompt。右侧为概念示意，不代表真实轨迹或实验结果。未填写未经确认的姓名、学校或导师信息。全部标题、线条、路径和标记均为可编辑 PowerPoint 对象。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第3页，单页独立文件；不与前两页合并。</a:t>
            </a:r>
          </a:p>
          <a:p>
            <a:r>
              <a:t>来源：train/logs/revalidation/oracle_factorial/factorial_use.csv，main c1b3750，subset=all，n=1000。</a:t>
            </a:r>
          </a:p>
          <a:p>
            <a:r>
              <a:t>矩阵行=Goal（预测/真实），列=WP（预测/真实）；保持B预测距离与E-oracle不变。</a:t>
            </a:r>
          </a:p>
          <a:p>
            <a:r>
              <a:t>Db_d_blend=2.619988886081</a:t>
            </a:r>
          </a:p>
          <a:p>
            <a:r>
              <a:t>Db_blend_dgp_dwGT=4.655938766897</a:t>
            </a:r>
          </a:p>
          <a:p>
            <a:r>
              <a:t>Db_blend_dgGT_dwp=2.985680126399</a:t>
            </a:r>
          </a:p>
          <a:p>
            <a:r>
              <a:t>Db_blend_dgGT_dwGT=5.026780039445</a:t>
            </a:r>
          </a:p>
          <a:p>
            <a:r>
              <a:t>相对于预测组合，仅替换Goal的差值=0.365691240318cm；仅替换WP的差值=2.035949880816cm。差值在原始精度上计算，最后四舍五入。</a:t>
            </a:r>
          </a:p>
          <a:p>
            <a:r>
              <a:t>指标：use_cm=100*(masked_ADE-conditioned_ADE)。图中数值不是导航成功率，不能理解为绝对ADE。</a:t>
            </a:r>
          </a:p>
          <a:p>
            <a:r>
              <a:t>真实WP是未来8步轨迹终点方位，包含部署时不可获得的未来信息。本页表明当前栈中WP方向有较大Oracle恢复空间，不声称实际可训练方法必然达到该收益，也不声称显著性或跨协议可比。</a:t>
            </a:r>
          </a:p>
          <a:p>
            <a:r>
              <a:t>没有将P0的2.62cm与其他评估协议下e60的2.56cm混用。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第4页，独立单页。原始材料：main c1b3750，train/logs/revalidation/wp_oracle_attribution/。</a:t>
            </a:r>
          </a:p>
          <a:p>
            <a:r>
              <a:t>图表取自 by_wp_err_quintile.csv，按 WP 角误差划分5个等样本量组，每组200帧。平均收益为从预测Goal/预测WP到预测Goal/真实WP的use变化（PP→PG），不是每组总use，不是成功率。柱长共用0–8cm线性尺度；小值仍有可见最小宽度，旁列保留精确四舍五入值。</a:t>
            </a:r>
          </a:p>
          <a:p>
            <a:r>
              <a:t>Q5净收益占比=0.7659938224861109，对应76.6%；分母为所有帧的带符号净收益和。</a:t>
            </a:r>
          </a:p>
          <a:p>
            <a:r>
              <a:t>summary.txt：Pearson(wp_err_deg,delta_use_cm)=0.623；收益最高100帧占全部正收益68.9%，分母仅累加正收益；不与净收益混淆。没有根据这两个离散点绘制未获证据的完整集中曲线。</a:t>
            </a:r>
          </a:p>
          <a:p>
            <a:r>
              <a:t>turn_vs_straight.csv：严格转弯0.30m/45deg，n=593，净收益占比=0.8805811072763058，即88.1%；直行n=179，另有中间场景，二者非互补划分。本页未把其余407帧均称作直行。</a:t>
            </a:r>
          </a:p>
          <a:p>
            <a:r>
              <a:t>所有统计均为固定1000帧的离线Oracle分析，不代表部署成功率。GT WP使用未来8步轨迹信息。本页不声称因果或统计显著性。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第5页重写：承接收益归因页，问题改为转弯比例相近时困难样本还有哪些运动特征，不再用“错误出现在哪里”的标题承载多个无关特征。</a:t>
            </a:r>
          </a:p>
          <a:p>
            <a:r>
              <a:t>来源main c1b3750，train/logs/revalidation/wp_hard120/summary.txt、enrichment_H_vs_control.csv（control=C_match）、train/analyze_wp_hard120.py。</a:t>
            </a:r>
          </a:p>
          <a:p>
            <a:r>
              <a:t>Hard为预测WP相对真实8步endpoint方位误差&gt;=45deg，n=120，属于locked1000帧的12%。strict turn=GT endpoint abs(lateral)&gt;=.30m OR abs(yawchange)&gt;=45deg，Hard中占93.333%。C_match从非hard池抽样，匹配strict turn比例93.333%；它并非全部普通帧，也不是所有其他混杂因素均已控制。</a:t>
            </a:r>
          </a:p>
          <a:p>
            <a:r>
              <a:t>未来累计绝对转角path_winding_8 med_H108.48499999999994 / med_C69.43119048174236deg（页内108.5/69.4）；历史平均步间转角past_yaw_rate med_H14.101111111111116 / med_C7.349444444444433deg（页内14.10/7.35）。后者是过去最多3采样步绝对yaw变化均值，不是deg/s角速度。</a:t>
            </a:r>
          </a:p>
          <a:p>
            <a:r>
              <a:t>比较为中位数，两指标分别从零按120deg和16deg线性刻度画柱。只描述相关特征，不作因果断言。由此提出“视觉历史是否帮助”的可检验假设，下一页P2才给实验回答。</a:t>
            </a:r>
          </a:p>
          <a:p>
            <a:r>
              <a:t>Goal方位误差与κ比较从主页面移出，以聚焦引出历史实验的证据；18.3%按此前用户要求不显示。</a:t>
            </a:r>
          </a:p>
          <a:p>
            <a:r>
              <a:t>资料限制：CSV n_C与研究设计/当前代码不一致（62770 vs设计120），无法无原始NPZ复算；不报告对照数，采用与summary.txt一致的中位数，不据此计算新显著性。统计来自上传汇总，非本次重跑。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第6页，独立单页。来源为main c1b3750，train/logs/revalidation/P2_protocol.md、P2_conclusions_revised.md及p2_val_bearing/summary.txt。</a:t>
            </a:r>
          </a:p>
          <a:p>
            <a:r>
              <a:t>P2_protocol：ctx0和ctx2使用相同e60初始化与训练预算，ctx2表示额外加入2帧历史，目标仍为8步endpoint；不表示总共仅输入两帧，不使用未来帧。冻结NoMaD、DINOv2与E-oracle，优化方向头。</a:t>
            </a:r>
          </a:p>
          <a:p>
            <a:r>
              <a:t>Val n=5110：e60/ctx0/ctx2全量中位角误差8.58/8.50/7.97deg；turn_strict n=2751的P90=57.84/59.80/53.12deg；turn_strict子集内&gt;45deg比例14.5/14.9/12.6%。不能与all_far的8.5/8.6/7.1%混用。</a:t>
            </a:r>
          </a:p>
          <a:p>
            <a:r>
              <a:t>Locked kappa-blend use_cm取自P2_conclusions_revised.md：e60/ctx0/ctx2=2.56/2.68/2.80cm，属于该评估口径，不与P0 oracle_factorial的2.62cm基线直接相混。</a:t>
            </a:r>
          </a:p>
          <a:p>
            <a:r>
              <a:t>Val配对平均角误差差值（并非中位数差）：ctx2-ctx0 turn_strict=-1.412[-2.281,-0.579]deg，ctx2-e60=-1.717[-2.626,-0.798]deg；只在备注提供，页面未对locked下游收益声称统计显著性。修订结论中locked配对Delta-U cluster bootstrap仍为TODO。</a:t>
            </a:r>
          </a:p>
          <a:p>
            <a:r>
              <a:t>use_cm=100*(masked_ADE-conditioned_ADE)，非导航成功率；下游locked与Val分开汇报。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第7页，独立单页文件。来源main c1b3750，train/logs/revalidation/P3_training_batch.md、p3_morning_metrics.csv、p3_morning_table.txt；另核对train/analyze_p3_morning_table.py。</a:t>
            </a:r>
          </a:p>
          <a:p>
            <a:r>
              <a:t>B/C/D共享：ctx2、从e60初始化、30ep、batch128，B turn_strict x2，C x3，D累计转角三分位权重1/1.5/3。参考ctx2在CSV标为SeedA，B/C/D标为Seed0；未建立重复种子平均效果，不能声称统计显著或所有条件严格同seed。</a:t>
            </a:r>
          </a:p>
          <a:p>
            <a:r>
              <a:t>Val all_far n=5110、turn_strict n=2751（对应P2验证材料）。val_gt45_pct由所有far误差err&gt;45计算，不是turn子集比例，因此不能直接与第6页14.5/14.9/12.6%的turn比例混用。这里ctx2全量7.08%，B8.04%，C7.44%，D7.75%。</a:t>
            </a:r>
          </a:p>
          <a:p>
            <a:r>
              <a:t>ctx2/B/C/D的turn median为13.02/12.11/12.55/11.98deg；turn P90为53.12/55.77/54.01/53.95deg。中位误差下降但P90和全量&gt;45比例没有优于参考；不声称所有尾部指标均下降或全部恶化，因为C的P95=80.88优于ctx2的82.67。</a:t>
            </a:r>
          </a:p>
          <a:p>
            <a:r>
              <a:t>本页仅Val筛查结果，不提供缺失的B/C/D locked utility，不与之后turnhard的2.93cm混同。后续turnhard包含不同训练配方，另页展示。</a:t>
            </a:r>
          </a:p>
          <a:p>
            <a:r>
              <a:t>表格与卡片均可编辑；数值从原始CSV读取后保留2位小数。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第8页，独立单页。来源main c1b3750，train/logs/revalidation/P4_multi_horizon.md、P4_ablation_status.md、p4_ablation_val.txt。</a:t>
            </a:r>
          </a:p>
          <a:p>
            <a:r>
              <a:t>P4设置：ctx2初始化，15ep，context=2；Step8方向的vm-NLL+kappa为主目标，辅助2/4步1-cos损失，lambda=.25，推理仍仅Step8+kappa。</a:t>
            </a:r>
          </a:p>
          <a:p>
            <a:r>
              <a:t>mh_2721是P2和P4位移均&gt;=0.3m的共同可比子集；因辅助标签的位移筛选改变了训练/验证样本集合，不应把该子集与完整Val混为同一分布。页面每个箭头只在同一协议/样本集合内比较ctx2和原始p4_mh。</a:t>
            </a:r>
          </a:p>
          <a:p>
            <a:r>
              <a:t>筛选Val n2721：far median 7.11→6.30deg，turn P90 34.88→33.19deg。</a:t>
            </a:r>
          </a:p>
          <a:p>
            <a:r>
              <a:t>完整Val n5110：far median 7.97→7.97deg，turn P90 53.12→58.87deg。</a:t>
            </a:r>
          </a:p>
          <a:p>
            <a:r>
              <a:t>Locked1000 kappa-blend use：ctx2 2.80，p4_mh 2.40cm，P4 reported interval[2.06,2.77]；无aux续训15ep对照2.80cm[2.42,3.19]。没有根据各自区间推导配对显著性。</a:t>
            </a:r>
          </a:p>
          <a:p>
            <a:r>
              <a:t>P4b_masked full Val far median7.76，turn P9054.41deg，高于ctx2 53.12deg。此处未给P4b未核验的locked收益。</a:t>
            </a:r>
          </a:p>
          <a:p>
            <a:r>
              <a:t>后续mh46（turnhard初始化、aux4/6）的2.85cm属于不同实验，留后续优化页，未与原始P4混为同一模型。</a:t>
            </a:r>
          </a:p>
          <a:p>
            <a:r>
              <a:t>图中没有声称多时域监督一般无效；结论仅限本实验设置，且区分方向中位数、尾部和下游条件收益。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第9页，独立单页文件。来源：main c1b3750的train/logs/revalidation/p5ab_summary.txt、p5b_harmful_predictor/summary.json、p5c_trust/summary.json、kappa_fusion_summary.txt；并检查train/run_p5b_harmful_predictor.py、eval_frame_sets.py、adaptive_blend.py。</a:t>
            </a:r>
          </a:p>
          <a:p>
            <a:r>
              <a:t>有害harmful=ADE_blend&gt;ADE_goal，非WP误差大于某阈值；P5a中WP相对权重r_w=κ_wp/(κ_wp+κ_goal)，有害/有益Cohen d=-0.04，不支持相对权重系统性过高的简单假说，不等于证明κ整体已校准。</a:t>
            </a:r>
          </a:p>
          <a:p>
            <a:r>
              <a:t>P5b按轨迹5-fold GroupKFold，折外AUC=0.5200512964；已有ADE反事实：κ2.6199888861，best_oof2.6199888861（frac_goal=0），oracle_pick3.8031935437cm。阈值搜索结果是离线描述，不是额外独立测试或重复种子验证。</a:t>
            </a:r>
          </a:p>
          <a:p>
            <a:r>
              <a:t>P5c rollout：κ2.6943408467，trust OOF ridge2.6915933922，trust surrogate-oracle s*3.5913267216cm；平均s_hat约0.027来自p5ab_summary.txt。s*基于已有blend/goal ADE代理选取，再rollout，不是GT WP方向Oracle，也不是真实目标的理论上界。</a:t>
            </a:r>
          </a:p>
          <a:p>
            <a:r>
              <a:t>固定分歧门控同批rollout（kappa_fusion_summary.txt）：κ2.80，goal-WP disagree 35–55deg抑制2.24，GT WP误差Oracle抑制3.16cm。不能把2.62/2.69/2.80当同协议可交换基线。所有离线参考定义不同，不能跨行比较其大小。</a:t>
            </a:r>
          </a:p>
          <a:p>
            <a:r>
              <a:t>P5b/c特征含turn_strict、yaw8_deg、endpoint_lateral_m等真实未来轨迹派生信息（从归因缓存读取）；虽未直接使用GT WP误差，也不能称为全部部署可用特征。页面已明确只作离线探索。</a:t>
            </a:r>
          </a:p>
          <a:p>
            <a:r>
              <a:t>其他探索（未加入主表，避免混用）：goal-only fallback在P5b同ADE基线下2.03&lt;κ2.62；约束fallback2.73&gt;同批2.62，但在locked上扫参，不能描述为全面无收益或独立测试证据，也不能直接用其与另一批ctx2/turnhard排名。</a:t>
            </a:r>
          </a:p>
          <a:p>
            <a:r>
              <a:t>本页不声称统计显著、不推广为所有门控均无效，暂不将缺少核对来源的learned temperature数值写入。</a:t>
            </a:r>
          </a:p>
          <a:p/>
          <a:p>
            <a:r>
              <a:t>通俗表达修订：页面移除AUC、OOF、rollout、反事实及Oracle等专有词，详细定义仍保留于以上备注。四行依次对应P5a、P5b、P5c与固定分歧门控；只有最后一行展示数值，且2.80→2.24来自同批评估。未展示不能部署的离线参考上界，未将不同批次直接排名。结论仅针对这些已试方案，不证明所有门控均无效。</a:t>
            </a:r>
          </a:p>
          <a:p>
            <a:r>
              <a:t>通俗表达修订：页面移除AUC、OOF、rollout、反事实及Oracle等专有词，详细定义仍保留于以上备注。四行依次对应P5a、P5b、P5c与固定分歧门控；只有最后一行展示数值，且2.80→2.24来自同批评估。未展示不能部署的离线参考上界，未将不同批次直接排名。结论仅针对这些已试方案，不证明所有门控均无效。</a:t>
            </a:r>
          </a:p>
          <a:p>
            <a:r>
              <a:t>通俗表达修订：页面移除AUC、OOF、rollout、反事实及Oracle等专有词，详细定义仍保留于以上备注。四行依次对应P5a、P5b、P5c与固定分歧门控；只有最后一行展示数值，且2.80→2.24来自同批评估。未展示不能部署的离线参考上界，未将不同批次直接排名。结论仅针对这些已试方案，不证明所有门控均无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第10页，独立单页文件。来源main c1b3750的train/logs/revalidation/wp_input_sweep/summary.json、wp_hard_oversample/summary_cn.txt、wp_mh46/summary_cn.txt、afternoon_2026_10_26/summary_cn.txt；代码run_wp_ctx2_turnhard_train.py、run_hard_oversample_train.py、train_goal_dino.py。</a:t>
            </a:r>
          </a:p>
          <a:p>
            <a:r>
              <a:t>表内方案对应：ctx2=2.7953815374523403(all),3.605176209398305(turn)；turnhard=2.925652830861509,3.909248513802509；hist3plain=2.8434096975252032,3.726504273197502；hist3turnhard=2.9344996815547346,3.919328380420075；mh46=2.85,3.79（来源摘要精度）；hard_os3=2.94,3.98（来源摘要精度）。未把2.94与2.93的四舍五入差异称为显著。</a:t>
            </a:r>
          </a:p>
          <a:p>
            <a:r>
              <a:t>turnhard组合训练=turn_strict×3, hard_bearing30deg×2.5, winding&gt;=45deg×2；不是P3早期仅turnstrict_x3或curvature_tiers。</a:t>
            </a:r>
          </a:p>
          <a:p>
            <a:r>
              <a:t>mh46从turnhard初始化、12ep、aux4+6、lambda=.4 strict；不同于第8页原始P4的2/4步监督。</a:t>
            </a:r>
          </a:p>
          <a:p>
            <a:r>
              <a:t>hard_os3从turnhard初始化，使用训练集困难远目标/转弯样本，hard_frame_boost=3；是相对采样权重，不保证绝对频率或独特样本数恰好3倍。</a:t>
            </a:r>
          </a:p>
          <a:p>
            <a:r>
              <a:t>报告hard_os3角度中位数9.4deg、&gt;45约11%；turnhard约9.2deg、&gt;45约10%。hard45子集未单独重算，不声称Hard120已改善，也不将训练中的hard定义与locked误差&gt;=45deg的Hard120混同。</a:t>
            </a:r>
          </a:p>
          <a:p>
            <a:r>
              <a:t>训练困难样本元数据：hard_pairs_train_summary.json共3796420对、2272041被规则标为困难，其中hard_far_turn1089503；这些只是训练挖掘记录，不是locked1000。未用CSV行数冒充测试规模。</a:t>
            </a:r>
          </a:p>
          <a:p>
            <a:r>
              <a:t>现有摘要与JSON的B-spread部分参考值不一致（turnhard4.16 vs4.1113），因此本页不报告该项，避免缺少原始评估记录时强行混比。</a:t>
            </a:r>
          </a:p>
          <a:p>
            <a:r>
              <a:t>所有收益为use_cm，非成功率；尚需重复种子与配对区间验证，未声称统计显著或部署验证完成。技术名称留在备注，正文使用中文方案描述。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第11页，独立单页。原生PowerPoint柱状图，可编辑数据与图形，纵轴0–3.4cm，未截断放大小差异。</a:t>
            </a:r>
          </a:p>
          <a:p>
            <a:r>
              <a:t>来源main c1b3750，train/logs/revalidation/README_report_index.md；P2_conclusions_revised.md给出e60/ctx0/ctx2=2.56/2.68/2.80cm（eval_waypoint locked）；wp_input_sweep/summary.json给出turnhard=2.925652830861509cm（页面2.93）；wp_hard_oversample/summary_cn.txt给出hard_os3=2.94cm。</a:t>
            </a:r>
          </a:p>
          <a:p>
            <a:r>
              <a:t>图中中文对应：原始航点头=e60；无历史继续训练=ctx0；加入两帧历史=ctx2；转弯难例组合训练=turnhard；困难样本采样×3=hard_os3（从turnhard继续训练，包含采样权重变化）。这些阶段不是单因素完全控制的因果分解。</a:t>
            </a:r>
          </a:p>
          <a:p>
            <a:r>
              <a:t>汇总材料均标注locked约1000远帧、kappa融合与冻结E-oracle+B距离的栈；没有原始所有阶段逐帧输出可复核相同随机采样及配对统计，因此只报告仓库汇总的阶段进展，不宣称全部细节严格同批或统计显著。未混入oracle_factorial的2.62、P5c的2.69或goal fallback等其他口径。</a:t>
            </a:r>
          </a:p>
          <a:p>
            <a:r>
              <a:t>增加0.38cm与相对增长14.84375%均按现有报告精度计算：(2.94-2.56)/2.56*100。它只是条件收益use_cm的相对增长，不是导航成功率增长，不是绝对ADE降低14.8%，也不表明最终ADE为这些数值。</a:t>
            </a:r>
          </a:p>
          <a:p>
            <a:r>
              <a:t>use_cm=100*(masked_ADE-conditioned_ADE)，条件信息带来的ADE减少；图中最高值2.94与turnhard2.93差异约0.01cm，尚无重复种子或配对置信区间支持可靠提升结论。</a:t>
            </a:r>
          </a:p>
          <a:p>
            <a:r>
              <a:t>主策略与融合公式固定；改进集中在WP头视觉历史及训练方案。最新一步同时有续训与采样变化，不能将增益纯归因于采样。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UniNav介绍第1页，独立文件，不与现有研究进展页合并，不预先确定整体插入页码。</a:t>
            </a:r>
          </a:p>
          <a:p>
            <a:r>
              <a:t>原文：Changqing Zhou, Yueru Luo, Zeyu Jiang, Changhao Chen. UniNav: A Unified World-Action Diffusion Model for Visual Navigation. arXiv:2608.03244v1，2026-08-04；用户上传PDF共9页。引用§3.1–3.3（PDF第3–4页）、图2（第4页），对照§3.4/4.1（第5页）。本图为依据原文中文重绘，非论文原图，省略register tokens、位置编码和模态特定输出头等细节。</a:t>
            </a:r>
          </a:p>
          <a:p>
            <a:r>
              <a:t>输入C帧历史与目标图像。论文默认C=3，预测K=6未来图像和航点。航点维度(Δx,Δy,Δψ)，模型直接联合生成含平移与yaw的轨迹，而不是仅预测yaw并假设单位步长积分。</a:t>
            </a:r>
          </a:p>
          <a:p>
            <a:r>
              <a:t>历史、目标及未来图像经冻结Wan视频VAE得到latent/token；历史与目标是条件，未来画面是加噪并预测的目标，不是部署时的真实未来输入。</a:t>
            </a:r>
          </a:p>
          <a:p>
            <a:r>
              <a:t>相机几何目标由冻结DA3（Depth Anything3，Lin et al.2025）从训练历史与未来图像提取并归一化。按论文§3.2–3.3作为带噪几何目标与其他模态共同学习；不能将干净未来几何Oracle输入解释为可部署方法。</a:t>
            </a:r>
          </a:p>
          <a:p>
            <a:r>
              <a:t>共享去噪Transformer以Wan2.1-T2V-1.3B初始化，主Transformer与新模块微调，VAE与几何教师冻结。论文实现使用flow matching目标，不是本项目原方向头von Mises损失，图中“恢复”只是通俗表达。三类目标分别为未来视频、轨迹、相机token，带可用性mask的加权训练。</a:t>
            </a:r>
          </a:p>
          <a:p>
            <a:r>
              <a:t>Full变体联合生成未来视觉与航点；Fast单独训练并使用非对称注意力，推理移除future-video tokens。此页仅说明联合架构，下一页再讲Fast与几何监督，不声称Full可直接任意删token。</a:t>
            </a:r>
          </a:p>
          <a:p>
            <a:r>
              <a:t>相机分支在图中主要表达训练监督对象；原文图2推理示意主要展示未来视频与轨迹，正文§3.4描述Full同时去噪camera tokens。相机几何特征不必是实际导航控制的独立用户输出。</a:t>
            </a:r>
          </a:p>
          <a:p>
            <a:r>
              <a:t>联合建模鼓励视觉、运动和几何信息协调，不表示有严格物理一致性约束。对用户yaw辅助头仅称局部借鉴，没有称其为UniNav复现。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UniNav精读第1页：输入输出与数据格式，独立单页。保留原uninav01_architecture_cn.pptx，不覆盖、不合并、不改已有页码。</a:t>
            </a:r>
          </a:p>
          <a:p>
            <a:r>
              <a:t>来源：用户上传2608.03244v1.pdf，UniNav: A Unified World-Action Diffusion Model for Visual Navigation，§3.1与§3.2（PDF第3–4页）、§4.1（第5页）。</a:t>
            </a:r>
          </a:p>
          <a:p>
            <a:r>
              <a:t>默认C=3历史包含当前帧，K=6未来图像/航点，所有图像resize256×192；另有一张目标图像。图上t±索引为论文的采样时刻示意，不声称原视频相邻帧、固定秒数或FPS。按角色有3+1+6个图像槽，不声称必须10张不同的原始图片，目标图不默认等于第6未来帧。</a:t>
            </a:r>
          </a:p>
          <a:p>
            <a:r>
              <a:t>Full输出包括6帧未来RGB与K×3连续轨迹。每行(Δx,Δy,Δψ)是局部坐标系下的平移与yaw变化；不把它讲成仅yaw积分。正文未充分说明相对前一步/相对当前、归一化或具体单位，因此本页不补造这些细节。矩阵是符号占位，不是测量/预测数值，也不代表实际CSV或NPZ文件格式。</a:t>
            </a:r>
          </a:p>
          <a:p>
            <a:r>
              <a:t>本页只说明外部任务输入输出；不涉及VAE特征维度、视觉token数量、DA3、几何token、噪声或损失，留后页。相机token是联合训练的重要监督对象，在架构/训练页说明，不把本页理解为完整内部网络接口清单。</a:t>
            </a:r>
          </a:p>
          <a:p>
            <a:r>
              <a:t>训练时真实未来画面和真实轨迹用作监督；推理时仅可见历史与目标，不输入真实未来。Fast与Full有独立训练设计，Fast可省未来视频生成，后页讲解；本页明确以Full默认设置为例。</a:t>
            </a:r>
          </a:p>
          <a:p>
            <a:r>
              <a:t>所有图框均为可编辑占位图标，不是实验照片。未将用户上传论文或数据图片复制上传至GitHub；只有自绘页面与备注引用。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UniNav精读第2页，独立文件。保留原uninav01_architecture_cn.pptx及精读第1页uninav_io01_inputs_outputs_cn.pptx，不合并、不预先决定总页码。</a:t>
            </a:r>
          </a:p>
          <a:p>
            <a:r>
              <a:t>主来源：用户上传UniNav arXiv2608.03244v1.pdf，§3.2–3.3及图2（PDF第3–4页）、§4.1（第5页）。</a:t>
            </a:r>
          </a:p>
          <a:p>
            <a:r>
              <a:t>视觉：历史/目标/未来均由冻结Wan视频VAE编码并patchify为时空latent tokens。未来视觉latent先按式4加噪，再形成h_pred；历史h_hist与目标h_goal是已知条件。具体latent通道/分辨率/时间压缩/patch尺寸/视觉token数及embedding实现正文未给，不能直接套Wan默认数值。VAE作用通俗叫压缩，切块嵌入映射至模型输入隐藏空间。</a:t>
            </a:r>
          </a:p>
          <a:p>
            <a:r>
              <a:t>轨迹：x_traj为K×3（K=6）局部航点(Δx,Δy,Δψ)。加噪得z_traj；每个航点由MLP_traj映射h_traj,k=MLP_traj(z_traj,k)，共有6个轨迹tokens。输出头预测同轨迹形状的flow velocity，非直接一次输出最终动作。</a:t>
            </a:r>
          </a:p>
          <a:p>
            <a:r>
              <a:t>几何：式2使用冻结Gξ=DA3读取历史与真实未来图像（不是目标图像），取未来6视角对应camera-aware targets并Norm；记x_cam,k。加噪成z_cam,k，MLP_c映射h_cam,k。每个未来视角一个归一化目标token；其维度及逐维物理解释正文未给，不能宣称就是深度图、显式点云或具体相机内外参矩阵。DA3在这里是训练教师，不意味着部署可读取真实未来。</a:t>
            </a:r>
          </a:p>
          <a:p>
            <a:r>
              <a:t>拼接顺序式3：[h_cam|h_pred|h_traj|h_hist|h_goal|h_reg]。全序列进入共享去噪Transformer，以Wan2.1-T2V-1.3B初始化并微调。寄存向量可学习，帮助异构信息交换。视觉沿用预训练视频模型时空位置编码；轨迹、相机、寄存向量采用原文所说identity positional encodings，正文未详细给此操作，页面只说不强加图像网格位置，不能推断完全不区分步骤。</a:t>
            </a:r>
          </a:p>
          <a:p>
            <a:r>
              <a:t>单步网络以噪声水平为条件，由不同输出头预测v_theta,vid/traj/cam，目标u_m=epsilon_m-x_m。三者更新量形状分别与对应视频latent、6×3轨迹和几何token目标匹配，不是图像像素、物理速度或最终去噪结果。采样迭代再得到干净表示；视频经冻结VAE解码RGB，轨迹直接作为连续数值，不需要VAE；几何保持特征形式，非必须直接提供机器人执行。</a:t>
            </a:r>
          </a:p>
          <a:p>
            <a:r>
              <a:t>模块来源补充：Wang,A.等（2025），Wan: Open and Advanced Large-Scale Video Generative Models，arXiv:2503.20314，https://arxiv.org/abs/2503.20314。UniNav §3.2对视频VAE引用Wang等2025，§4.1明确Wan2.1-T2V-1.3B主干与冻结视频VAE。这里是Wan预训练视频VAE，不是UniNav新训练的编码器；并未独立核对Wan技术报告的具体压缩倍率，也不能直接代作UniNav设置。DA3来源Lin,H.等（2025），Depth Anything 3: Recovering the Visual Space from Any Views，arXiv:2511.10647，https://arxiv.org/abs/2511.10647。切块是将特征张量划分为局部时空块，嵌入将每块映射至共享隐藏维度D，D表示每token的数字个数；轨迹MLP把每航点3维映射到D维。论文未披露足够逐层尺寸，不补造。</a:t>
            </a:r>
          </a:p>
          <a:p>
            <a:r>
              <a:t>本图主要画训练编码和单次去噪计算。实际推理时未知目标从随机噪声初始化，不输入真实未来图像或教师提取的真实未来几何。Full联合生成视觉/轨迹/几何；Fast注意力与删token留后页。</a:t>
            </a:r>
          </a:p>
          <a:p>
            <a:r>
              <a:t>原文未在式3明确列噪声水平embedding或所有投影实现，本页省略细节，并非否认噪声水平条件。三损失与flow matching采样公式留第3页展开。图是依据论文重绘的示意，不是已验证实现代码，也不声称逐维复现论文。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__m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第12页（替换被用户删除的实验流程页），独立单页。原计划第13页“核心发现与局限”前移；后续仅剩第13页“下一步计划”。</a:t>
            </a:r>
          </a:p>
          <a:p>
            <a:r>
              <a:t>发现1：train/logs/revalidation/oracle_factorial/factorial_use.csv，all1000，固定B距离与E：预测组合2.61999；换GT Goal2.98568（+0.36569）；换GT WP4.65594（+2.03595）。仅在当前融合机制及策略下定位WP方向的改进潜力，不能泛化为Goal预测不重要。</a:t>
            </a:r>
          </a:p>
          <a:p>
            <a:r>
              <a:t>发现2：wp_oracle_attribution/summary.txt与by_wp_err_quintile.csv、turn_vs_straight.csv，top100帧占正收益68.9%；turn593占净收益88.1%；wp_hard120/summary.txt中93.3%的Hard120属于严格转弯。正收益与净收益分母不同。相关并非因果。</a:t>
            </a:r>
          </a:p>
          <a:p>
            <a:r>
              <a:t>发现3：P2_conclusions_revised.md、p2_val_bearing/summary.txt与wp_input_sweep/summary.json支持历史与turnhard训练收益；P4_ablation_status.md、wp_mh46/summary_cn.txt、p5ab_summary.txt说明更多历史/多时域/当前融合门控未稳定超越参考。此结论局限于已试设置，不是证明所有此类方法无效。</a:t>
            </a:r>
          </a:p>
          <a:p>
            <a:r>
              <a:t>限制1：GT WP是未来8步轨迹终点方向；GT分析只用于离线，不能作部署方法或可实现改进承诺。</a:t>
            </a:r>
          </a:p>
          <a:p>
            <a:r>
              <a:t>限制2：use_cm=100*(masked_ADE-conditioned_ADE)为目标条件减少的轨迹误差，不等于成功率、安全性或真机表现。固定评测帧不代表完全独立测试；部分融合扫参使用locked，仍需独立测试集。</a:t>
            </a:r>
          </a:p>
          <a:p>
            <a:r>
              <a:t>限制3：wp_hard_oversample/summary_cn.txt的2.94与turnhard2.93只是现有报告精度差异，没有充分多seed或配对差值区间。无完整逐帧数据，不能证明统计显著；hard_os3还包含续训。</a:t>
            </a:r>
          </a:p>
          <a:p>
            <a:r>
              <a:t>适用范围：RECON/SCAND现有小样本重建图像记录不够支撑广泛跨域结论；未有用户提供的真机成功率证据。限制可用于后续评估规划。</a:t>
            </a:r>
          </a:p>
          <a:p>
            <a:r>
              <a:t>未引入新的未经核对数字。页面用中文总结，技术细节留备注，全部形状与文字可编辑。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研究问题：全局目标方位与未来8步轨迹终点方位不同。框架来自用户提供的研究描述，以及 train/logs/revalidation/kappa_fusion_summary.txt（远程 main c1b3750）。DINOv2、NoMaD基线B（含距离预测）以及E-oracle扩散策略保持冻结。Goal Head和WP Head是方向预测模块，本轮实验主要优化WP Head；图中未声称本轮联合训练两个头。κ表示预测方向分布集中度，较大通常表示更集中。融合位置条件为B预测距离乘以融合方向；B在图中作为独立距离分支。E-oracle是冻结策略的名称，不表示部署使用真实目标或真实未来航点。use_cm定义为相对于masked条件的ADE改善，非导航成功率。所有框图、连线、公式文字均可编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1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1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1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1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1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1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1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1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1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1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1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1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2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2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2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2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2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2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2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2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2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2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2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2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3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3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3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3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3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3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3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3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3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3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3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3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4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4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4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4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4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4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4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4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4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4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4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4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5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5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5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5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5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5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5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5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5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5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5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5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6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6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6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6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6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6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6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6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6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6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6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6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7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7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7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7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7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7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7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7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7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7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7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7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8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8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8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8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8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8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8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8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8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8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8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8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9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9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9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9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9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9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9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9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9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9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9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9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10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10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10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10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10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10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10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10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10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10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10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10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__m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.xml"/></Relationships>
</file>

<file path=ppt/slideLayouts/_rels/slideLayout11__m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2.xml"/></Relationships>
</file>

<file path=ppt/slideLayouts/_rels/slideLayout11__m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3.xml"/></Relationships>
</file>

<file path=ppt/slideLayouts/_rels/slideLayout11__m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4.xml"/></Relationships>
</file>

<file path=ppt/slideLayouts/_rels/slideLayout11__m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5.xml"/></Relationships>
</file>

<file path=ppt/slideLayouts/_rels/slideLayout11__m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6.xml"/></Relationships>
</file>

<file path=ppt/slideLayouts/_rels/slideLayout11__m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7.xml"/></Relationships>
</file>

<file path=ppt/slideLayouts/_rels/slideLayout11__m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8.xml"/></Relationships>
</file>

<file path=ppt/slideLayouts/_rels/slideLayout11__m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9.xml"/></Relationships>
</file>

<file path=ppt/slideLayouts/_rels/slideLayout11__m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0.xml"/></Relationships>
</file>

<file path=ppt/slideLayouts/_rels/slideLayout11__m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1.xml"/></Relationships>
</file>

<file path=ppt/slideLayouts/_rels/slideLayout11__m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2.xml"/></Relationships>
</file>

<file path=ppt/slideLayouts/_rels/slideLayout11__m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__m1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__m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__m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__m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__m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__m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__m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__m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__m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__m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__m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__m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__m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1.xml"/><Relationship Id="rId2" Type="http://schemas.openxmlformats.org/officeDocument/2006/relationships/slideLayout" Target="../slideLayouts/slideLayout2__m1.xml"/><Relationship Id="rId3" Type="http://schemas.openxmlformats.org/officeDocument/2006/relationships/slideLayout" Target="../slideLayouts/slideLayout3__m1.xml"/><Relationship Id="rId4" Type="http://schemas.openxmlformats.org/officeDocument/2006/relationships/slideLayout" Target="../slideLayouts/slideLayout4__m1.xml"/><Relationship Id="rId5" Type="http://schemas.openxmlformats.org/officeDocument/2006/relationships/slideLayout" Target="../slideLayouts/slideLayout5__m1.xml"/><Relationship Id="rId6" Type="http://schemas.openxmlformats.org/officeDocument/2006/relationships/slideLayout" Target="../slideLayouts/slideLayout6__m1.xml"/><Relationship Id="rId7" Type="http://schemas.openxmlformats.org/officeDocument/2006/relationships/slideLayout" Target="../slideLayouts/slideLayout7__m1.xml"/><Relationship Id="rId8" Type="http://schemas.openxmlformats.org/officeDocument/2006/relationships/slideLayout" Target="../slideLayouts/slideLayout8__m1.xml"/><Relationship Id="rId9" Type="http://schemas.openxmlformats.org/officeDocument/2006/relationships/slideLayout" Target="../slideLayouts/slideLayout9__m1.xml"/><Relationship Id="rId10" Type="http://schemas.openxmlformats.org/officeDocument/2006/relationships/slideLayout" Target="../slideLayouts/slideLayout10__m1.xml"/><Relationship Id="rId11" Type="http://schemas.openxmlformats.org/officeDocument/2006/relationships/slideLayout" Target="../slideLayouts/slideLayout11__m1.xml"/><Relationship Id="rId12" Type="http://schemas.openxmlformats.org/officeDocument/2006/relationships/theme" Target="../theme/theme1__m1.xml"/></Relationships>
</file>

<file path=ppt/slideMasters/_rels/slideMaster1__m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2.xml"/><Relationship Id="rId2" Type="http://schemas.openxmlformats.org/officeDocument/2006/relationships/slideLayout" Target="../slideLayouts/slideLayout2__m2.xml"/><Relationship Id="rId3" Type="http://schemas.openxmlformats.org/officeDocument/2006/relationships/slideLayout" Target="../slideLayouts/slideLayout3__m2.xml"/><Relationship Id="rId4" Type="http://schemas.openxmlformats.org/officeDocument/2006/relationships/slideLayout" Target="../slideLayouts/slideLayout4__m2.xml"/><Relationship Id="rId5" Type="http://schemas.openxmlformats.org/officeDocument/2006/relationships/slideLayout" Target="../slideLayouts/slideLayout5__m2.xml"/><Relationship Id="rId6" Type="http://schemas.openxmlformats.org/officeDocument/2006/relationships/slideLayout" Target="../slideLayouts/slideLayout6__m2.xml"/><Relationship Id="rId7" Type="http://schemas.openxmlformats.org/officeDocument/2006/relationships/slideLayout" Target="../slideLayouts/slideLayout7__m2.xml"/><Relationship Id="rId8" Type="http://schemas.openxmlformats.org/officeDocument/2006/relationships/slideLayout" Target="../slideLayouts/slideLayout8__m2.xml"/><Relationship Id="rId9" Type="http://schemas.openxmlformats.org/officeDocument/2006/relationships/slideLayout" Target="../slideLayouts/slideLayout9__m2.xml"/><Relationship Id="rId10" Type="http://schemas.openxmlformats.org/officeDocument/2006/relationships/slideLayout" Target="../slideLayouts/slideLayout10__m2.xml"/><Relationship Id="rId11" Type="http://schemas.openxmlformats.org/officeDocument/2006/relationships/slideLayout" Target="../slideLayouts/slideLayout11__m2.xml"/><Relationship Id="rId12" Type="http://schemas.openxmlformats.org/officeDocument/2006/relationships/theme" Target="../theme/theme1__m2.xml"/></Relationships>
</file>

<file path=ppt/slideMasters/_rels/slideMaster1__m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3.xml"/><Relationship Id="rId2" Type="http://schemas.openxmlformats.org/officeDocument/2006/relationships/slideLayout" Target="../slideLayouts/slideLayout2__m3.xml"/><Relationship Id="rId3" Type="http://schemas.openxmlformats.org/officeDocument/2006/relationships/slideLayout" Target="../slideLayouts/slideLayout3__m3.xml"/><Relationship Id="rId4" Type="http://schemas.openxmlformats.org/officeDocument/2006/relationships/slideLayout" Target="../slideLayouts/slideLayout4__m3.xml"/><Relationship Id="rId5" Type="http://schemas.openxmlformats.org/officeDocument/2006/relationships/slideLayout" Target="../slideLayouts/slideLayout5__m3.xml"/><Relationship Id="rId6" Type="http://schemas.openxmlformats.org/officeDocument/2006/relationships/slideLayout" Target="../slideLayouts/slideLayout6__m3.xml"/><Relationship Id="rId7" Type="http://schemas.openxmlformats.org/officeDocument/2006/relationships/slideLayout" Target="../slideLayouts/slideLayout7__m3.xml"/><Relationship Id="rId8" Type="http://schemas.openxmlformats.org/officeDocument/2006/relationships/slideLayout" Target="../slideLayouts/slideLayout8__m3.xml"/><Relationship Id="rId9" Type="http://schemas.openxmlformats.org/officeDocument/2006/relationships/slideLayout" Target="../slideLayouts/slideLayout9__m3.xml"/><Relationship Id="rId10" Type="http://schemas.openxmlformats.org/officeDocument/2006/relationships/slideLayout" Target="../slideLayouts/slideLayout10__m3.xml"/><Relationship Id="rId11" Type="http://schemas.openxmlformats.org/officeDocument/2006/relationships/slideLayout" Target="../slideLayouts/slideLayout11__m3.xml"/><Relationship Id="rId12" Type="http://schemas.openxmlformats.org/officeDocument/2006/relationships/theme" Target="../theme/theme1__m3.xml"/></Relationships>
</file>

<file path=ppt/slideMasters/_rels/slideMaster1__m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4.xml"/><Relationship Id="rId2" Type="http://schemas.openxmlformats.org/officeDocument/2006/relationships/slideLayout" Target="../slideLayouts/slideLayout2__m4.xml"/><Relationship Id="rId3" Type="http://schemas.openxmlformats.org/officeDocument/2006/relationships/slideLayout" Target="../slideLayouts/slideLayout3__m4.xml"/><Relationship Id="rId4" Type="http://schemas.openxmlformats.org/officeDocument/2006/relationships/slideLayout" Target="../slideLayouts/slideLayout4__m4.xml"/><Relationship Id="rId5" Type="http://schemas.openxmlformats.org/officeDocument/2006/relationships/slideLayout" Target="../slideLayouts/slideLayout5__m4.xml"/><Relationship Id="rId6" Type="http://schemas.openxmlformats.org/officeDocument/2006/relationships/slideLayout" Target="../slideLayouts/slideLayout6__m4.xml"/><Relationship Id="rId7" Type="http://schemas.openxmlformats.org/officeDocument/2006/relationships/slideLayout" Target="../slideLayouts/slideLayout7__m4.xml"/><Relationship Id="rId8" Type="http://schemas.openxmlformats.org/officeDocument/2006/relationships/slideLayout" Target="../slideLayouts/slideLayout8__m4.xml"/><Relationship Id="rId9" Type="http://schemas.openxmlformats.org/officeDocument/2006/relationships/slideLayout" Target="../slideLayouts/slideLayout9__m4.xml"/><Relationship Id="rId10" Type="http://schemas.openxmlformats.org/officeDocument/2006/relationships/slideLayout" Target="../slideLayouts/slideLayout10__m4.xml"/><Relationship Id="rId11" Type="http://schemas.openxmlformats.org/officeDocument/2006/relationships/slideLayout" Target="../slideLayouts/slideLayout11__m4.xml"/><Relationship Id="rId12" Type="http://schemas.openxmlformats.org/officeDocument/2006/relationships/theme" Target="../theme/theme1__m4.xml"/></Relationships>
</file>

<file path=ppt/slideMasters/_rels/slideMaster1__m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5.xml"/><Relationship Id="rId2" Type="http://schemas.openxmlformats.org/officeDocument/2006/relationships/slideLayout" Target="../slideLayouts/slideLayout2__m5.xml"/><Relationship Id="rId3" Type="http://schemas.openxmlformats.org/officeDocument/2006/relationships/slideLayout" Target="../slideLayouts/slideLayout3__m5.xml"/><Relationship Id="rId4" Type="http://schemas.openxmlformats.org/officeDocument/2006/relationships/slideLayout" Target="../slideLayouts/slideLayout4__m5.xml"/><Relationship Id="rId5" Type="http://schemas.openxmlformats.org/officeDocument/2006/relationships/slideLayout" Target="../slideLayouts/slideLayout5__m5.xml"/><Relationship Id="rId6" Type="http://schemas.openxmlformats.org/officeDocument/2006/relationships/slideLayout" Target="../slideLayouts/slideLayout6__m5.xml"/><Relationship Id="rId7" Type="http://schemas.openxmlformats.org/officeDocument/2006/relationships/slideLayout" Target="../slideLayouts/slideLayout7__m5.xml"/><Relationship Id="rId8" Type="http://schemas.openxmlformats.org/officeDocument/2006/relationships/slideLayout" Target="../slideLayouts/slideLayout8__m5.xml"/><Relationship Id="rId9" Type="http://schemas.openxmlformats.org/officeDocument/2006/relationships/slideLayout" Target="../slideLayouts/slideLayout9__m5.xml"/><Relationship Id="rId10" Type="http://schemas.openxmlformats.org/officeDocument/2006/relationships/slideLayout" Target="../slideLayouts/slideLayout10__m5.xml"/><Relationship Id="rId11" Type="http://schemas.openxmlformats.org/officeDocument/2006/relationships/slideLayout" Target="../slideLayouts/slideLayout11__m5.xml"/><Relationship Id="rId12" Type="http://schemas.openxmlformats.org/officeDocument/2006/relationships/theme" Target="../theme/theme1__m5.xml"/></Relationships>
</file>

<file path=ppt/slideMasters/_rels/slideMaster1__m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6.xml"/><Relationship Id="rId2" Type="http://schemas.openxmlformats.org/officeDocument/2006/relationships/slideLayout" Target="../slideLayouts/slideLayout2__m6.xml"/><Relationship Id="rId3" Type="http://schemas.openxmlformats.org/officeDocument/2006/relationships/slideLayout" Target="../slideLayouts/slideLayout3__m6.xml"/><Relationship Id="rId4" Type="http://schemas.openxmlformats.org/officeDocument/2006/relationships/slideLayout" Target="../slideLayouts/slideLayout4__m6.xml"/><Relationship Id="rId5" Type="http://schemas.openxmlformats.org/officeDocument/2006/relationships/slideLayout" Target="../slideLayouts/slideLayout5__m6.xml"/><Relationship Id="rId6" Type="http://schemas.openxmlformats.org/officeDocument/2006/relationships/slideLayout" Target="../slideLayouts/slideLayout6__m6.xml"/><Relationship Id="rId7" Type="http://schemas.openxmlformats.org/officeDocument/2006/relationships/slideLayout" Target="../slideLayouts/slideLayout7__m6.xml"/><Relationship Id="rId8" Type="http://schemas.openxmlformats.org/officeDocument/2006/relationships/slideLayout" Target="../slideLayouts/slideLayout8__m6.xml"/><Relationship Id="rId9" Type="http://schemas.openxmlformats.org/officeDocument/2006/relationships/slideLayout" Target="../slideLayouts/slideLayout9__m6.xml"/><Relationship Id="rId10" Type="http://schemas.openxmlformats.org/officeDocument/2006/relationships/slideLayout" Target="../slideLayouts/slideLayout10__m6.xml"/><Relationship Id="rId11" Type="http://schemas.openxmlformats.org/officeDocument/2006/relationships/slideLayout" Target="../slideLayouts/slideLayout11__m6.xml"/><Relationship Id="rId12" Type="http://schemas.openxmlformats.org/officeDocument/2006/relationships/theme" Target="../theme/theme1__m6.xml"/></Relationships>
</file>

<file path=ppt/slideMasters/_rels/slideMaster1__m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7.xml"/><Relationship Id="rId2" Type="http://schemas.openxmlformats.org/officeDocument/2006/relationships/slideLayout" Target="../slideLayouts/slideLayout2__m7.xml"/><Relationship Id="rId3" Type="http://schemas.openxmlformats.org/officeDocument/2006/relationships/slideLayout" Target="../slideLayouts/slideLayout3__m7.xml"/><Relationship Id="rId4" Type="http://schemas.openxmlformats.org/officeDocument/2006/relationships/slideLayout" Target="../slideLayouts/slideLayout4__m7.xml"/><Relationship Id="rId5" Type="http://schemas.openxmlformats.org/officeDocument/2006/relationships/slideLayout" Target="../slideLayouts/slideLayout5__m7.xml"/><Relationship Id="rId6" Type="http://schemas.openxmlformats.org/officeDocument/2006/relationships/slideLayout" Target="../slideLayouts/slideLayout6__m7.xml"/><Relationship Id="rId7" Type="http://schemas.openxmlformats.org/officeDocument/2006/relationships/slideLayout" Target="../slideLayouts/slideLayout7__m7.xml"/><Relationship Id="rId8" Type="http://schemas.openxmlformats.org/officeDocument/2006/relationships/slideLayout" Target="../slideLayouts/slideLayout8__m7.xml"/><Relationship Id="rId9" Type="http://schemas.openxmlformats.org/officeDocument/2006/relationships/slideLayout" Target="../slideLayouts/slideLayout9__m7.xml"/><Relationship Id="rId10" Type="http://schemas.openxmlformats.org/officeDocument/2006/relationships/slideLayout" Target="../slideLayouts/slideLayout10__m7.xml"/><Relationship Id="rId11" Type="http://schemas.openxmlformats.org/officeDocument/2006/relationships/slideLayout" Target="../slideLayouts/slideLayout11__m7.xml"/><Relationship Id="rId12" Type="http://schemas.openxmlformats.org/officeDocument/2006/relationships/theme" Target="../theme/theme1__m7.xml"/></Relationships>
</file>

<file path=ppt/slideMasters/_rels/slideMaster1__m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8.xml"/><Relationship Id="rId2" Type="http://schemas.openxmlformats.org/officeDocument/2006/relationships/slideLayout" Target="../slideLayouts/slideLayout2__m8.xml"/><Relationship Id="rId3" Type="http://schemas.openxmlformats.org/officeDocument/2006/relationships/slideLayout" Target="../slideLayouts/slideLayout3__m8.xml"/><Relationship Id="rId4" Type="http://schemas.openxmlformats.org/officeDocument/2006/relationships/slideLayout" Target="../slideLayouts/slideLayout4__m8.xml"/><Relationship Id="rId5" Type="http://schemas.openxmlformats.org/officeDocument/2006/relationships/slideLayout" Target="../slideLayouts/slideLayout5__m8.xml"/><Relationship Id="rId6" Type="http://schemas.openxmlformats.org/officeDocument/2006/relationships/slideLayout" Target="../slideLayouts/slideLayout6__m8.xml"/><Relationship Id="rId7" Type="http://schemas.openxmlformats.org/officeDocument/2006/relationships/slideLayout" Target="../slideLayouts/slideLayout7__m8.xml"/><Relationship Id="rId8" Type="http://schemas.openxmlformats.org/officeDocument/2006/relationships/slideLayout" Target="../slideLayouts/slideLayout8__m8.xml"/><Relationship Id="rId9" Type="http://schemas.openxmlformats.org/officeDocument/2006/relationships/slideLayout" Target="../slideLayouts/slideLayout9__m8.xml"/><Relationship Id="rId10" Type="http://schemas.openxmlformats.org/officeDocument/2006/relationships/slideLayout" Target="../slideLayouts/slideLayout10__m8.xml"/><Relationship Id="rId11" Type="http://schemas.openxmlformats.org/officeDocument/2006/relationships/slideLayout" Target="../slideLayouts/slideLayout11__m8.xml"/><Relationship Id="rId12" Type="http://schemas.openxmlformats.org/officeDocument/2006/relationships/theme" Target="../theme/theme1__m8.xml"/></Relationships>
</file>

<file path=ppt/slideMasters/_rels/slideMaster1__m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9.xml"/><Relationship Id="rId2" Type="http://schemas.openxmlformats.org/officeDocument/2006/relationships/slideLayout" Target="../slideLayouts/slideLayout2__m9.xml"/><Relationship Id="rId3" Type="http://schemas.openxmlformats.org/officeDocument/2006/relationships/slideLayout" Target="../slideLayouts/slideLayout3__m9.xml"/><Relationship Id="rId4" Type="http://schemas.openxmlformats.org/officeDocument/2006/relationships/slideLayout" Target="../slideLayouts/slideLayout4__m9.xml"/><Relationship Id="rId5" Type="http://schemas.openxmlformats.org/officeDocument/2006/relationships/slideLayout" Target="../slideLayouts/slideLayout5__m9.xml"/><Relationship Id="rId6" Type="http://schemas.openxmlformats.org/officeDocument/2006/relationships/slideLayout" Target="../slideLayouts/slideLayout6__m9.xml"/><Relationship Id="rId7" Type="http://schemas.openxmlformats.org/officeDocument/2006/relationships/slideLayout" Target="../slideLayouts/slideLayout7__m9.xml"/><Relationship Id="rId8" Type="http://schemas.openxmlformats.org/officeDocument/2006/relationships/slideLayout" Target="../slideLayouts/slideLayout8__m9.xml"/><Relationship Id="rId9" Type="http://schemas.openxmlformats.org/officeDocument/2006/relationships/slideLayout" Target="../slideLayouts/slideLayout9__m9.xml"/><Relationship Id="rId10" Type="http://schemas.openxmlformats.org/officeDocument/2006/relationships/slideLayout" Target="../slideLayouts/slideLayout10__m9.xml"/><Relationship Id="rId11" Type="http://schemas.openxmlformats.org/officeDocument/2006/relationships/slideLayout" Target="../slideLayouts/slideLayout11__m9.xml"/><Relationship Id="rId12" Type="http://schemas.openxmlformats.org/officeDocument/2006/relationships/theme" Target="../theme/theme1__m9.xml"/></Relationships>
</file>

<file path=ppt/slideMasters/_rels/slideMaster1__m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10.xml"/><Relationship Id="rId2" Type="http://schemas.openxmlformats.org/officeDocument/2006/relationships/slideLayout" Target="../slideLayouts/slideLayout2__m10.xml"/><Relationship Id="rId3" Type="http://schemas.openxmlformats.org/officeDocument/2006/relationships/slideLayout" Target="../slideLayouts/slideLayout3__m10.xml"/><Relationship Id="rId4" Type="http://schemas.openxmlformats.org/officeDocument/2006/relationships/slideLayout" Target="../slideLayouts/slideLayout4__m10.xml"/><Relationship Id="rId5" Type="http://schemas.openxmlformats.org/officeDocument/2006/relationships/slideLayout" Target="../slideLayouts/slideLayout5__m10.xml"/><Relationship Id="rId6" Type="http://schemas.openxmlformats.org/officeDocument/2006/relationships/slideLayout" Target="../slideLayouts/slideLayout6__m10.xml"/><Relationship Id="rId7" Type="http://schemas.openxmlformats.org/officeDocument/2006/relationships/slideLayout" Target="../slideLayouts/slideLayout7__m10.xml"/><Relationship Id="rId8" Type="http://schemas.openxmlformats.org/officeDocument/2006/relationships/slideLayout" Target="../slideLayouts/slideLayout8__m10.xml"/><Relationship Id="rId9" Type="http://schemas.openxmlformats.org/officeDocument/2006/relationships/slideLayout" Target="../slideLayouts/slideLayout9__m10.xml"/><Relationship Id="rId10" Type="http://schemas.openxmlformats.org/officeDocument/2006/relationships/slideLayout" Target="../slideLayouts/slideLayout10__m10.xml"/><Relationship Id="rId11" Type="http://schemas.openxmlformats.org/officeDocument/2006/relationships/slideLayout" Target="../slideLayouts/slideLayout11__m10.xml"/><Relationship Id="rId12" Type="http://schemas.openxmlformats.org/officeDocument/2006/relationships/theme" Target="../theme/theme1__m10.xml"/></Relationships>
</file>

<file path=ppt/slideMasters/_rels/slideMaster1__m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11.xml"/><Relationship Id="rId2" Type="http://schemas.openxmlformats.org/officeDocument/2006/relationships/slideLayout" Target="../slideLayouts/slideLayout2__m11.xml"/><Relationship Id="rId3" Type="http://schemas.openxmlformats.org/officeDocument/2006/relationships/slideLayout" Target="../slideLayouts/slideLayout3__m11.xml"/><Relationship Id="rId4" Type="http://schemas.openxmlformats.org/officeDocument/2006/relationships/slideLayout" Target="../slideLayouts/slideLayout4__m11.xml"/><Relationship Id="rId5" Type="http://schemas.openxmlformats.org/officeDocument/2006/relationships/slideLayout" Target="../slideLayouts/slideLayout5__m11.xml"/><Relationship Id="rId6" Type="http://schemas.openxmlformats.org/officeDocument/2006/relationships/slideLayout" Target="../slideLayouts/slideLayout6__m11.xml"/><Relationship Id="rId7" Type="http://schemas.openxmlformats.org/officeDocument/2006/relationships/slideLayout" Target="../slideLayouts/slideLayout7__m11.xml"/><Relationship Id="rId8" Type="http://schemas.openxmlformats.org/officeDocument/2006/relationships/slideLayout" Target="../slideLayouts/slideLayout8__m11.xml"/><Relationship Id="rId9" Type="http://schemas.openxmlformats.org/officeDocument/2006/relationships/slideLayout" Target="../slideLayouts/slideLayout9__m11.xml"/><Relationship Id="rId10" Type="http://schemas.openxmlformats.org/officeDocument/2006/relationships/slideLayout" Target="../slideLayouts/slideLayout10__m11.xml"/><Relationship Id="rId11" Type="http://schemas.openxmlformats.org/officeDocument/2006/relationships/slideLayout" Target="../slideLayouts/slideLayout11__m11.xml"/><Relationship Id="rId12" Type="http://schemas.openxmlformats.org/officeDocument/2006/relationships/theme" Target="../theme/theme1__m11.xml"/></Relationships>
</file>

<file path=ppt/slideMasters/_rels/slideMaster1__m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12.xml"/><Relationship Id="rId2" Type="http://schemas.openxmlformats.org/officeDocument/2006/relationships/slideLayout" Target="../slideLayouts/slideLayout2__m12.xml"/><Relationship Id="rId3" Type="http://schemas.openxmlformats.org/officeDocument/2006/relationships/slideLayout" Target="../slideLayouts/slideLayout3__m12.xml"/><Relationship Id="rId4" Type="http://schemas.openxmlformats.org/officeDocument/2006/relationships/slideLayout" Target="../slideLayouts/slideLayout4__m12.xml"/><Relationship Id="rId5" Type="http://schemas.openxmlformats.org/officeDocument/2006/relationships/slideLayout" Target="../slideLayouts/slideLayout5__m12.xml"/><Relationship Id="rId6" Type="http://schemas.openxmlformats.org/officeDocument/2006/relationships/slideLayout" Target="../slideLayouts/slideLayout6__m12.xml"/><Relationship Id="rId7" Type="http://schemas.openxmlformats.org/officeDocument/2006/relationships/slideLayout" Target="../slideLayouts/slideLayout7__m12.xml"/><Relationship Id="rId8" Type="http://schemas.openxmlformats.org/officeDocument/2006/relationships/slideLayout" Target="../slideLayouts/slideLayout8__m12.xml"/><Relationship Id="rId9" Type="http://schemas.openxmlformats.org/officeDocument/2006/relationships/slideLayout" Target="../slideLayouts/slideLayout9__m12.xml"/><Relationship Id="rId10" Type="http://schemas.openxmlformats.org/officeDocument/2006/relationships/slideLayout" Target="../slideLayouts/slideLayout10__m12.xml"/><Relationship Id="rId11" Type="http://schemas.openxmlformats.org/officeDocument/2006/relationships/slideLayout" Target="../slideLayouts/slideLayout11__m12.xml"/><Relationship Id="rId12" Type="http://schemas.openxmlformats.org/officeDocument/2006/relationships/theme" Target="../theme/theme1__m12.xml"/></Relationships>
</file>

<file path=ppt/slideMasters/_rels/slideMaster1__m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__m13.xml"/><Relationship Id="rId2" Type="http://schemas.openxmlformats.org/officeDocument/2006/relationships/slideLayout" Target="../slideLayouts/slideLayout2__m13.xml"/><Relationship Id="rId3" Type="http://schemas.openxmlformats.org/officeDocument/2006/relationships/slideLayout" Target="../slideLayouts/slideLayout3__m13.xml"/><Relationship Id="rId4" Type="http://schemas.openxmlformats.org/officeDocument/2006/relationships/slideLayout" Target="../slideLayouts/slideLayout4__m13.xml"/><Relationship Id="rId5" Type="http://schemas.openxmlformats.org/officeDocument/2006/relationships/slideLayout" Target="../slideLayouts/slideLayout5__m13.xml"/><Relationship Id="rId6" Type="http://schemas.openxmlformats.org/officeDocument/2006/relationships/slideLayout" Target="../slideLayouts/slideLayout6__m13.xml"/><Relationship Id="rId7" Type="http://schemas.openxmlformats.org/officeDocument/2006/relationships/slideLayout" Target="../slideLayouts/slideLayout7__m13.xml"/><Relationship Id="rId8" Type="http://schemas.openxmlformats.org/officeDocument/2006/relationships/slideLayout" Target="../slideLayouts/slideLayout8__m13.xml"/><Relationship Id="rId9" Type="http://schemas.openxmlformats.org/officeDocument/2006/relationships/slideLayout" Target="../slideLayouts/slideLayout9__m13.xml"/><Relationship Id="rId10" Type="http://schemas.openxmlformats.org/officeDocument/2006/relationships/slideLayout" Target="../slideLayouts/slideLayout10__m13.xml"/><Relationship Id="rId11" Type="http://schemas.openxmlformats.org/officeDocument/2006/relationships/slideLayout" Target="../slideLayouts/slideLayout11__m13.xml"/><Relationship Id="rId12" Type="http://schemas.openxmlformats.org/officeDocument/2006/relationships/theme" Target="../theme/theme1__m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__m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__m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1.xml"/><Relationship Id="rId2" Type="http://schemas.openxmlformats.org/officeDocument/2006/relationships/notesSlide" Target="../notesSlides/notesSlide1__m1.xml"/></Relationships>
</file>

<file path=ppt/slides/_rels/slide1__m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2.xml"/><Relationship Id="rId2" Type="http://schemas.openxmlformats.org/officeDocument/2006/relationships/notesSlide" Target="../notesSlides/notesSlide1__m2.xml"/></Relationships>
</file>

<file path=ppt/slides/_rels/slide1__m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3.xml"/><Relationship Id="rId2" Type="http://schemas.openxmlformats.org/officeDocument/2006/relationships/notesSlide" Target="../notesSlides/notesSlide1__m3.xml"/></Relationships>
</file>

<file path=ppt/slides/_rels/slide1__m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4.xml"/><Relationship Id="rId2" Type="http://schemas.openxmlformats.org/officeDocument/2006/relationships/notesSlide" Target="../notesSlides/notesSlide1__m4.xml"/></Relationships>
</file>

<file path=ppt/slides/_rels/slide1__m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5.xml"/><Relationship Id="rId2" Type="http://schemas.openxmlformats.org/officeDocument/2006/relationships/notesSlide" Target="../notesSlides/notesSlide1__m5.xml"/></Relationships>
</file>

<file path=ppt/slides/_rels/slide1__m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6.xml"/><Relationship Id="rId2" Type="http://schemas.openxmlformats.org/officeDocument/2006/relationships/notesSlide" Target="../notesSlides/notesSlide1__m6.xml"/></Relationships>
</file>

<file path=ppt/slides/_rels/slide1__m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7.xml"/><Relationship Id="rId2" Type="http://schemas.openxmlformats.org/officeDocument/2006/relationships/notesSlide" Target="../notesSlides/notesSlide1__m7.xml"/></Relationships>
</file>

<file path=ppt/slides/_rels/slide1__m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8.xml"/><Relationship Id="rId2" Type="http://schemas.openxmlformats.org/officeDocument/2006/relationships/notesSlide" Target="../notesSlides/notesSlide1__m8.xml"/></Relationships>
</file>

<file path=ppt/slides/_rels/slide1__m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9.xml"/><Relationship Id="rId2" Type="http://schemas.openxmlformats.org/officeDocument/2006/relationships/chart" Target="../charts/chart1__m9.xml"/><Relationship Id="rId3" Type="http://schemas.openxmlformats.org/officeDocument/2006/relationships/notesSlide" Target="../notesSlides/notesSlide1__m9.xml"/></Relationships>
</file>

<file path=ppt/slides/_rels/slide1__m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10.xml"/><Relationship Id="rId2" Type="http://schemas.openxmlformats.org/officeDocument/2006/relationships/notesSlide" Target="../notesSlides/notesSlide1__m10.xml"/></Relationships>
</file>

<file path=ppt/slides/_rels/slide1__m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11.xml"/><Relationship Id="rId2" Type="http://schemas.openxmlformats.org/officeDocument/2006/relationships/notesSlide" Target="../notesSlides/notesSlide1__m11.xml"/></Relationships>
</file>

<file path=ppt/slides/_rels/slide1__m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12.xml"/><Relationship Id="rId2" Type="http://schemas.openxmlformats.org/officeDocument/2006/relationships/notesSlide" Target="../notesSlides/notesSlide1__m12.xml"/></Relationships>
</file>

<file path=ppt/slides/_rels/slide1__m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__m13.xml"/><Relationship Id="rId2" Type="http://schemas.openxmlformats.org/officeDocument/2006/relationships/notesSlide" Target="../notesSlides/notesSlide1__m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6400800" cy="3200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毕业设计 · 研究进展汇报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36192"/>
            <a:ext cx="6949440" cy="1417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42B46"/>
                </a:solidFill>
                <a:latin typeface="Noto Sans CJK SC"/>
              </a:defRPr>
            </a:pPr>
            <a:r>
              <a:t>扩散式视觉导航</a:t>
            </a:r>
          </a:p>
          <a:p>
            <a:pPr>
              <a:spcAft>
                <a:spcPts val="700"/>
              </a:spcAft>
              <a:defRPr sz="3400" b="1">
                <a:solidFill>
                  <a:srgbClr val="142B46"/>
                </a:solidFill>
                <a:latin typeface="Noto Sans CJK SC"/>
              </a:defRPr>
            </a:pPr>
            <a:r>
              <a:t>中的方向引导改进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218688"/>
            <a:ext cx="521207" cy="4114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3547872"/>
            <a:ext cx="6492240" cy="42976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100" b="0">
                <a:solidFill>
                  <a:srgbClr val="142B46"/>
                </a:solidFill>
                <a:latin typeface="Noto Sans CJK SC"/>
              </a:defRPr>
            </a:pPr>
            <a:r>
              <a:t>全局目标定位 × 短时航点预测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160520"/>
            <a:ext cx="6400800" cy="7040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62748A"/>
                </a:solidFill>
                <a:latin typeface="Noto Sans CJK SC"/>
              </a:defRPr>
            </a:pPr>
            <a:r>
              <a:t>基于 NoMaD 与 DINOv2 的</a:t>
            </a:r>
          </a:p>
          <a:p>
            <a:pPr>
              <a:spcAft>
                <a:spcPts val="700"/>
              </a:spcAft>
              <a:defRPr sz="1500" b="0">
                <a:solidFill>
                  <a:srgbClr val="62748A"/>
                </a:solidFill>
                <a:latin typeface="Noto Sans CJK SC"/>
              </a:defRPr>
            </a:pPr>
            <a:r>
              <a:t>不确定性感知目标定位研究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148072"/>
            <a:ext cx="1143000" cy="365760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5202936"/>
            <a:ext cx="96012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NoMaD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5960" y="5148072"/>
            <a:ext cx="1143000" cy="365760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84831" y="5202936"/>
            <a:ext cx="96012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DINOv2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5148072"/>
            <a:ext cx="1691640" cy="365760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4991" y="5202936"/>
            <a:ext cx="150876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置信度加权融合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280160"/>
            <a:ext cx="3749039" cy="4398264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517904"/>
            <a:ext cx="324612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短时动作，远程目标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065008" y="2240280"/>
            <a:ext cx="3154680" cy="0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65008" y="2862072"/>
            <a:ext cx="3154680" cy="0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065008" y="3483864"/>
            <a:ext cx="3154680" cy="0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065008" y="4105656"/>
            <a:ext cx="3154680" cy="0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065008" y="4727448"/>
            <a:ext cx="3154680" cy="0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257031" y="2103120"/>
            <a:ext cx="0" cy="2862072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878824" y="2103120"/>
            <a:ext cx="0" cy="2862072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500616" y="2103120"/>
            <a:ext cx="0" cy="2862072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122408" y="2103120"/>
            <a:ext cx="0" cy="2862072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744200" y="2103120"/>
            <a:ext cx="0" cy="2862072"/>
          </a:xfrm>
          <a:prstGeom prst="line">
            <a:avLst/>
          </a:prstGeom>
          <a:ln w="8255">
            <a:solidFill>
              <a:srgbClr val="E3EAF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302752" y="2304288"/>
            <a:ext cx="2615184" cy="2286000"/>
          </a:xfrm>
          <a:prstGeom prst="line">
            <a:avLst/>
          </a:prstGeom>
          <a:ln w="22860">
            <a:solidFill>
              <a:srgbClr val="477CCC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8302752" y="4425696"/>
            <a:ext cx="301752" cy="164592"/>
          </a:xfrm>
          <a:prstGeom prst="line">
            <a:avLst/>
          </a:prstGeom>
          <a:ln w="3048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8604504" y="4361688"/>
            <a:ext cx="338328" cy="64008"/>
          </a:xfrm>
          <a:prstGeom prst="line">
            <a:avLst/>
          </a:prstGeom>
          <a:ln w="3048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8942832" y="4325112"/>
            <a:ext cx="347472" cy="36576"/>
          </a:xfrm>
          <a:prstGeom prst="line">
            <a:avLst/>
          </a:prstGeom>
          <a:ln w="3048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290304" y="4288536"/>
            <a:ext cx="356616" cy="36576"/>
          </a:xfrm>
          <a:prstGeom prst="line">
            <a:avLst/>
          </a:prstGeom>
          <a:ln w="3048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646920" y="4178808"/>
            <a:ext cx="329184" cy="109728"/>
          </a:xfrm>
          <a:prstGeom prst="line">
            <a:avLst/>
          </a:prstGeom>
          <a:ln w="3048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9976104" y="3986784"/>
            <a:ext cx="292608" cy="192024"/>
          </a:xfrm>
          <a:prstGeom prst="line">
            <a:avLst/>
          </a:prstGeom>
          <a:ln w="3048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10268712" y="3730752"/>
            <a:ext cx="374904" cy="256032"/>
          </a:xfrm>
          <a:prstGeom prst="line">
            <a:avLst/>
          </a:prstGeom>
          <a:ln w="3048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563356" y="4384548"/>
            <a:ext cx="82296" cy="82296"/>
          </a:xfrm>
          <a:prstGeom prst="ellipse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01684" y="4320540"/>
            <a:ext cx="82296" cy="82296"/>
          </a:xfrm>
          <a:prstGeom prst="ellipse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249156" y="4283964"/>
            <a:ext cx="82296" cy="82296"/>
          </a:xfrm>
          <a:prstGeom prst="ellipse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605772" y="4247388"/>
            <a:ext cx="82296" cy="82296"/>
          </a:xfrm>
          <a:prstGeom prst="ellipse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934956" y="4137660"/>
            <a:ext cx="82296" cy="82296"/>
          </a:xfrm>
          <a:prstGeom prst="ellipse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227564" y="3945636"/>
            <a:ext cx="82296" cy="82296"/>
          </a:xfrm>
          <a:prstGeom prst="ellipse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V="1">
            <a:off x="8302752" y="3730752"/>
            <a:ext cx="2340864" cy="859536"/>
          </a:xfrm>
          <a:prstGeom prst="line">
            <a:avLst/>
          </a:prstGeom>
          <a:ln w="15875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8211312" y="4498848"/>
            <a:ext cx="182880" cy="182880"/>
          </a:xfrm>
          <a:prstGeom prst="ellipse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565892" y="3653028"/>
            <a:ext cx="155448" cy="155448"/>
          </a:xfrm>
          <a:prstGeom prst="ellipse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808208" y="2194560"/>
            <a:ext cx="219456" cy="219456"/>
          </a:xfrm>
          <a:prstGeom prst="ellipse">
            <a:avLst/>
          </a:prstGeom>
          <a:solidFill>
            <a:srgbClr val="F1F5F9"/>
          </a:solidFill>
          <a:ln w="19050">
            <a:solidFill>
              <a:srgbClr val="477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0876788" y="2263140"/>
            <a:ext cx="82296" cy="82296"/>
          </a:xfrm>
          <a:prstGeom prst="ellipse">
            <a:avLst/>
          </a:prstGeom>
          <a:solidFill>
            <a:srgbClr val="477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19872" y="4809744"/>
            <a:ext cx="13716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当前观测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74936" y="1947672"/>
            <a:ext cx="164592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477CCC"/>
                </a:solidFill>
                <a:latin typeface="Noto Sans CJK SC"/>
              </a:defRPr>
            </a:pPr>
            <a:r>
              <a:t>远程图像目标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57616" y="2862072"/>
            <a:ext cx="18288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477CCC"/>
                </a:solidFill>
                <a:latin typeface="Noto Sans CJK SC"/>
              </a:defRPr>
            </a:pPr>
            <a:r>
              <a:t>全局目标方向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28632" y="4553712"/>
            <a:ext cx="164592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148D91"/>
                </a:solidFill>
                <a:latin typeface="Noto Sans CJK SC"/>
              </a:defRPr>
            </a:pPr>
            <a:r>
              <a:t>8 步航点方向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74152" y="5266944"/>
            <a:ext cx="324612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2748A"/>
                </a:solidFill>
                <a:latin typeface="Noto Sans CJK SC"/>
              </a:defRPr>
            </a:pPr>
            <a:r>
              <a:t>方法示意 · 非实验轨迹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85800" y="6108192"/>
            <a:ext cx="10817352" cy="0"/>
          </a:xfrm>
          <a:prstGeom prst="line">
            <a:avLst/>
          </a:prstGeom>
          <a:ln w="1016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685800" y="6318504"/>
            <a:ext cx="731520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汇报周期  2026.10.19—10.26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69880" y="6318504"/>
            <a:ext cx="91440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2748A"/>
                </a:solidFill>
                <a:latin typeface="Noto Sans CJK SC"/>
              </a:defRPr>
            </a:pPr>
            <a:r>
              <a:t>研究进展  / 01</a:t>
            </a:r>
          </a:p>
        </p:txBody>
      </p:sp>
    </p:spTree>
  </p:cSld>
  <p:clrMapOvr>
    <a:masterClrMapping/>
  </p:clrMapOvr>
</p:sld>
</file>

<file path=ppt/slides/slide1__m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P0 / Oracle 消融与瓶颈归因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主要损失来自目标方位，还是航点方向？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锁定远目标 1,000 帧 · 固定 B 预测距离与 E-oracle 策略 · 仅替换方向输入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50008"/>
            <a:ext cx="548640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2 × 2 方向替换实验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1952" y="2770632"/>
            <a:ext cx="1801368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预测 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9624" y="2770632"/>
            <a:ext cx="1801368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真实 WP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602736"/>
            <a:ext cx="1078992" cy="3200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预测 Goal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636008"/>
            <a:ext cx="1078992" cy="3200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真实 Goal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01952" y="3236976"/>
            <a:ext cx="1801368" cy="93268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01952" y="3328416"/>
            <a:ext cx="1801368" cy="4389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2.62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01952" y="3858768"/>
            <a:ext cx="1801368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142B46"/>
                </a:solidFill>
                <a:latin typeface="Noto Sans CJK SC"/>
              </a:defRPr>
            </a:pPr>
            <a:r>
              <a:t>当前预测组合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49624" y="3236976"/>
            <a:ext cx="1801368" cy="932688"/>
          </a:xfrm>
          <a:prstGeom prst="roundRect">
            <a:avLst>
              <a:gd name="adj" fmla="val 12000"/>
            </a:avLst>
          </a:prstGeom>
          <a:solidFill>
            <a:srgbClr val="D9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9624" y="3328416"/>
            <a:ext cx="1801368" cy="4389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2800" b="1">
                <a:solidFill>
                  <a:srgbClr val="148D91"/>
                </a:solidFill>
                <a:latin typeface="Noto Sans CJK SC"/>
              </a:defRPr>
            </a:pPr>
            <a:r>
              <a:t>4.66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9624" y="3858768"/>
            <a:ext cx="1801368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148D91"/>
                </a:solidFill>
                <a:latin typeface="Noto Sans CJK SC"/>
              </a:defRPr>
            </a:pPr>
            <a:r>
              <a:t>仅替换 WP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01952" y="4297680"/>
            <a:ext cx="1801368" cy="932688"/>
          </a:xfrm>
          <a:prstGeom prst="roundRect">
            <a:avLst>
              <a:gd name="adj" fmla="val 12000"/>
            </a:avLst>
          </a:prstGeom>
          <a:solidFill>
            <a:srgbClr val="DF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01952" y="4389120"/>
            <a:ext cx="1801368" cy="4389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2800" b="1">
                <a:solidFill>
                  <a:srgbClr val="477CCC"/>
                </a:solidFill>
                <a:latin typeface="Noto Sans CJK SC"/>
              </a:defRPr>
            </a:pPr>
            <a:r>
              <a:t>2.99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4919472"/>
            <a:ext cx="1801368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477CCC"/>
                </a:solidFill>
                <a:latin typeface="Noto Sans CJK SC"/>
              </a:defRPr>
            </a:pPr>
            <a:r>
              <a:t>仅替换 Goal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9624" y="4297680"/>
            <a:ext cx="1801368" cy="932688"/>
          </a:xfrm>
          <a:prstGeom prst="roundRect">
            <a:avLst>
              <a:gd name="adj" fmla="val 12000"/>
            </a:avLst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9624" y="4389120"/>
            <a:ext cx="1801368" cy="4389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2800" b="1">
                <a:solidFill>
                  <a:srgbClr val="FFFFFF"/>
                </a:solidFill>
                <a:latin typeface="Noto Sans CJK SC"/>
              </a:defRPr>
            </a:pPr>
            <a:r>
              <a:t>5.03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9624" y="4919472"/>
            <a:ext cx="1801368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FFFFFF"/>
                </a:solidFill>
                <a:latin typeface="Noto Sans CJK SC"/>
              </a:defRPr>
            </a:pPr>
            <a:r>
              <a:t>同时替换两者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01952" y="5330952"/>
            <a:ext cx="42062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数值：目标条件收益 use_cm（cm），越大越好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0528" y="2350008"/>
            <a:ext cx="466344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相对预测组合，能恢复多少收益？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0528" y="2743200"/>
            <a:ext cx="466344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同一基线：预测 Goal + 预测 WP = 2.62 cm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8" y="3319272"/>
            <a:ext cx="36576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仅将 Goal 替换为真实方向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10528" y="3739896"/>
            <a:ext cx="3246120" cy="146304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10528" y="3739896"/>
            <a:ext cx="583058" cy="146304"/>
          </a:xfrm>
          <a:prstGeom prst="roundRect">
            <a:avLst>
              <a:gd name="adj" fmla="val 12000"/>
            </a:avLst>
          </a:prstGeom>
          <a:solidFill>
            <a:srgbClr val="477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21824" y="3547872"/>
            <a:ext cx="1463040" cy="3931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477CCC"/>
                </a:solidFill>
                <a:latin typeface="Noto Sans CJK SC"/>
              </a:defRPr>
            </a:pPr>
            <a:r>
              <a:t>+0.37 cm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4215384"/>
            <a:ext cx="36576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仅将 WP 替换为真实方向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10528" y="4636008"/>
            <a:ext cx="3246120" cy="146304"/>
          </a:xfrm>
          <a:prstGeom prst="roundRect">
            <a:avLst>
              <a:gd name="adj" fmla="val 12000"/>
            </a:avLst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21824" y="4443984"/>
            <a:ext cx="1463040" cy="3931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48D91"/>
                </a:solidFill>
                <a:latin typeface="Noto Sans CJK SC"/>
              </a:defRPr>
            </a:pPr>
            <a:r>
              <a:t>+2.04 cm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5157216"/>
            <a:ext cx="4709160" cy="4572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真实 WP 使用未来轨迹信息，</a:t>
            </a:r>
          </a:p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仅用于离线 Oracle 分析，部署时不可用。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85800" y="5760720"/>
            <a:ext cx="10826496" cy="43891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9536" y="5843016"/>
            <a:ext cx="1042416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结论：在当前融合与策略设定下，航点方向具有更大的可恢复收益空间。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85800" y="6373368"/>
            <a:ext cx="10817352" cy="0"/>
          </a:xfrm>
          <a:prstGeom prst="line">
            <a:avLst/>
          </a:prstGeom>
          <a:ln w="1016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85800" y="6473952"/>
            <a:ext cx="9875520" cy="20116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2748A"/>
                </a:solidFill>
                <a:latin typeface="Noto Sans CJK SC"/>
              </a:defRPr>
            </a:pPr>
            <a:r>
              <a:t>来源：oracle_factorial/factorial_use.csv · all, n=1000；Oracle 收益不等同于可部署改进。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97312" y="6473952"/>
            <a:ext cx="100584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2748A"/>
                </a:solidFill>
                <a:latin typeface="Noto Sans CJK SC"/>
              </a:defRPr>
            </a:pPr>
            <a:r>
              <a:t>瓶颈归因 / 03</a:t>
            </a:r>
          </a:p>
        </p:txBody>
      </p:sp>
    </p:spTree>
  </p:cSld>
  <p:clrMapOvr>
    <a:masterClrMapping/>
  </p:clrMapOvr>
</p:sld>
</file>

<file path=ppt/slides/slide1__m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P1 / 航点误差与收益归因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哪些样本贡献了大部分 Oracle 收益？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锁定远目标 1,000 帧 · 仅将预测 WP 方向替换为真实方向 · 其余条件保持不变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95144"/>
            <a:ext cx="6400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WP 角误差越大，替换真实方向的平均收益越高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24912"/>
            <a:ext cx="18288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角误差五等分组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724912"/>
            <a:ext cx="420624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每帧平均 Δuse（cm）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43200" y="3127248"/>
            <a:ext cx="0" cy="2231136"/>
          </a:xfrm>
          <a:prstGeom prst="line">
            <a:avLst/>
          </a:prstGeom>
          <a:ln w="8890">
            <a:solidFill>
              <a:srgbClr val="E2E9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78608" y="5449824"/>
            <a:ext cx="3657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0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75887" y="3127248"/>
            <a:ext cx="0" cy="2231136"/>
          </a:xfrm>
          <a:prstGeom prst="line">
            <a:avLst/>
          </a:prstGeom>
          <a:ln w="8890">
            <a:solidFill>
              <a:srgbClr val="E2E9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511295" y="5449824"/>
            <a:ext cx="3657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608576" y="3127248"/>
            <a:ext cx="0" cy="2231136"/>
          </a:xfrm>
          <a:prstGeom prst="line">
            <a:avLst/>
          </a:prstGeom>
          <a:ln w="8890">
            <a:solidFill>
              <a:srgbClr val="E2E9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443984" y="5449824"/>
            <a:ext cx="3657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541264" y="3127248"/>
            <a:ext cx="0" cy="2231136"/>
          </a:xfrm>
          <a:prstGeom prst="line">
            <a:avLst/>
          </a:prstGeom>
          <a:ln w="8890">
            <a:solidFill>
              <a:srgbClr val="E2E9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376672" y="5449824"/>
            <a:ext cx="3657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6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73952" y="3127248"/>
            <a:ext cx="0" cy="2231136"/>
          </a:xfrm>
          <a:prstGeom prst="line">
            <a:avLst/>
          </a:prstGeom>
          <a:ln w="8890">
            <a:solidFill>
              <a:srgbClr val="E2E9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309360" y="5449824"/>
            <a:ext cx="3657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136392"/>
            <a:ext cx="192024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Q1   0.0–3.2°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0" y="3177540"/>
            <a:ext cx="16459" cy="182880"/>
          </a:xfrm>
          <a:prstGeom prst="roundRect">
            <a:avLst>
              <a:gd name="adj" fmla="val 12000"/>
            </a:avLst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73945" y="3104388"/>
            <a:ext cx="77724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9CB5D8"/>
                </a:solidFill>
                <a:latin typeface="Noto Sans CJK SC"/>
              </a:defRPr>
            </a:pPr>
            <a:r>
              <a:t>+0.03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602736"/>
            <a:ext cx="192024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Q2   3.2–7.6°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43200" y="3643884"/>
            <a:ext cx="57180" cy="182880"/>
          </a:xfrm>
          <a:prstGeom prst="roundRect">
            <a:avLst>
              <a:gd name="adj" fmla="val 12000"/>
            </a:avLst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19252" y="3570732"/>
            <a:ext cx="77724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9CB5D8"/>
                </a:solidFill>
                <a:latin typeface="Noto Sans CJK SC"/>
              </a:defRPr>
            </a:pPr>
            <a:r>
              <a:t>+0.12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069080"/>
            <a:ext cx="192024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Q3   7.6–13.4°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43200" y="4110228"/>
            <a:ext cx="174167" cy="182880"/>
          </a:xfrm>
          <a:prstGeom prst="roundRect">
            <a:avLst>
              <a:gd name="adj" fmla="val 12000"/>
            </a:avLst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36239" y="4037076"/>
            <a:ext cx="77724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9CB5D8"/>
                </a:solidFill>
                <a:latin typeface="Noto Sans CJK SC"/>
              </a:defRPr>
            </a:pPr>
            <a:r>
              <a:t>+0.37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535424"/>
            <a:ext cx="192024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Q4   13.4–29.0°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0" y="4576572"/>
            <a:ext cx="867667" cy="182880"/>
          </a:xfrm>
          <a:prstGeom prst="roundRect">
            <a:avLst>
              <a:gd name="adj" fmla="val 12000"/>
            </a:avLst>
          </a:prstGeom>
          <a:solidFill>
            <a:srgbClr val="477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29739" y="4503420"/>
            <a:ext cx="77724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477CCC"/>
                </a:solidFill>
                <a:latin typeface="Noto Sans CJK SC"/>
              </a:defRPr>
            </a:pPr>
            <a:r>
              <a:t>+1.86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001768"/>
            <a:ext cx="192024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Q5   29.0–179.9°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743200" y="5042916"/>
            <a:ext cx="3636375" cy="182880"/>
          </a:xfrm>
          <a:prstGeom prst="roundRect">
            <a:avLst>
              <a:gd name="adj" fmla="val 12000"/>
            </a:avLst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8447" y="4969764"/>
            <a:ext cx="77724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+7.80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779008"/>
            <a:ext cx="667512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每组 200 帧；最高误差组 Q5 贡献 76.6% 的净收益。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52360" y="2313432"/>
            <a:ext cx="4050791" cy="94183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44383" y="2432303"/>
            <a:ext cx="1609344" cy="4389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477CCC"/>
                </a:solidFill>
                <a:latin typeface="Noto Sans CJK SC"/>
              </a:defRPr>
            </a:pPr>
            <a:r>
              <a:t>r = 0.623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54312" y="2441448"/>
            <a:ext cx="20116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角误差与收益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44383" y="2953511"/>
            <a:ext cx="365760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Pearson 相关；相关性不代表因果。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52360" y="3429000"/>
            <a:ext cx="4050791" cy="94183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44383" y="3547872"/>
            <a:ext cx="1609344" cy="4389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48D91"/>
                </a:solidFill>
                <a:latin typeface="Noto Sans CJK SC"/>
              </a:defRPr>
            </a:pPr>
            <a:r>
              <a:t>68.9%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54312" y="3557016"/>
            <a:ext cx="20116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正收益集中度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44383" y="4069080"/>
            <a:ext cx="365760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收益最高的 10% 帧，占全部正收益的 68.9%。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52360" y="4544568"/>
            <a:ext cx="4050791" cy="94183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44383" y="4663440"/>
            <a:ext cx="1609344" cy="4389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48D91"/>
                </a:solidFill>
                <a:latin typeface="Noto Sans CJK SC"/>
              </a:defRPr>
            </a:pPr>
            <a:r>
              <a:t>88.1%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54312" y="4672583"/>
            <a:ext cx="20116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严格转弯贡献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44383" y="5184648"/>
            <a:ext cx="365760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严格转弯 593 帧，占全部净收益的 88.1%。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6208776"/>
            <a:ext cx="10826496" cy="18288"/>
          </a:xfrm>
          <a:prstGeom prst="rect">
            <a:avLst/>
          </a:prstGeom>
          <a:solidFill>
            <a:srgbClr val="DCE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685800" y="6062472"/>
            <a:ext cx="10826496" cy="429768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9536" y="6135624"/>
            <a:ext cx="1042416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结论：损失集中于严重航点方向错误，下一步应优先分析转弯难例。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5800" y="6583680"/>
            <a:ext cx="1005840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来源：wp_oracle_attribution/ 下的 summary.txt、by_wp_err_quintile.csv、turn_vs_straight.csv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06456" y="6583680"/>
            <a:ext cx="96012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收益归因 / 04</a:t>
            </a:r>
          </a:p>
        </p:txBody>
      </p:sp>
    </p:spTree>
  </p:cSld>
  <p:clrMapOvr>
    <a:masterClrMapping/>
  </p:clrMapOvr>
</p:sld>
</file>

<file path=ppt/slides/slide1__m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P1b / 从转弯集中现象，到运动特征对比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转弯比例相近时，难例还有什么特点？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62748A"/>
                </a:solidFill>
                <a:latin typeface="Noto Sans CJK SC"/>
              </a:defRPr>
            </a:pPr>
            <a:r>
              <a:t>承接上一页：严重错误集中在转弯场景；这里进一步比较困难帧与非困难帧的运动特征。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49424"/>
            <a:ext cx="5303520" cy="685800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350008"/>
            <a:ext cx="498348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困难组：120 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34056"/>
            <a:ext cx="498348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WP 方向误差 ≥45°；其中严格转弯占 93.3%。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2249424"/>
            <a:ext cx="5303520" cy="685800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4224" y="2350008"/>
            <a:ext cx="498348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对照组：从非困难帧中选取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4224" y="2734056"/>
            <a:ext cx="498348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匹配转弯占比为 93.3%，减少弯道与直道差异的影响。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310128"/>
            <a:ext cx="5303520" cy="2276856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456432"/>
            <a:ext cx="4937760" cy="32918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48D91"/>
                </a:solidFill>
                <a:latin typeface="Noto Sans CJK SC"/>
              </a:defRPr>
            </a:pPr>
            <a:r>
              <a:t>① 未来路径更弯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49377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未来 8 步累计绝对转角（中位数）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" y="4393692"/>
            <a:ext cx="82296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困难组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55648" y="4443984"/>
            <a:ext cx="2761030" cy="182880"/>
          </a:xfrm>
          <a:prstGeom prst="roundRect">
            <a:avLst>
              <a:gd name="adj" fmla="val 12000"/>
            </a:avLst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46904" y="4343400"/>
            <a:ext cx="896112" cy="30175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48D91"/>
                </a:solidFill>
                <a:latin typeface="Noto Sans CJK SC"/>
              </a:defRPr>
            </a:pPr>
            <a:r>
              <a:t>108.5°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4832604"/>
            <a:ext cx="82296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对照组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55648" y="4882896"/>
            <a:ext cx="1767079" cy="182880"/>
          </a:xfrm>
          <a:prstGeom prst="roundRect">
            <a:avLst>
              <a:gd name="adj" fmla="val 12000"/>
            </a:avLst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4782312"/>
            <a:ext cx="896112" cy="30175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62748A"/>
                </a:solidFill>
                <a:latin typeface="Noto Sans CJK SC"/>
              </a:defRPr>
            </a:pPr>
            <a:r>
              <a:t>69.4°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" y="5285232"/>
            <a:ext cx="493776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每步转了多少角度，取绝对值后累加。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08776" y="3310128"/>
            <a:ext cx="5303520" cy="2276856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3368" y="3456432"/>
            <a:ext cx="4937760" cy="32918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48D91"/>
                </a:solidFill>
                <a:latin typeface="Noto Sans CJK SC"/>
              </a:defRPr>
            </a:pPr>
            <a:r>
              <a:t>② 近期旋转更强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3922776"/>
            <a:ext cx="49377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历史平均步间转角（中位数）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4393692"/>
            <a:ext cx="82296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困难组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78624" y="4443984"/>
            <a:ext cx="2691634" cy="182880"/>
          </a:xfrm>
          <a:prstGeom prst="roundRect">
            <a:avLst>
              <a:gd name="adj" fmla="val 12000"/>
            </a:avLst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69880" y="4343400"/>
            <a:ext cx="896112" cy="30175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48D91"/>
                </a:solidFill>
                <a:latin typeface="Noto Sans CJK SC"/>
              </a:defRPr>
            </a:pPr>
            <a:r>
              <a:t>14.10°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4832604"/>
            <a:ext cx="82296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对照组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78624" y="4882896"/>
            <a:ext cx="1402869" cy="182880"/>
          </a:xfrm>
          <a:prstGeom prst="roundRect">
            <a:avLst>
              <a:gd name="adj" fmla="val 12000"/>
            </a:avLst>
          </a:prstGeom>
          <a:solidFill>
            <a:srgbClr val="9CB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69880" y="4782312"/>
            <a:ext cx="896112" cy="30175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62748A"/>
                </a:solidFill>
                <a:latin typeface="Noto Sans CJK SC"/>
              </a:defRPr>
            </a:pPr>
            <a:r>
              <a:t>7.35°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5285232"/>
            <a:ext cx="493776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过去 3 步绝对航向变化的均值。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806440"/>
            <a:ext cx="10826496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这些是组间相关特征；对照只匹配了转弯比例，尚不能证明近期旋转或路径弯曲导致预测错误。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6199632"/>
            <a:ext cx="10826496" cy="411480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536" y="6272784"/>
            <a:ext cx="104241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下一步假设：既然难例伴随更强的近期旋转，就检验视觉历史能否帮助方向预测。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684264"/>
            <a:ext cx="10058400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来源：wp_hard120/summary.txt、enrichment_H_vs_control.csv（C_match）；两图按各自指标独立定标。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78440" y="6684264"/>
            <a:ext cx="1133856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难例特征 / 05</a:t>
            </a:r>
          </a:p>
        </p:txBody>
      </p:sp>
    </p:spTree>
  </p:cSld>
  <p:clrMapOvr>
    <a:masterClrMapping/>
  </p:clrMapOvr>
</p:sld>
</file>

<file path=ppt/slides/slide1__m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P2 / 历史感知航点方向预测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引入视觉历史，能否改善转弯方向预测？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冻结 NoMaD、DINOv2 与扩散策略 · 比较无历史对照 ctx0 与两帧历史 ctx2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04288"/>
            <a:ext cx="4206240" cy="30175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干预：仅增加 WP 头的历史输入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15768"/>
            <a:ext cx="429768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ctx0 / ctx2：相同初始化与训练预算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82696"/>
            <a:ext cx="6400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477CCC"/>
                </a:solidFill>
                <a:latin typeface="Noto Sans CJK SC"/>
              </a:defRPr>
            </a:pPr>
            <a:r>
              <a:t>ctx0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44752" y="3163824"/>
            <a:ext cx="2157984" cy="585216"/>
          </a:xfrm>
          <a:prstGeom prst="roundRect">
            <a:avLst>
              <a:gd name="adj" fmla="val 12000"/>
            </a:avLst>
          </a:prstGeom>
          <a:solidFill>
            <a:srgbClr val="EC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81328" y="3328416"/>
            <a:ext cx="2084831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200" b="1">
                <a:solidFill>
                  <a:srgbClr val="477CCC"/>
                </a:solidFill>
                <a:latin typeface="Noto Sans CJK SC"/>
              </a:defRPr>
            </a:pPr>
            <a:r>
              <a:t>当前观测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602736" y="3456432"/>
            <a:ext cx="283464" cy="0"/>
          </a:xfrm>
          <a:prstGeom prst="line">
            <a:avLst/>
          </a:prstGeom>
          <a:ln w="16510">
            <a:solidFill>
              <a:srgbClr val="477CC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886200" y="3163824"/>
            <a:ext cx="932688" cy="585216"/>
          </a:xfrm>
          <a:prstGeom prst="roundRect">
            <a:avLst>
              <a:gd name="adj" fmla="val 12000"/>
            </a:avLst>
          </a:prstGeom>
          <a:solidFill>
            <a:srgbClr val="EC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4487" y="3328416"/>
            <a:ext cx="89611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200" b="1">
                <a:solidFill>
                  <a:srgbClr val="477CCC"/>
                </a:solidFill>
                <a:latin typeface="Noto Sans CJK SC"/>
              </a:defRPr>
            </a:pPr>
            <a:r>
              <a:t>WP 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14800"/>
            <a:ext cx="6400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ctx2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44752" y="3995928"/>
            <a:ext cx="2157984" cy="58521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81328" y="4160520"/>
            <a:ext cx="2084831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200" b="1">
                <a:solidFill>
                  <a:srgbClr val="148D91"/>
                </a:solidFill>
                <a:latin typeface="Noto Sans CJK SC"/>
              </a:defRPr>
            </a:pPr>
            <a:r>
              <a:t>当前观测 + 两帧历史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02736" y="4288536"/>
            <a:ext cx="283464" cy="0"/>
          </a:xfrm>
          <a:prstGeom prst="line">
            <a:avLst/>
          </a:prstGeom>
          <a:ln w="1651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886200" y="3995928"/>
            <a:ext cx="932688" cy="58521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04487" y="4160520"/>
            <a:ext cx="89611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200" b="1">
                <a:solidFill>
                  <a:srgbClr val="148D91"/>
                </a:solidFill>
                <a:latin typeface="Noto Sans CJK SC"/>
              </a:defRPr>
            </a:pPr>
            <a:r>
              <a:t>WP 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4752" y="4700016"/>
            <a:ext cx="338328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目标图像输入保持一致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148072"/>
            <a:ext cx="4142232" cy="47548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5248656"/>
            <a:ext cx="384048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e60：原始 WP 基线；ctx0：无历史续训对照。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76088" y="2304288"/>
            <a:ext cx="6236208" cy="30175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方向误差与下游条件收益分别评估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76088" y="2743200"/>
            <a:ext cx="6236208" cy="39319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94959" y="2834640"/>
            <a:ext cx="237744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模型 / 指标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37575" y="2816352"/>
            <a:ext cx="1115568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e60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3" y="2816352"/>
            <a:ext cx="1115568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ctx0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60151" y="2816352"/>
            <a:ext cx="1115568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200" b="1">
                <a:solidFill>
                  <a:srgbClr val="148D91"/>
                </a:solidFill>
                <a:latin typeface="Noto Sans CJK SC"/>
              </a:defRPr>
            </a:pPr>
            <a:r>
              <a:t>ctx2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76088" y="3282696"/>
            <a:ext cx="6236208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验证集 Val · 5,110 远目标帧 · 误差越低越好 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21807" y="3675887"/>
            <a:ext cx="274320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全量中位角误差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37575" y="3675887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8.58°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8863" y="3675887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8.50°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60151" y="3675887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7.97°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276088" y="3986783"/>
            <a:ext cx="6236208" cy="0"/>
          </a:xfrm>
          <a:prstGeom prst="line">
            <a:avLst/>
          </a:prstGeom>
          <a:ln w="762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321807" y="4069079"/>
            <a:ext cx="274320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转弯角误差 P90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37575" y="4069079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57.84°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98863" y="4069079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59.80°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60151" y="4069079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53.12°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276088" y="4379975"/>
            <a:ext cx="6236208" cy="0"/>
          </a:xfrm>
          <a:prstGeom prst="line">
            <a:avLst/>
          </a:prstGeom>
          <a:ln w="762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321807" y="4462272"/>
            <a:ext cx="274320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转弯大误差占比 &gt;45°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37575" y="4462272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14.5%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98863" y="4462272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14.9%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60151" y="4462272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12.6%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276088" y="4773168"/>
            <a:ext cx="6236208" cy="0"/>
          </a:xfrm>
          <a:prstGeom prst="line">
            <a:avLst/>
          </a:prstGeom>
          <a:ln w="762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276088" y="5020056"/>
            <a:ext cx="6236208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Locked · 固定 1,000 远目标帧 · 条件收益越高越好 ↑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276088" y="5394960"/>
            <a:ext cx="6236208" cy="43891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94959" y="5495544"/>
            <a:ext cx="256032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κ 融合 use_cm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37575" y="5486400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+2.56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98863" y="5486400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+2.68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60151" y="5486400"/>
            <a:ext cx="111556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+2.80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85800" y="6089904"/>
            <a:ext cx="10826496" cy="429768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9536" y="6163056"/>
            <a:ext cx="1042416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结论：两帧视觉历史同时改善方向误差与条件收益；下游增益仍需配对统计验证。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629400"/>
            <a:ext cx="100584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来源：P2_protocol.md、P2_conclusions_revised.md、p2_val_bearing/summary.txt；use 单位 cm，非成功率。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06456" y="6629400"/>
            <a:ext cx="96012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历史信息 / 06</a:t>
            </a:r>
          </a:p>
        </p:txBody>
      </p:sp>
    </p:spTree>
  </p:cSld>
  <p:clrMapOvr>
    <a:masterClrMapping/>
  </p:clrMapOvr>
</p:sld>
</file>

<file path=ppt/slides/slide1__m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P3 / 面向转弯场景的加权训练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提高转弯样本权重，能否减少尾部错误？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在 ctx2 架构上调整训练损失权重 · 保持主策略冻结 · 本页仅比较 Val 结果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58568"/>
            <a:ext cx="3456432" cy="731520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368296"/>
            <a:ext cx="315468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B｜严格转弯 ×2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2743200"/>
            <a:ext cx="315468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转弯样本损失权重加倍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258568"/>
            <a:ext cx="3456432" cy="731520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2368296"/>
            <a:ext cx="315468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C｜严格转弯 ×3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743200"/>
            <a:ext cx="315468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进一步提高转弯样本权重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55864" y="2258568"/>
            <a:ext cx="3456432" cy="731520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02168" y="2368296"/>
            <a:ext cx="315468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D｜曲率分档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2168" y="2743200"/>
            <a:ext cx="315468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累计转角三分位：权重 1 / 1.5 /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236976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验证集对比：中位数改善，与尾部改善并不一致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602736"/>
            <a:ext cx="10826496" cy="43891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3721608"/>
            <a:ext cx="283464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62748A"/>
                </a:solidFill>
                <a:latin typeface="Noto Sans CJK SC"/>
              </a:defRPr>
            </a:pPr>
            <a:r>
              <a:t>WP 训练方案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5072" y="3721608"/>
            <a:ext cx="1773936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全量中位误差 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70448" y="3721608"/>
            <a:ext cx="1773936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转弯中位误差 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35824" y="3721608"/>
            <a:ext cx="1773936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转弯 P90 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3721608"/>
            <a:ext cx="1911095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全量 &gt;45° 占比 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105656"/>
            <a:ext cx="10826496" cy="374904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4123944"/>
            <a:ext cx="310896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ctx2｜无额外加权（参考）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5072" y="4123944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7.97°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70448" y="4123944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13.02°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35824" y="4123944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53.12°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4123944"/>
            <a:ext cx="1911095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7.08%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4517136"/>
            <a:ext cx="310896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B｜严格转弯 ×2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05072" y="4517136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8.04°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0448" y="4517136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12.11°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35824" y="4517136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55.77°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4517136"/>
            <a:ext cx="1911095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8.04%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5800" y="4828031"/>
            <a:ext cx="10826496" cy="0"/>
          </a:xfrm>
          <a:prstGeom prst="line">
            <a:avLst/>
          </a:prstGeom>
          <a:ln w="8255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1248" y="4910328"/>
            <a:ext cx="310896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C｜严格转弯 ×3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05072" y="4910328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8.11°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0448" y="4910328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12.55°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35824" y="4910328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54.01°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4910328"/>
            <a:ext cx="1911095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7.44%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5221224"/>
            <a:ext cx="10826496" cy="0"/>
          </a:xfrm>
          <a:prstGeom prst="line">
            <a:avLst/>
          </a:prstGeom>
          <a:ln w="8255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" y="5303520"/>
            <a:ext cx="310896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D｜曲率分档 1 / 1.5 / 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05072" y="5303520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8.07°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70448" y="5303520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11.98°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35824" y="5303520"/>
            <a:ext cx="1773936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53.95°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5303520"/>
            <a:ext cx="1911095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0">
                <a:solidFill>
                  <a:srgbClr val="142B46"/>
                </a:solidFill>
                <a:latin typeface="Noto Sans CJK SC"/>
              </a:defRPr>
            </a:pPr>
            <a:r>
              <a:t>7.75%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85800" y="5614416"/>
            <a:ext cx="10826496" cy="0"/>
          </a:xfrm>
          <a:prstGeom prst="line">
            <a:avLst/>
          </a:prstGeom>
          <a:ln w="8255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85800" y="5769864"/>
            <a:ext cx="1078992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P90 反映尾部误差；本页 &gt;45° 比例的分母为全量 Val 远目标帧，与上一页转弯子集比例不同。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85800" y="6144768"/>
            <a:ext cx="10826496" cy="39319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9536" y="6217920"/>
            <a:ext cx="104241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结论：转弯中位误差有所下降，但 P90 和全量大误差比例均未优于 ctx2。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6629400"/>
            <a:ext cx="100584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来源：P3_training_batch.md、p3_morning_metrics.csv；单次运行，尚需多种子验证。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06456" y="6629400"/>
            <a:ext cx="96012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转弯加权 / 07</a:t>
            </a:r>
          </a:p>
        </p:txBody>
      </p:sp>
    </p:spTree>
  </p:cSld>
  <p:clrMapOvr>
    <a:masterClrMapping/>
  </p:clrMapOvr>
</p:sld>
</file>

<file path=ppt/slides/slide1__m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P4 / 多时域方向监督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增加辅助时域，能否带来更好的导航引导？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从 ctx2 初始化 · 额外训练 15 轮 · 加入第 2、4 步方向监督，保留第 8 步主目标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49424"/>
            <a:ext cx="10826496" cy="57607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432304"/>
            <a:ext cx="12801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62748A"/>
                </a:solidFill>
                <a:latin typeface="Noto Sans CJK SC"/>
              </a:defRPr>
            </a:pPr>
            <a:r>
              <a:t>训练监督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76272" y="2350008"/>
            <a:ext cx="1371600" cy="365760"/>
          </a:xfrm>
          <a:prstGeom prst="roundRect">
            <a:avLst>
              <a:gd name="adj" fmla="val 12000"/>
            </a:avLst>
          </a:prstGeom>
          <a:solidFill>
            <a:srgbClr val="DF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76272" y="2423160"/>
            <a:ext cx="137160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477CCC"/>
                </a:solidFill>
                <a:latin typeface="Noto Sans CJK SC"/>
              </a:defRPr>
            </a:pPr>
            <a:r>
              <a:t>2 步 · 辅助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49039" y="2350008"/>
            <a:ext cx="1371600" cy="365760"/>
          </a:xfrm>
          <a:prstGeom prst="roundRect">
            <a:avLst>
              <a:gd name="adj" fmla="val 12000"/>
            </a:avLst>
          </a:prstGeom>
          <a:solidFill>
            <a:srgbClr val="DF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39" y="2423160"/>
            <a:ext cx="137160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477CCC"/>
                </a:solidFill>
                <a:latin typeface="Noto Sans CJK SC"/>
              </a:defRPr>
            </a:pPr>
            <a:r>
              <a:t>4 步 · 辅助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21808" y="2350008"/>
            <a:ext cx="1371600" cy="365760"/>
          </a:xfrm>
          <a:prstGeom prst="roundRect">
            <a:avLst>
              <a:gd name="adj" fmla="val 12000"/>
            </a:avLst>
          </a:prstGeom>
          <a:solidFill>
            <a:srgbClr val="D9E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21808" y="2423160"/>
            <a:ext cx="137160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148D91"/>
                </a:solidFill>
                <a:latin typeface="Noto Sans CJK SC"/>
              </a:defRPr>
            </a:pPr>
            <a:r>
              <a:t>8 步 · 主目标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23176" y="2423160"/>
            <a:ext cx="411480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2B46"/>
                </a:solidFill>
                <a:latin typeface="Noto Sans CJK SC"/>
              </a:defRPr>
            </a:pPr>
            <a:r>
              <a:t>推理保持不变：8 步方向 + 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16936"/>
            <a:ext cx="10826496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以下均为 ctx2 → P4；每组在相同评估集合内比较。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182112"/>
            <a:ext cx="3456432" cy="2212848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" y="3328416"/>
            <a:ext cx="356616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8D91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282696"/>
            <a:ext cx="2724912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筛选 Val 子集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" y="3721608"/>
            <a:ext cx="318211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2/4 步位移 ≥0.3 m · 2,721 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" y="4096512"/>
            <a:ext cx="318211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中位角误差 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" y="4462272"/>
            <a:ext cx="3182112" cy="3657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148D91"/>
                </a:solidFill>
                <a:latin typeface="Noto Sans CJK SC"/>
              </a:defRPr>
            </a:pPr>
            <a:r>
              <a:t>7.11° → 6.30°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" y="5010912"/>
            <a:ext cx="318211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转弯 P90：34.88° → 33.19°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" y="5522976"/>
            <a:ext cx="3227832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子集内方向误差改善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70832" y="3182112"/>
            <a:ext cx="3456432" cy="2212848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7136" y="3328416"/>
            <a:ext cx="356616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477CCC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65192" y="3282696"/>
            <a:ext cx="2724912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完整 Val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17136" y="3721608"/>
            <a:ext cx="318211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full_5110 · 5,110 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17136" y="4096512"/>
            <a:ext cx="318211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转弯 P90 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17136" y="4462272"/>
            <a:ext cx="3182112" cy="3657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477CCC"/>
                </a:solidFill>
                <a:latin typeface="Noto Sans CJK SC"/>
              </a:defRPr>
            </a:pPr>
            <a:r>
              <a:t>53.12° → 58.87°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17136" y="5010912"/>
            <a:ext cx="318211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中位角误差：7.97° → 7.97°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17136" y="5522976"/>
            <a:ext cx="3227832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477CCC"/>
                </a:solidFill>
                <a:latin typeface="Noto Sans CJK SC"/>
              </a:defRPr>
            </a:pPr>
            <a:r>
              <a:t>尾部误差增大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55864" y="3182112"/>
            <a:ext cx="3456432" cy="2212848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02168" y="3328416"/>
            <a:ext cx="356616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477CCC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50224" y="3282696"/>
            <a:ext cx="2724912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Locked 下游评估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02168" y="3721608"/>
            <a:ext cx="318211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固定 1,000 远目标帧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02168" y="4096512"/>
            <a:ext cx="318211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κ 融合收益 ↑（cm）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02168" y="4462272"/>
            <a:ext cx="3182112" cy="3657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477CCC"/>
                </a:solidFill>
                <a:latin typeface="Noto Sans CJK SC"/>
              </a:defRPr>
            </a:pPr>
            <a:r>
              <a:t>2.80 → 2.40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02168" y="5010912"/>
            <a:ext cx="318211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无辅助监督续训 15 轮：2.80 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02168" y="5522976"/>
            <a:ext cx="3227832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477CCC"/>
                </a:solidFill>
                <a:latin typeface="Noto Sans CJK SC"/>
              </a:defRPr>
            </a:pPr>
            <a:r>
              <a:t>未超过原模型与续训对照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5916168"/>
            <a:ext cx="1078992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补充：masked P4b 的完整 Val 中位误差降至 7.76°，但转弯 P90 为 54.41°，仍高于 ctx2 的 53.12°。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" y="6181344"/>
            <a:ext cx="10826496" cy="39319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9536" y="6245352"/>
            <a:ext cx="104241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结论：筛选子集的改善未转化为完整 Val 尾部与下游收益的改善。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629400"/>
            <a:ext cx="100584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来源：P4_multi_horizon.md、P4_ablation_status.md、p4_ablation_val.txt；箭头均表示 ctx2 → P4。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06456" y="6629400"/>
            <a:ext cx="96012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多时域 / 08</a:t>
            </a:r>
          </a:p>
        </p:txBody>
      </p:sp>
    </p:spTree>
  </p:cSld>
  <p:clrMapOvr>
    <a:masterClrMapping/>
  </p:clrMapOvr>
</p:sld>
</file>

<file path=ppt/slides/slide1__m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P5 / 调整两种方向的信任程度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900" b="1">
                <a:solidFill>
                  <a:srgbClr val="142B46"/>
                </a:solidFill>
                <a:latin typeface="Noto Sans CJK SC"/>
              </a:defRPr>
            </a:pPr>
            <a:r>
              <a:t>什么时候应该少信航点方向？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目标方向：目标在哪里 · 航点方向：接下来往哪里走 · 两者有时会相互冲突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49424"/>
            <a:ext cx="10826496" cy="57607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423160"/>
            <a:ext cx="1042416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原方法：根据两种预测的置信度，决定各自占多大比重。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099816"/>
            <a:ext cx="484632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我们尝试了什么？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099816"/>
            <a:ext cx="493776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结果怎么样？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520440"/>
            <a:ext cx="10826496" cy="0"/>
          </a:xfrm>
          <a:prstGeom prst="line">
            <a:avLst/>
          </a:prstGeom>
          <a:ln w="1016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3675887"/>
            <a:ext cx="10826496" cy="411480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712463"/>
            <a:ext cx="3657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" y="3712463"/>
            <a:ext cx="4681728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看航点的权重占比，判断是否该少信它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712463"/>
            <a:ext cx="507492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效果变好与变差的样本，权重占比接近。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160520"/>
            <a:ext cx="3657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7592" y="4160520"/>
            <a:ext cx="4681728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训练一个模型，判断是否该只用目标方向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4160520"/>
            <a:ext cx="507492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判断能力接近随机猜测，未提高条件收益。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571999"/>
            <a:ext cx="10826496" cy="411480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608575"/>
            <a:ext cx="3657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608575"/>
            <a:ext cx="4681728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让模型自动降低航点的影响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608575"/>
            <a:ext cx="507492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模型几乎不作调整，效果接近原方法。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056631"/>
            <a:ext cx="3657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07592" y="5056631"/>
            <a:ext cx="4681728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两种方向分歧大时，就减少航点权重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5056631"/>
            <a:ext cx="507492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条件收益从 2.80 降至 2.24 cm，反而更差。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596128"/>
            <a:ext cx="10826496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说明：条件收益表示加入目标信息后误差减少了多少，越大越好；上述结果分别与各自的原方法比较。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907024"/>
            <a:ext cx="1082649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其中部分模型使用了真实未来轨迹信息，仅为离线分析，尚不能直接用于实机。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6254496"/>
            <a:ext cx="10826496" cy="365760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" y="6309360"/>
            <a:ext cx="104241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启示：先把航点方向预测得更准，比继续增加这些判断规则更值得优先尝试。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684264"/>
            <a:ext cx="10058400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来源：p5ab_summary.txt、p5b/c summary.json、kappa_fusion_summary.txt；技术细节与评估口径见备注。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06456" y="6684264"/>
            <a:ext cx="960120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信任判断 / 09</a:t>
            </a:r>
          </a:p>
        </p:txBody>
      </p:sp>
    </p:spTree>
  </p:cSld>
  <p:clrMapOvr>
    <a:masterClrMapping/>
  </p:clrMapOvr>
</p:sld>
</file>

<file path=ppt/slides/slide1__m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最新优化 / 历史输入与困难样本训练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继续优化航点训练，还能提高多少？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保持主策略与方向融合方式不变 · 只调整航点头的输入、监督与训练采样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49424"/>
            <a:ext cx="10826496" cy="48463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2377440"/>
            <a:ext cx="104241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训练思路：给转弯难例更大权重，或让困难样本在训练时更频繁地被抽到。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99232"/>
            <a:ext cx="7333488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固定约 1,000 帧：条件收益（cm），越大越好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438144"/>
            <a:ext cx="7333488" cy="39319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3529584"/>
            <a:ext cx="425196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训练方案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3529584"/>
            <a:ext cx="128016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全部远目标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529584"/>
            <a:ext cx="137160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1">
                <a:solidFill>
                  <a:srgbClr val="62748A"/>
                </a:solidFill>
                <a:latin typeface="Noto Sans CJK SC"/>
              </a:defRPr>
            </a:pPr>
            <a:r>
              <a:t>严格转弯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3986784"/>
            <a:ext cx="4407408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两帧历史（原方案）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20" y="3986784"/>
            <a:ext cx="12801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+2.80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986784"/>
            <a:ext cx="13716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+3.61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4242816"/>
            <a:ext cx="7333488" cy="0"/>
          </a:xfrm>
          <a:prstGeom prst="line">
            <a:avLst/>
          </a:prstGeom>
          <a:ln w="635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5800" y="4274820"/>
            <a:ext cx="7333488" cy="306324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306824"/>
            <a:ext cx="4407408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转弯难例组合加权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4306824"/>
            <a:ext cx="12801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+2.93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06824"/>
            <a:ext cx="13716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+3.91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626864"/>
            <a:ext cx="4407408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三帧历史（普通训练）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4626864"/>
            <a:ext cx="12801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+2.84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26864"/>
            <a:ext cx="13716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+3.73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4882896"/>
            <a:ext cx="7333488" cy="0"/>
          </a:xfrm>
          <a:prstGeom prst="line">
            <a:avLst/>
          </a:prstGeom>
          <a:ln w="635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04672" y="4946904"/>
            <a:ext cx="4407408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三帧历史 + 组合加权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946904"/>
            <a:ext cx="12801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+2.93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946904"/>
            <a:ext cx="13716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+3.92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800" y="5202936"/>
            <a:ext cx="7333488" cy="0"/>
          </a:xfrm>
          <a:prstGeom prst="line">
            <a:avLst/>
          </a:prstGeom>
          <a:ln w="635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04672" y="5266944"/>
            <a:ext cx="4407408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42B46"/>
                </a:solidFill>
                <a:latin typeface="Noto Sans CJK SC"/>
              </a:defRPr>
            </a:pPr>
            <a:r>
              <a:t>组合加权 + 第 4/6 步辅助监督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5266944"/>
            <a:ext cx="12801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+2.85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5266944"/>
            <a:ext cx="13716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0">
                <a:solidFill>
                  <a:srgbClr val="142B46"/>
                </a:solidFill>
                <a:latin typeface="Noto Sans CJK SC"/>
              </a:defRPr>
            </a:pPr>
            <a:r>
              <a:t>+3.79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5522976"/>
            <a:ext cx="7333488" cy="0"/>
          </a:xfrm>
          <a:prstGeom prst="line">
            <a:avLst/>
          </a:prstGeom>
          <a:ln w="635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85800" y="5554980"/>
            <a:ext cx="7333488" cy="306324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" y="5586984"/>
            <a:ext cx="4407408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组合加权 + 困难样本采样权重 ×3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74920" y="5586984"/>
            <a:ext cx="12801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+2.94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5586984"/>
            <a:ext cx="137160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+3.98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321040" y="2999232"/>
            <a:ext cx="3191256" cy="131673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94776" y="3154680"/>
            <a:ext cx="2816352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48D91"/>
                </a:solidFill>
                <a:latin typeface="Noto Sans CJK SC"/>
              </a:defRPr>
            </a:pPr>
            <a:r>
              <a:t>最高报告值：2.94 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94776" y="3639312"/>
            <a:ext cx="2816352" cy="4572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相比组合加权的 2.93 cm，</a:t>
            </a:r>
          </a:p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仅多约 0.01 cm，尚需重复验证。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4544568"/>
            <a:ext cx="3191256" cy="129844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94776" y="4700016"/>
            <a:ext cx="2816352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收益略升，尾部未同步改善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94776" y="5157216"/>
            <a:ext cx="2816352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困难采样后，WP 误差 &gt;45°</a:t>
            </a:r>
          </a:p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占比约 11%，组合加权约 10%。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5952744"/>
            <a:ext cx="10826496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“采样权重 ×3”表示增加被抽中的相对机会；并非新采集三倍数据，也未证明已改善 Hard120。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" y="6291072"/>
            <a:ext cx="10826496" cy="374904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536" y="6355080"/>
            <a:ext cx="104241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结论：转弯难例组合训练带来改善；继续加历史或调整采样，目前收益已很小。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6729984"/>
            <a:ext cx="10058400" cy="11887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700" b="0">
                <a:solidFill>
                  <a:srgbClr val="62748A"/>
                </a:solidFill>
                <a:latin typeface="Noto Sans CJK SC"/>
              </a:defRPr>
            </a:pPr>
            <a:r>
              <a:t>来源：wp_input_sweep/、wp_hard_oversample/、wp_mh46/；两帧历史均指额外加入两帧过去观测。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06456" y="6729984"/>
            <a:ext cx="960120" cy="11887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700" b="0">
                <a:solidFill>
                  <a:srgbClr val="62748A"/>
                </a:solidFill>
                <a:latin typeface="Noto Sans CJK SC"/>
              </a:defRPr>
            </a:pPr>
            <a:r>
              <a:t>最新优化 / 10</a:t>
            </a:r>
          </a:p>
        </p:txBody>
      </p:sp>
    </p:spTree>
  </p:cSld>
  <p:clrMapOvr>
    <a:masterClrMapping/>
  </p:clrMapOvr>
</p:sld>
</file>

<file path=ppt/slides/slide1__m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整体结果 / 航点预测改进的累积进展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这轮实验，整体取得了多少进展？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主策略与置信度融合方式保持不变 · 汇总各阶段固定远目标评估的条件收益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04288"/>
            <a:ext cx="70408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条件收益（cm）：越高，目标信息带来的帮助越大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85800" y="2743200"/>
          <a:ext cx="726948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8275320" y="2331720"/>
            <a:ext cx="3236976" cy="978408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39912" y="2414015"/>
            <a:ext cx="2889504" cy="3657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48D91"/>
                </a:solidFill>
                <a:latin typeface="Noto Sans CJK SC"/>
              </a:defRPr>
            </a:pPr>
            <a:r>
              <a:t>+0.38 cm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9912" y="2825496"/>
            <a:ext cx="2889504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从早期基线到最高报告值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39912" y="3108960"/>
            <a:ext cx="292608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2.56 → 2.94 cm：条件收益的绝对增加。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3474720"/>
            <a:ext cx="3236976" cy="97840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39912" y="3557015"/>
            <a:ext cx="2889504" cy="3657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42B46"/>
                </a:solidFill>
                <a:latin typeface="Noto Sans CJK SC"/>
              </a:defRPr>
            </a:pPr>
            <a:r>
              <a:t>约 14.8%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39912" y="3968496"/>
            <a:ext cx="2889504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条件收益指标的相对增长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9912" y="4251959"/>
            <a:ext cx="292608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不等于导航成功率或整体精度提高 14.8%。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4617720"/>
            <a:ext cx="3236976" cy="97840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2" y="4700016"/>
            <a:ext cx="2889504" cy="3657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300" b="1">
                <a:solidFill>
                  <a:srgbClr val="142B46"/>
                </a:solidFill>
                <a:latin typeface="Noto Sans CJK SC"/>
              </a:defRPr>
            </a:pPr>
            <a:r>
              <a:t>约 +0.01 cm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9912" y="5111496"/>
            <a:ext cx="2889504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最近一步的增幅已经很小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9912" y="5394959"/>
            <a:ext cx="292608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2.93 → 2.94 cm：仍需重复实验确认。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52160"/>
            <a:ext cx="1082649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说明：图按仓库汇总列示，纵轴从 0 开始；尚未用全部阶段的逐帧配对结果验证差异。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6199632"/>
            <a:ext cx="10826496" cy="411480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6272784"/>
            <a:ext cx="104241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结论：主要进展来自视觉历史与航点训练；最新的小幅提升仍需要验证。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684264"/>
            <a:ext cx="10058400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来源：README_report_index.md、P2_conclusions_revised.md、wp_input_sweep/、wp_hard_oversample/。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06456" y="6684264"/>
            <a:ext cx="960120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整体结果 / 11</a:t>
            </a:r>
          </a:p>
        </p:txBody>
      </p:sp>
    </p:spTree>
  </p:cSld>
  <p:clrMapOvr>
    <a:masterClrMapping/>
  </p:clrMapOvr>
</p:sld>
</file>

<file path=ppt/slides/slide1__m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论文启发 / UniNav 架构介绍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42B46"/>
                </a:solidFill>
                <a:latin typeface="Noto Sans CJK SC"/>
              </a:defRPr>
            </a:pPr>
            <a:r>
              <a:t>同时学习“怎么走”和“走后会看到什么”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动机：只预测航点缺少视觉预见；为多条候选路线分别生成未来画面，又较耗时。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13432"/>
            <a:ext cx="9144000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42B46"/>
                </a:solidFill>
                <a:latin typeface="Noto Sans CJK SC"/>
              </a:defRPr>
            </a:pPr>
            <a:r>
              <a:t>UniNav：将未来画面、航点轨迹与几何信息放进同一个生成模型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054096"/>
            <a:ext cx="2057400" cy="1051560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3209544"/>
            <a:ext cx="1911095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历史与目标图像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675887"/>
            <a:ext cx="1911095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经冻结的视频编码器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43200"/>
            <a:ext cx="205740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已知输入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69080" y="2980944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DF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24528" y="3145536"/>
            <a:ext cx="2980944" cy="3200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2000" b="1">
                <a:solidFill>
                  <a:srgbClr val="148D91"/>
                </a:solidFill>
                <a:latin typeface="Noto Sans CJK SC"/>
              </a:defRPr>
            </a:pPr>
            <a:r>
              <a:t>共享生成网络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4528" y="3666744"/>
            <a:ext cx="2980944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以 Wan2.1 视频模型初始化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4005072"/>
            <a:ext cx="2980944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0">
                <a:solidFill>
                  <a:srgbClr val="148D91"/>
                </a:solidFill>
                <a:latin typeface="Noto Sans CJK SC"/>
              </a:defRPr>
            </a:pPr>
            <a:r>
              <a:t>共同学习三类信息的恢复过程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43200" y="3621024"/>
            <a:ext cx="1325880" cy="0"/>
          </a:xfrm>
          <a:prstGeom prst="line">
            <a:avLst/>
          </a:prstGeom>
          <a:ln w="1905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154680" y="4773168"/>
            <a:ext cx="1280160" cy="35661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54680" y="4846320"/>
            <a:ext cx="12801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62748A"/>
                </a:solidFill>
                <a:latin typeface="Noto Sans CJK SC"/>
              </a:defRPr>
            </a:pPr>
            <a:r>
              <a:t>带噪画面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3794760" y="4553712"/>
            <a:ext cx="0" cy="219456"/>
          </a:xfrm>
          <a:prstGeom prst="line">
            <a:avLst/>
          </a:prstGeom>
          <a:ln w="1270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617720" y="4773168"/>
            <a:ext cx="1280160" cy="35661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4846320"/>
            <a:ext cx="12801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62748A"/>
                </a:solidFill>
                <a:latin typeface="Noto Sans CJK SC"/>
              </a:defRPr>
            </a:pPr>
            <a:r>
              <a:t>带噪轨迹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5257800" y="4553712"/>
            <a:ext cx="0" cy="219456"/>
          </a:xfrm>
          <a:prstGeom prst="line">
            <a:avLst/>
          </a:prstGeom>
          <a:ln w="1270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080760" y="4773168"/>
            <a:ext cx="1280160" cy="35661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0760" y="4846320"/>
            <a:ext cx="12801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62748A"/>
                </a:solidFill>
                <a:latin typeface="Noto Sans CJK SC"/>
              </a:defRPr>
            </a:pPr>
            <a:r>
              <a:t>带噪几何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6720840" y="4553712"/>
            <a:ext cx="0" cy="219456"/>
          </a:xfrm>
          <a:prstGeom prst="line">
            <a:avLst/>
          </a:prstGeom>
          <a:ln w="1270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794760" y="4553712"/>
            <a:ext cx="2926080" cy="0"/>
          </a:xfrm>
          <a:prstGeom prst="line">
            <a:avLst/>
          </a:prstGeom>
          <a:ln w="1270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715000" y="4306824"/>
            <a:ext cx="0" cy="246888"/>
          </a:xfrm>
          <a:prstGeom prst="line">
            <a:avLst/>
          </a:prstGeom>
          <a:ln w="1524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154680" y="5276088"/>
            <a:ext cx="42062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训练时，将三类真实目标加噪，再学习恢复。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360920" y="3621024"/>
            <a:ext cx="512063" cy="0"/>
          </a:xfrm>
          <a:prstGeom prst="line">
            <a:avLst/>
          </a:prstGeom>
          <a:ln w="1905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872983" y="3081528"/>
            <a:ext cx="0" cy="1828800"/>
          </a:xfrm>
          <a:prstGeom prst="line">
            <a:avLst/>
          </a:prstGeom>
          <a:ln w="1524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366760" y="2724912"/>
            <a:ext cx="3145536" cy="713232"/>
          </a:xfrm>
          <a:prstGeom prst="roundRect">
            <a:avLst>
              <a:gd name="adj" fmla="val 12000"/>
            </a:avLst>
          </a:prstGeom>
          <a:solidFill>
            <a:srgbClr val="EC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22208" y="2816352"/>
            <a:ext cx="283464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477CCC"/>
                </a:solidFill>
                <a:latin typeface="Noto Sans CJK SC"/>
              </a:defRPr>
            </a:pPr>
            <a:r>
              <a:t>未来画面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2208" y="3191256"/>
            <a:ext cx="283464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运动后可能看到的画面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872983" y="3081528"/>
            <a:ext cx="493777" cy="0"/>
          </a:xfrm>
          <a:prstGeom prst="line">
            <a:avLst/>
          </a:prstGeom>
          <a:ln w="1524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8366760" y="3639312"/>
            <a:ext cx="3145536" cy="71323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22208" y="3730752"/>
            <a:ext cx="283464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完整航点轨迹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22208" y="4105656"/>
            <a:ext cx="283464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平移 + 转角（Δx、Δy、Δψ）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872983" y="3995928"/>
            <a:ext cx="493777" cy="0"/>
          </a:xfrm>
          <a:prstGeom prst="line">
            <a:avLst/>
          </a:prstGeom>
          <a:ln w="1524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8366760" y="4553712"/>
            <a:ext cx="3145536" cy="71323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22208" y="4645152"/>
            <a:ext cx="283464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相机几何特征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22208" y="5020056"/>
            <a:ext cx="283464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几何监督来自冻结的几何模型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872983" y="4910328"/>
            <a:ext cx="493777" cy="0"/>
          </a:xfrm>
          <a:prstGeom prst="line">
            <a:avLst/>
          </a:prstGeom>
          <a:ln w="1524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366760" y="5404104"/>
            <a:ext cx="3145536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三类输出在训练中共同受监督。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5779008"/>
            <a:ext cx="10826496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推理时未知量从噪声开始生成，不输入真实未来画面；轨迹同时预测平移与转角，并非只积分 yaw。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" y="6199632"/>
            <a:ext cx="10826496" cy="411480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536" y="6272784"/>
            <a:ext cx="104241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借鉴思路：学习运动过程与视觉变化的联系，而不只预测一个终点方向。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6684264"/>
            <a:ext cx="10058400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来源：UniNav，arXiv:2608.03244v1，§3.1–3.3、图 2；本页为中文简化重绘，Fast 设计另页说明。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06456" y="6684264"/>
            <a:ext cx="960120" cy="14630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UniNav / 12</a:t>
            </a:r>
          </a:p>
        </p:txBody>
      </p:sp>
    </p:spTree>
  </p:cSld>
  <p:clrMapOvr>
    <a:masterClrMapping/>
  </p:clrMapOvr>
</p:sld>
</file>

<file path=ppt/slides/slide1__m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UniNav 精读 / 任务与数据格式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900" b="1">
                <a:solidFill>
                  <a:srgbClr val="142B46"/>
                </a:solidFill>
                <a:latin typeface="Noto Sans CJK SC"/>
              </a:defRPr>
            </a:pPr>
            <a:r>
              <a:t>模型看什么，又要生成什么？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以 UniNav-Full 默认设置为例：图像是视觉信息，航点是连续数值，不是轨迹图片。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04288"/>
            <a:ext cx="498348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42B46"/>
                </a:solidFill>
                <a:latin typeface="Noto Sans CJK SC"/>
              </a:defRPr>
            </a:pPr>
            <a:r>
              <a:t>输入：已知的历史与目标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304288"/>
            <a:ext cx="5202936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48D91"/>
                </a:solidFill>
                <a:latin typeface="Noto Sans CJK SC"/>
              </a:defRPr>
            </a:pPr>
            <a:r>
              <a:t>输出：未来画面与运动轨迹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734056"/>
            <a:ext cx="4983480" cy="305409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2734056"/>
            <a:ext cx="5202936" cy="305409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889504"/>
            <a:ext cx="452628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3 帧历史观测，包含当前帧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374136"/>
            <a:ext cx="1188720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 flipV="1">
            <a:off x="1116482" y="3543300"/>
            <a:ext cx="273406" cy="182697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89888" y="3543300"/>
            <a:ext cx="202082" cy="128564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591970" y="3583899"/>
            <a:ext cx="154534" cy="87965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746504" y="3583899"/>
            <a:ext cx="166420" cy="142098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3834262"/>
            <a:ext cx="1188720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900" b="1">
                <a:solidFill>
                  <a:srgbClr val="477CCC"/>
                </a:solidFill>
                <a:latin typeface="Noto Sans CJK SC"/>
              </a:defRPr>
            </a:pPr>
            <a:r>
              <a:t>I(t−2)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86584" y="3374136"/>
            <a:ext cx="1188720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 flipV="1">
            <a:off x="2588666" y="3543300"/>
            <a:ext cx="273406" cy="182697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862072" y="3543300"/>
            <a:ext cx="202082" cy="128564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3064154" y="3583899"/>
            <a:ext cx="154533" cy="87965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218687" y="3583899"/>
            <a:ext cx="166421" cy="142098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386584" y="3834262"/>
            <a:ext cx="1188720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900" b="1">
                <a:solidFill>
                  <a:srgbClr val="477CCC"/>
                </a:solidFill>
                <a:latin typeface="Noto Sans CJK SC"/>
              </a:defRPr>
            </a:pPr>
            <a:r>
              <a:t>I(t−1)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58768" y="3374136"/>
            <a:ext cx="1188720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4060850" y="3543300"/>
            <a:ext cx="273406" cy="182697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334256" y="3543300"/>
            <a:ext cx="202082" cy="128564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4536338" y="3583899"/>
            <a:ext cx="154534" cy="87965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690872" y="3583899"/>
            <a:ext cx="166420" cy="142098"/>
          </a:xfrm>
          <a:prstGeom prst="line">
            <a:avLst/>
          </a:prstGeom>
          <a:ln w="1016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858768" y="3834262"/>
            <a:ext cx="1188720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900" b="1">
                <a:solidFill>
                  <a:srgbClr val="477CCC"/>
                </a:solidFill>
                <a:latin typeface="Noto Sans CJK SC"/>
              </a:defRPr>
            </a:pPr>
            <a:r>
              <a:t>I(t) 当前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4400" y="4206240"/>
            <a:ext cx="4251960" cy="0"/>
          </a:xfrm>
          <a:prstGeom prst="line">
            <a:avLst/>
          </a:prstGeom>
          <a:ln w="12700">
            <a:solidFill>
              <a:srgbClr val="477CC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14400" y="4315968"/>
            <a:ext cx="452628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RGB 图像 · 默认分辨率 256 × 192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" y="4809744"/>
            <a:ext cx="1188720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1116482" y="4978907"/>
            <a:ext cx="273406" cy="182698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389888" y="4978907"/>
            <a:ext cx="202082" cy="128565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1591970" y="5019507"/>
            <a:ext cx="154534" cy="87965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746504" y="5019507"/>
            <a:ext cx="166420" cy="142098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914400" y="5269870"/>
            <a:ext cx="1188720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900" b="1">
                <a:solidFill>
                  <a:srgbClr val="148D91"/>
                </a:solidFill>
                <a:latin typeface="Noto Sans CJK SC"/>
              </a:defRPr>
            </a:pPr>
            <a:r>
              <a:t>I(goal)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86584" y="4818888"/>
            <a:ext cx="29718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2B46"/>
                </a:solidFill>
                <a:latin typeface="Noto Sans CJK SC"/>
              </a:defRPr>
            </a:pPr>
            <a:r>
              <a:t>另外输入 1 张目标图像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86584" y="5257800"/>
            <a:ext cx="297180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表示目的地，不默认等于未来第 6 帧。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669280" y="4151376"/>
            <a:ext cx="640080" cy="0"/>
          </a:xfrm>
          <a:prstGeom prst="line">
            <a:avLst/>
          </a:prstGeom>
          <a:ln w="2286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669280" y="3776472"/>
            <a:ext cx="64008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148D91"/>
                </a:solidFill>
                <a:latin typeface="Noto Sans CJK SC"/>
              </a:defRPr>
            </a:pPr>
            <a:r>
              <a:t>预测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60" y="2889504"/>
            <a:ext cx="474573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A｜6 帧未来 RGB 画面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37960" y="3374136"/>
            <a:ext cx="667512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 flipV="1">
            <a:off x="6651437" y="3543300"/>
            <a:ext cx="153527" cy="182697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6804964" y="3543300"/>
            <a:ext cx="113477" cy="128564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918441" y="3583899"/>
            <a:ext cx="86777" cy="87965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005218" y="3583899"/>
            <a:ext cx="93452" cy="142098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537960" y="3834262"/>
            <a:ext cx="667512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700" b="1">
                <a:solidFill>
                  <a:srgbClr val="148D91"/>
                </a:solidFill>
                <a:latin typeface="Noto Sans CJK SC"/>
              </a:defRPr>
            </a:pPr>
            <a:r>
              <a:t>I(t+1)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324344" y="3374136"/>
            <a:ext cx="667512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7437821" y="3543300"/>
            <a:ext cx="153527" cy="182697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591348" y="3543300"/>
            <a:ext cx="113477" cy="128564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7704825" y="3583899"/>
            <a:ext cx="86777" cy="87965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791602" y="3583899"/>
            <a:ext cx="93452" cy="142098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7324344" y="3834262"/>
            <a:ext cx="667512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700" b="1">
                <a:solidFill>
                  <a:srgbClr val="148D91"/>
                </a:solidFill>
                <a:latin typeface="Noto Sans CJK SC"/>
              </a:defRPr>
            </a:pPr>
            <a:r>
              <a:t>I(t+2)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110728" y="3374136"/>
            <a:ext cx="667512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8224205" y="3543300"/>
            <a:ext cx="153527" cy="182697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377732" y="3543300"/>
            <a:ext cx="113477" cy="128564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8491209" y="3583899"/>
            <a:ext cx="86777" cy="87965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8577986" y="3583899"/>
            <a:ext cx="93452" cy="142098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110728" y="3834262"/>
            <a:ext cx="667512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700" b="1">
                <a:solidFill>
                  <a:srgbClr val="148D91"/>
                </a:solidFill>
                <a:latin typeface="Noto Sans CJK SC"/>
              </a:defRPr>
            </a:pPr>
            <a:r>
              <a:t>I(t+3)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897112" y="3374136"/>
            <a:ext cx="667512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V="1">
            <a:off x="9010589" y="3543300"/>
            <a:ext cx="153527" cy="182697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9164116" y="3543300"/>
            <a:ext cx="113477" cy="128564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9277593" y="3583899"/>
            <a:ext cx="86777" cy="87965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364370" y="3583899"/>
            <a:ext cx="93452" cy="142098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8897112" y="3834262"/>
            <a:ext cx="667512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700" b="1">
                <a:solidFill>
                  <a:srgbClr val="148D91"/>
                </a:solidFill>
                <a:latin typeface="Noto Sans CJK SC"/>
              </a:defRPr>
            </a:pPr>
            <a:r>
              <a:t>I(t+4)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683496" y="3374136"/>
            <a:ext cx="667512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9796973" y="3543300"/>
            <a:ext cx="153527" cy="182697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9950500" y="3543300"/>
            <a:ext cx="113477" cy="128564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0063977" y="3583899"/>
            <a:ext cx="86777" cy="87965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10150754" y="3583899"/>
            <a:ext cx="93452" cy="142098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9683496" y="3834262"/>
            <a:ext cx="667512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700" b="1">
                <a:solidFill>
                  <a:srgbClr val="148D91"/>
                </a:solidFill>
                <a:latin typeface="Noto Sans CJK SC"/>
              </a:defRPr>
            </a:pPr>
            <a:r>
              <a:t>I(t+5)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469880" y="3374136"/>
            <a:ext cx="667512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 flipV="1">
            <a:off x="10583357" y="3543300"/>
            <a:ext cx="153527" cy="182697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 74"/>
          <p:cNvCxnSpPr/>
          <p:nvPr/>
        </p:nvCxnSpPr>
        <p:spPr>
          <a:xfrm>
            <a:off x="10736884" y="3543300"/>
            <a:ext cx="113477" cy="128564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 75"/>
          <p:cNvCxnSpPr/>
          <p:nvPr/>
        </p:nvCxnSpPr>
        <p:spPr>
          <a:xfrm flipV="1">
            <a:off x="10850361" y="3583899"/>
            <a:ext cx="86777" cy="87965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0937138" y="3583899"/>
            <a:ext cx="93452" cy="142098"/>
          </a:xfrm>
          <a:prstGeom prst="line">
            <a:avLst/>
          </a:prstGeom>
          <a:ln w="1016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0469880" y="3834262"/>
            <a:ext cx="667512" cy="2029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700" b="1">
                <a:solidFill>
                  <a:srgbClr val="148D91"/>
                </a:solidFill>
                <a:latin typeface="Noto Sans CJK SC"/>
              </a:defRPr>
            </a:pPr>
            <a:r>
              <a:t>I(t+6)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537960" y="4315968"/>
            <a:ext cx="474573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B｜6 × 3 航点矩阵：每点 3 个量</a:t>
            </a:r>
          </a:p>
        </p:txBody>
      </p:sp>
      <p:graphicFrame>
        <p:nvGraphicFramePr>
          <p:cNvPr id="80" name="Table 79"/>
          <p:cNvGraphicFramePr>
            <a:graphicFrameLocks noGrp="1"/>
          </p:cNvGraphicFramePr>
          <p:nvPr/>
        </p:nvGraphicFramePr>
        <p:xfrm>
          <a:off x="7059168" y="4736592"/>
          <a:ext cx="23774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480"/>
                <a:gridCol w="792480"/>
                <a:gridCol w="792480"/>
              </a:tblGrid>
              <a:tr h="15544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Δx1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Δy1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Δψ1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Δx2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Δy2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Δψ2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Δx3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Δy3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Δψ3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Δx4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Δy4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Δψ4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Δx5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Δy5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Δψ5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55448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Δx6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Δy6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142B46"/>
                          </a:solidFill>
                          <a:latin typeface="Noto Sans CJK SC"/>
                        </a:defRPr>
                      </a:pPr>
                      <a:r>
                        <a:t>Δψ6</a:t>
                      </a:r>
                    </a:p>
                  </a:txBody>
                  <a:tcPr marL="18288" marR="18288" marT="0" marB="0">
                    <a:solidFill>
                      <a:srgbClr val="F1F8F6"/>
                    </a:solidFill>
                  </a:tcPr>
                </a:tc>
              </a:tr>
            </a:tbl>
          </a:graphicData>
        </a:graphic>
      </p:graphicFrame>
      <p:sp>
        <p:nvSpPr>
          <p:cNvPr id="81" name="TextBox 80"/>
          <p:cNvSpPr txBox="1"/>
          <p:nvPr/>
        </p:nvSpPr>
        <p:spPr>
          <a:xfrm>
            <a:off x="6537960" y="4736592"/>
            <a:ext cx="4572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点1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37960" y="4892040"/>
            <a:ext cx="4572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点2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37960" y="5047488"/>
            <a:ext cx="4572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点3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37960" y="5202936"/>
            <a:ext cx="4572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点4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537960" y="5358383"/>
            <a:ext cx="4572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点5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537960" y="5513831"/>
            <a:ext cx="4572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点6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665208" y="4764024"/>
            <a:ext cx="16916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Δx、Δy：平移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665208" y="5175504"/>
            <a:ext cx="16916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Δψ：航向变化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65208" y="5504688"/>
            <a:ext cx="169164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均在局部坐标系中描述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85800" y="6080760"/>
            <a:ext cx="10826496" cy="475488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59536" y="6208776"/>
            <a:ext cx="104241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训练：真实未来画面与轨迹用于监督；推理：只给历史与目标，由模型生成未知未来。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5800" y="6665976"/>
            <a:ext cx="10058400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来源：UniNav §3.1、§3.2、§4.1；图框为格式示意，矩阵仅示变量，不代表实验数值。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378440" y="6665976"/>
            <a:ext cx="1133856" cy="16459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输入输出 / 13</a:t>
            </a:r>
          </a:p>
        </p:txBody>
      </p:sp>
    </p:spTree>
  </p:cSld>
  <p:clrMapOvr>
    <a:masterClrMapping/>
  </p:clrMapOvr>
</p:sld>
</file>

<file path=ppt/slides/slide1__m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UniNav 精读 / 编码、共享计算与分支输出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每类数据如何编码，又如何得到输出？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62748A"/>
                </a:solidFill>
                <a:latin typeface="Noto Sans CJK SC"/>
              </a:defRPr>
            </a:pPr>
            <a:r>
              <a:t>不同数据先变成可共同处理的向量；共享网络计算后，各输出头预测相应的去噪更新量。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04288"/>
            <a:ext cx="178308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原始数据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1488" y="2304288"/>
            <a:ext cx="3511296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编码与映射（训练时）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6832" y="2304288"/>
            <a:ext cx="1435608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共同计算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304288"/>
            <a:ext cx="3118104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分支输出 → 最终结果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761488"/>
            <a:ext cx="1783080" cy="62179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862072"/>
            <a:ext cx="16916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3 帧历史 + 1 张目标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172968"/>
            <a:ext cx="169164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已知视觉条件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61488" y="2761488"/>
            <a:ext cx="3511296" cy="621792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9504" y="2852928"/>
            <a:ext cx="327355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冻结 VAE → 压缩特征 → 切块 / 嵌入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9504" y="3154680"/>
            <a:ext cx="3273552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历史、目标是已知条件；VAE 编码后保持为条件向量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68880" y="3072384"/>
            <a:ext cx="29260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272784" y="3072384"/>
            <a:ext cx="38404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85800" y="3538728"/>
            <a:ext cx="1783080" cy="62179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639312"/>
            <a:ext cx="16916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6 帧未来画面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950208"/>
            <a:ext cx="169164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训练预测目标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61488" y="3538728"/>
            <a:ext cx="3511296" cy="621792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89504" y="3630168"/>
            <a:ext cx="327355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冻结 VAE → 特征加噪 → 切块 / 嵌入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9504" y="3931920"/>
            <a:ext cx="3273552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切块=把特征分组；嵌入=把每块映射到共享维度 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468880" y="3849624"/>
            <a:ext cx="29260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272784" y="3849624"/>
            <a:ext cx="38404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85800" y="4315968"/>
            <a:ext cx="1783080" cy="62179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416552"/>
            <a:ext cx="16916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6 × 3 航点数值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727448"/>
            <a:ext cx="169164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训练预测目标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61488" y="4315968"/>
            <a:ext cx="3511296" cy="621792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89504" y="4407407"/>
            <a:ext cx="327355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数值加噪 → 小型映射网络 MLP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9504" y="4709159"/>
            <a:ext cx="3273552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MLP=全连接映射；每航点 3 维→D 维，共 6 个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468880" y="4626864"/>
            <a:ext cx="29260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272784" y="4626864"/>
            <a:ext cx="38404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85800" y="5093208"/>
            <a:ext cx="1783080" cy="621792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5193792"/>
            <a:ext cx="169164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历史 + 真实未来图像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504688"/>
            <a:ext cx="169164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训练几何教师的输入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61488" y="5093208"/>
            <a:ext cx="3511296" cy="621792"/>
          </a:xfrm>
          <a:prstGeom prst="roundRect">
            <a:avLst>
              <a:gd name="adj" fmla="val 12000"/>
            </a:avLst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89504" y="5184648"/>
            <a:ext cx="3273552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2B46"/>
                </a:solidFill>
                <a:latin typeface="Noto Sans CJK SC"/>
              </a:defRPr>
            </a:pPr>
            <a:r>
              <a:t>冻结 DA3 → 取未来几何特征 → 归一化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89504" y="5486400"/>
            <a:ext cx="3273552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0"/>
              </a:spcAft>
              <a:defRPr sz="700" b="0">
                <a:solidFill>
                  <a:srgbClr val="62748A"/>
                </a:solidFill>
                <a:latin typeface="Noto Sans CJK SC"/>
              </a:defRPr>
            </a:pPr>
            <a:r>
              <a:t>DA3：Depth Anything 3（Lin 等，2025）</a:t>
            </a:r>
          </a:p>
          <a:p>
            <a:pPr>
              <a:spcAft>
                <a:spcPts val="0"/>
              </a:spcAft>
              <a:defRPr sz="700">
                <a:solidFill>
                  <a:srgbClr val="62748A"/>
                </a:solidFill>
                <a:latin typeface="Noto Sans CJK SC"/>
              </a:defRPr>
            </a:pPr>
            <a:r>
              <a:t>特征加噪 → MLP；共 6 个未来几何向量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468880" y="5404104"/>
            <a:ext cx="29260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272784" y="5404104"/>
            <a:ext cx="384048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6656832" y="2761488"/>
            <a:ext cx="1435608" cy="2953512"/>
          </a:xfrm>
          <a:prstGeom prst="roundRect">
            <a:avLst>
              <a:gd name="adj" fmla="val 12000"/>
            </a:avLst>
          </a:prstGeom>
          <a:solidFill>
            <a:srgbClr val="DF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29984" y="3163824"/>
            <a:ext cx="1289304" cy="29260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600" b="1">
                <a:solidFill>
                  <a:srgbClr val="148D91"/>
                </a:solidFill>
                <a:latin typeface="Noto Sans CJK SC"/>
              </a:defRPr>
            </a:pPr>
            <a:r>
              <a:t>共享网络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29984" y="3648456"/>
            <a:ext cx="1289304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1">
                <a:solidFill>
                  <a:srgbClr val="148D91"/>
                </a:solidFill>
                <a:latin typeface="Noto Sans CJK SC"/>
              </a:defRPr>
            </a:pPr>
            <a:r>
              <a:t>Transformer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9984" y="4142232"/>
            <a:ext cx="1289304" cy="1033271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拼接向量序列</a:t>
            </a:r>
          </a:p>
          <a:p>
            <a:pPr algn="ctr"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交换信息</a:t>
            </a:r>
          </a:p>
          <a:p>
            <a:pPr algn="ctr"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更新共享特征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9984" y="5157216"/>
            <a:ext cx="1289304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Wan2.1 初始化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5486400"/>
            <a:ext cx="1289304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800" b="0">
                <a:solidFill>
                  <a:srgbClr val="148D91"/>
                </a:solidFill>
                <a:latin typeface="Noto Sans CJK SC"/>
              </a:defRPr>
            </a:pPr>
            <a:r>
              <a:t>主网络参与微调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94192" y="2779776"/>
            <a:ext cx="3118104" cy="63093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3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VAE：变分自编码器，编码压缩、解码重建。</a:t>
            </a:r>
          </a:p>
          <a:p>
            <a:pPr>
              <a:spcAft>
                <a:spcPts val="3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来自 Wan（Wang 等，2025），冻结使用。</a:t>
            </a:r>
          </a:p>
          <a:p>
            <a:pPr>
              <a:spcAft>
                <a:spcPts val="3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向量维度 D：每个 token 包含 D 个数字。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394192" y="3538728"/>
            <a:ext cx="3118104" cy="62179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13064" y="3630168"/>
            <a:ext cx="28803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8D91"/>
                </a:solidFill>
                <a:latin typeface="Noto Sans CJK SC"/>
              </a:defRPr>
            </a:pPr>
            <a:r>
              <a:t>视频输出头 → 视觉特征更新量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13064" y="3950208"/>
            <a:ext cx="288036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迭代恢复特征，再由 VAE 解码为 6 帧 RGB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092440" y="3849624"/>
            <a:ext cx="301752" cy="0"/>
          </a:xfrm>
          <a:prstGeom prst="line">
            <a:avLst/>
          </a:prstGeom>
          <a:ln w="1397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8394192" y="4315968"/>
            <a:ext cx="3118104" cy="62179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513064" y="4407407"/>
            <a:ext cx="28803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8D91"/>
                </a:solidFill>
                <a:latin typeface="Noto Sans CJK SC"/>
              </a:defRPr>
            </a:pPr>
            <a:r>
              <a:t>轨迹输出头 → 6 × 3 更新量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13064" y="4727448"/>
            <a:ext cx="288036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迭代后得到 6 × 3 的连续航点轨迹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092440" y="4626864"/>
            <a:ext cx="301752" cy="0"/>
          </a:xfrm>
          <a:prstGeom prst="line">
            <a:avLst/>
          </a:prstGeom>
          <a:ln w="1397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8394192" y="5093208"/>
            <a:ext cx="3118104" cy="621792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13064" y="5184648"/>
            <a:ext cx="2880360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48D91"/>
                </a:solidFill>
                <a:latin typeface="Noto Sans CJK SC"/>
              </a:defRPr>
            </a:pPr>
            <a:r>
              <a:t>几何输出头 → 几何特征更新量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13064" y="5504688"/>
            <a:ext cx="2880360" cy="18288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迭代后恢复未来视角的相机几何特征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8092440" y="5404104"/>
            <a:ext cx="301752" cy="0"/>
          </a:xfrm>
          <a:prstGeom prst="line">
            <a:avLst/>
          </a:prstGeom>
          <a:ln w="1397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85800" y="5888736"/>
            <a:ext cx="10826496" cy="2468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另加入可学习的寄存向量帮助信息交流；视觉向量保留时空位置编码，其余类型不强加图像网格位置。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85800" y="6272784"/>
            <a:ext cx="10826496" cy="365760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9536" y="6336792"/>
            <a:ext cx="104241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1">
                <a:solidFill>
                  <a:srgbClr val="148D91"/>
                </a:solidFill>
                <a:latin typeface="Noto Sans CJK SC"/>
              </a:defRPr>
            </a:pPr>
            <a:r>
              <a:t>参数更新：VAE 与 DA3 冻结；共享网络、新增 MLP 与输出头训练。更新量不是机器人速度。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6711696"/>
            <a:ext cx="10058400" cy="1371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来源：UniNav §3.2–3.3；Wan（2025）；DA3（2025）。具体压缩尺寸、切块大小、D 与几何维度未披露。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78440" y="6711696"/>
            <a:ext cx="1133856" cy="1371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编码架构 / 14</a:t>
            </a:r>
          </a:p>
        </p:txBody>
      </p:sp>
    </p:spTree>
  </p:cSld>
  <p:clrMapOvr>
    <a:masterClrMapping/>
  </p:clrMapOvr>
</p:sld>
</file>

<file path=ppt/slides/slide1__m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91440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总结 / 核心发现与局限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哪些结论已有支持，哪些还需要验证？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97280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62748A"/>
                </a:solidFill>
                <a:latin typeface="Noto Sans CJK SC"/>
              </a:defRPr>
            </a:pPr>
            <a:r>
              <a:t>结合前面的消融与训练结果，明确目前的研究判断和证据边界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31720"/>
            <a:ext cx="530352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48D91"/>
                </a:solidFill>
                <a:latin typeface="Noto Sans CJK SC"/>
              </a:defRPr>
            </a:pPr>
            <a:r>
              <a:t>主要发现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8776" y="2331720"/>
            <a:ext cx="5303520" cy="31089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142B46"/>
                </a:solidFill>
                <a:latin typeface="Noto Sans CJK SC"/>
              </a:defRPr>
            </a:pPr>
            <a:r>
              <a:t>结论边界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852928"/>
            <a:ext cx="5303520" cy="95097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962656"/>
            <a:ext cx="34747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7592" y="2944368"/>
            <a:ext cx="45262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航点方向是值得优先改善的环节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7592" y="3337560"/>
            <a:ext cx="4526280" cy="42062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在当前方案中，替换真实航点方向的收益</a:t>
            </a:r>
          </a:p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明显高于替换真实目标方向。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2852928"/>
            <a:ext cx="5303520" cy="95097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944368"/>
            <a:ext cx="493776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真实方向只用于离线分析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2512" y="3337560"/>
            <a:ext cx="4937760" cy="42062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真实航点包含未来轨迹信息，部署时拿不到；</a:t>
            </a:r>
          </a:p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分析中的潜在收益不等于实际可达到的改进。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886200"/>
            <a:ext cx="5303520" cy="95097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995928"/>
            <a:ext cx="34747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07592" y="3977639"/>
            <a:ext cx="45262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少量严重错误集中了大部分改进空间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07592" y="4370832"/>
            <a:ext cx="4526280" cy="42062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难例主要出现在转弯场景；</a:t>
            </a:r>
          </a:p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一般样本变好，并不代表严重错误减少。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886200"/>
            <a:ext cx="5303520" cy="95097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2512" y="3977639"/>
            <a:ext cx="493776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条件收益不等于导航成功率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82512" y="4370832"/>
            <a:ext cx="4937760" cy="42062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目前主要衡量目标信息能减少多少轨迹误差；</a:t>
            </a:r>
          </a:p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真实场景中能否更安全地到达目标，仍需验证。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919472"/>
            <a:ext cx="5303520" cy="95097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029200"/>
            <a:ext cx="347472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8D91"/>
                </a:solidFill>
                <a:latin typeface="Noto Sans CJK SC"/>
              </a:defRPr>
            </a:pPr>
            <a: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7592" y="5010912"/>
            <a:ext cx="452628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视觉历史与针对性训练带来进展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7592" y="5404104"/>
            <a:ext cx="4526280" cy="42062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继续增加历史帧数、辅助监督或复杂规则，</a:t>
            </a:r>
          </a:p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尚未持续超过当前较强的训练方案。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8776" y="4919472"/>
            <a:ext cx="5303520" cy="95097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5010912"/>
            <a:ext cx="4937760" cy="28346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2B46"/>
                </a:solidFill>
                <a:latin typeface="Noto Sans CJK SC"/>
              </a:defRPr>
            </a:pPr>
            <a:r>
              <a:t>小幅领先尚不能认定为可靠提升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82512" y="5404104"/>
            <a:ext cx="4937760" cy="42062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2.93 与 2.94 cm 的差异很小；</a:t>
            </a:r>
          </a:p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还需重复训练、配对比较和独立测试。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016752"/>
            <a:ext cx="10826496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适用范围：结论主要来自当前固定远目标评估；其他环境的泛化与实机表现，仍需进一步验证。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6345936"/>
            <a:ext cx="10826496" cy="356616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6400800"/>
            <a:ext cx="104241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48D91"/>
                </a:solidFill>
                <a:latin typeface="Noto Sans CJK SC"/>
              </a:defRPr>
            </a:pPr>
            <a:r>
              <a:t>研究判断：除了远程目标定位，短时路径方向的质量也是关键改进空间。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6720840"/>
            <a:ext cx="10058400" cy="1371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依据：前述方向替换、难例归因、历史输入、转弯训练与融合规则实验；详细来源见备注。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06456" y="6720840"/>
            <a:ext cx="960120" cy="13716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800" b="0">
                <a:solidFill>
                  <a:srgbClr val="62748A"/>
                </a:solidFill>
                <a:latin typeface="Noto Sans CJK SC"/>
              </a:defRPr>
            </a:pPr>
            <a:r>
              <a:t>发现与局限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14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94360" y="585216"/>
            <a:ext cx="54864" cy="201168"/>
          </a:xfrm>
          <a:prstGeom prst="rect">
            <a:avLst/>
          </a:prstGeom>
          <a:solidFill>
            <a:srgbClr val="148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548640"/>
            <a:ext cx="822960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62748A"/>
                </a:solidFill>
                <a:latin typeface="Noto Sans CJK SC"/>
              </a:defRPr>
            </a:pPr>
            <a:r>
              <a:t>研究问题 / 方法框架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987552"/>
            <a:ext cx="10972800" cy="54864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2800" b="1">
                <a:solidFill>
                  <a:srgbClr val="142B46"/>
                </a:solidFill>
                <a:latin typeface="Noto Sans CJK SC"/>
              </a:defRPr>
            </a:pPr>
            <a:r>
              <a:t>如何用远程目标，引导短时导航动作？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01368"/>
            <a:ext cx="5303520" cy="694944"/>
          </a:xfrm>
          <a:prstGeom prst="roundRect">
            <a:avLst>
              <a:gd name="adj" fmla="val 12000"/>
            </a:avLst>
          </a:prstGeom>
          <a:solidFill>
            <a:srgbClr val="EC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901952"/>
            <a:ext cx="49377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477CCC"/>
                </a:solidFill>
                <a:latin typeface="Noto Sans CJK SC"/>
              </a:defRPr>
            </a:pPr>
            <a:r>
              <a:t>全局目标方位：目标在哪里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212848"/>
            <a:ext cx="493776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远程定位信息，未必与当前可行路径一致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801368"/>
            <a:ext cx="5303520" cy="694944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901952"/>
            <a:ext cx="4937760" cy="25603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局部航点方向：未来 8 步往哪里走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212848"/>
            <a:ext cx="493776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62748A"/>
                </a:solidFill>
                <a:latin typeface="Noto Sans CJK SC"/>
              </a:defRPr>
            </a:pPr>
            <a:r>
              <a:t>短时路径信息，急转弯时可能出现严重预测误差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163824"/>
            <a:ext cx="1188720" cy="1033271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300984"/>
            <a:ext cx="104241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视觉输入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675887"/>
            <a:ext cx="1078992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观测 / 历史</a:t>
            </a:r>
          </a:p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目标图像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94560" y="3163824"/>
            <a:ext cx="1280160" cy="1033271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67712" y="3300984"/>
            <a:ext cx="113385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DINOv2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9424" y="3675887"/>
            <a:ext cx="1170431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视觉特征</a:t>
            </a:r>
          </a:p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冻结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2191" y="2779776"/>
            <a:ext cx="1417320" cy="877824"/>
          </a:xfrm>
          <a:prstGeom prst="roundRect">
            <a:avLst>
              <a:gd name="adj" fmla="val 12000"/>
            </a:avLst>
          </a:prstGeom>
          <a:solidFill>
            <a:srgbClr val="ECF2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95344" y="2916936"/>
            <a:ext cx="127101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477CCC"/>
                </a:solidFill>
                <a:latin typeface="Noto Sans CJK SC"/>
              </a:defRPr>
            </a:pPr>
            <a:r>
              <a:t>Goal Head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7055" y="3291840"/>
            <a:ext cx="1307592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d_goal，κ_goal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22191" y="3813048"/>
            <a:ext cx="1417320" cy="877824"/>
          </a:xfrm>
          <a:prstGeom prst="roundRect">
            <a:avLst>
              <a:gd name="adj" fmla="val 12000"/>
            </a:avLst>
          </a:prstGeom>
          <a:solidFill>
            <a:srgbClr val="DF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95344" y="3950208"/>
            <a:ext cx="127101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8D91"/>
                </a:solidFill>
                <a:latin typeface="Noto Sans CJK SC"/>
              </a:defRPr>
            </a:pPr>
            <a:r>
              <a:t>WP Head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77055" y="4325112"/>
            <a:ext cx="1307592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d_wp，κ_wp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22776" y="4736592"/>
            <a:ext cx="173736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148D91"/>
                </a:solidFill>
                <a:latin typeface="Noto Sans CJK SC"/>
              </a:defRPr>
            </a:pPr>
            <a:r>
              <a:t>本轮优化方向头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3560" y="3273552"/>
            <a:ext cx="1161288" cy="93268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96712" y="3410712"/>
            <a:ext cx="1014984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κ 融合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78424" y="3785616"/>
            <a:ext cx="1051560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置信度加权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05472" y="3273552"/>
            <a:ext cx="1170432" cy="93268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78624" y="3410712"/>
            <a:ext cx="1024128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位置估计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0336" y="3785616"/>
            <a:ext cx="1060704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距离 × 方向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78240" y="3273552"/>
            <a:ext cx="1335024" cy="93268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51392" y="3410712"/>
            <a:ext cx="1188720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E-oracle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33104" y="3785616"/>
            <a:ext cx="1225295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扩散策略 · 冻结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506456" y="3273552"/>
            <a:ext cx="1005840" cy="932688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79608" y="3410712"/>
            <a:ext cx="859536" cy="27432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42B46"/>
                </a:solidFill>
                <a:latin typeface="Noto Sans CJK SC"/>
              </a:defRPr>
            </a:pPr>
            <a:r>
              <a:t>动作输出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61320" y="3785616"/>
            <a:ext cx="896112" cy="475488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 algn="ctr"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短时航点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874519" y="3675887"/>
            <a:ext cx="320041" cy="0"/>
          </a:xfrm>
          <a:prstGeom prst="line">
            <a:avLst/>
          </a:prstGeom>
          <a:ln w="1651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474720" y="3675887"/>
            <a:ext cx="164592" cy="0"/>
          </a:xfrm>
          <a:prstGeom prst="line">
            <a:avLst/>
          </a:prstGeom>
          <a:ln w="1651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639312" y="3218688"/>
            <a:ext cx="0" cy="1033272"/>
          </a:xfrm>
          <a:prstGeom prst="line">
            <a:avLst/>
          </a:prstGeom>
          <a:ln w="1651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639312" y="3218688"/>
            <a:ext cx="182879" cy="0"/>
          </a:xfrm>
          <a:prstGeom prst="line">
            <a:avLst/>
          </a:prstGeom>
          <a:ln w="16510">
            <a:solidFill>
              <a:srgbClr val="477CC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639312" y="4251960"/>
            <a:ext cx="182879" cy="0"/>
          </a:xfrm>
          <a:prstGeom prst="line">
            <a:avLst/>
          </a:prstGeom>
          <a:ln w="1651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239512" y="3218688"/>
            <a:ext cx="192024" cy="0"/>
          </a:xfrm>
          <a:prstGeom prst="line">
            <a:avLst/>
          </a:prstGeom>
          <a:ln w="16510">
            <a:solidFill>
              <a:srgbClr val="477CC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431536" y="3218688"/>
            <a:ext cx="0" cy="1033272"/>
          </a:xfrm>
          <a:prstGeom prst="line">
            <a:avLst/>
          </a:prstGeom>
          <a:ln w="1651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239512" y="4251960"/>
            <a:ext cx="192024" cy="0"/>
          </a:xfrm>
          <a:prstGeom prst="line">
            <a:avLst/>
          </a:prstGeom>
          <a:ln w="16510">
            <a:solidFill>
              <a:srgbClr val="148D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431536" y="3739896"/>
            <a:ext cx="192024" cy="0"/>
          </a:xfrm>
          <a:prstGeom prst="line">
            <a:avLst/>
          </a:prstGeom>
          <a:ln w="1651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784848" y="3739896"/>
            <a:ext cx="420624" cy="0"/>
          </a:xfrm>
          <a:prstGeom prst="line">
            <a:avLst/>
          </a:prstGeom>
          <a:ln w="19050">
            <a:solidFill>
              <a:srgbClr val="148D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8375904" y="3739896"/>
            <a:ext cx="402336" cy="0"/>
          </a:xfrm>
          <a:prstGeom prst="line">
            <a:avLst/>
          </a:prstGeom>
          <a:ln w="1651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113264" y="3739896"/>
            <a:ext cx="393192" cy="0"/>
          </a:xfrm>
          <a:prstGeom prst="line">
            <a:avLst/>
          </a:prstGeom>
          <a:ln w="1651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2194560" y="4736592"/>
            <a:ext cx="1280160" cy="539496"/>
          </a:xfrm>
          <a:prstGeom prst="roundRect">
            <a:avLst>
              <a:gd name="adj" fmla="val 12000"/>
            </a:avLst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295144" y="4873752"/>
            <a:ext cx="1097280" cy="237744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100" b="1">
                <a:solidFill>
                  <a:srgbClr val="142B46"/>
                </a:solidFill>
                <a:latin typeface="Noto Sans CJK SC"/>
              </a:defRPr>
            </a:pPr>
            <a:r>
              <a:t>B 距离预测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271016" y="4197096"/>
            <a:ext cx="0" cy="813816"/>
          </a:xfrm>
          <a:prstGeom prst="line">
            <a:avLst/>
          </a:prstGeom>
          <a:ln w="1397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271016" y="5010912"/>
            <a:ext cx="923544" cy="0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474720" y="5010912"/>
            <a:ext cx="4315968" cy="0"/>
          </a:xfrm>
          <a:prstGeom prst="line">
            <a:avLst/>
          </a:prstGeom>
          <a:ln w="13970">
            <a:solidFill>
              <a:srgbClr val="6274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7790688" y="4206240"/>
            <a:ext cx="0" cy="804672"/>
          </a:xfrm>
          <a:prstGeom prst="line">
            <a:avLst/>
          </a:prstGeom>
          <a:ln w="13970">
            <a:solidFill>
              <a:srgbClr val="62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650992" y="4718304"/>
            <a:ext cx="1280160" cy="210312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预测距离 · 冻结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60" y="2715768"/>
            <a:ext cx="5852160" cy="228600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142B46"/>
                </a:solidFill>
                <a:latin typeface="Noto Sans CJK SC"/>
              </a:defRPr>
            </a:pPr>
            <a:r>
              <a:t>d_blend = normalize(κ_goal × d_goal + κ_wp × d_wp)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85800" y="5504688"/>
            <a:ext cx="10826496" cy="466344"/>
          </a:xfrm>
          <a:prstGeom prst="roundRect">
            <a:avLst>
              <a:gd name="adj" fmla="val 12000"/>
            </a:avLst>
          </a:prstGeom>
          <a:solidFill>
            <a:srgbClr val="E8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9536" y="5605272"/>
            <a:ext cx="10424160" cy="26517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48D91"/>
                </a:solidFill>
                <a:latin typeface="Noto Sans CJK SC"/>
              </a:defRPr>
            </a:pPr>
            <a:r>
              <a:t>核心思路：保持主策略冻结，改善方向引导，再检验下游条件收益。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85800" y="6190488"/>
            <a:ext cx="10817352" cy="0"/>
          </a:xfrm>
          <a:prstGeom prst="line">
            <a:avLst/>
          </a:prstGeom>
          <a:ln w="10160">
            <a:solidFill>
              <a:srgbClr val="DCE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685800" y="6355080"/>
            <a:ext cx="987552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62748A"/>
                </a:solidFill>
                <a:latin typeface="Noto Sans CJK SC"/>
              </a:defRPr>
            </a:pPr>
            <a:r>
              <a:t>评估：use_cm = 100 × (ADE_masked − ADE_conditioned)；越大越好，不等同于导航成功率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69880" y="6355080"/>
            <a:ext cx="1005840" cy="219456"/>
          </a:xfrm>
          <a:prstGeom prst="rect">
            <a:avLst/>
          </a:prstGeom>
          <a:noFill/>
          <a:effectLst/>
        </p:spPr>
        <p:txBody>
          <a:bodyPr wrap="non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62748A"/>
                </a:solidFill>
                <a:latin typeface="Noto Sans CJK SC"/>
              </a:defRPr>
            </a:pPr>
            <a:r>
              <a:t>方法框架 / 02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__m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__m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15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