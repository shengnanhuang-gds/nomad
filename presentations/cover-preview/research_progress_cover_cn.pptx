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中文封面风格预览，仅第一页。研究主题来自用户提供的研究汇报 prompt。右侧为概念示意，不代表真实轨迹或实验结果。未填写未经确认的姓名、学校或导师信息。全部标题、线条、路径和标记均为可编辑 PowerPoint 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6400800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毕业设计 · 研究进展汇报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949440" cy="1417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42B46"/>
                </a:solidFill>
                <a:latin typeface="Noto Sans CJK SC"/>
              </a:defRPr>
            </a:pPr>
            <a:r>
              <a:t>扩散式视觉导航</a:t>
            </a:r>
          </a:p>
          <a:p>
            <a:pPr>
              <a:spcAft>
                <a:spcPts val="700"/>
              </a:spcAft>
              <a:defRPr sz="3400" b="1">
                <a:solidFill>
                  <a:srgbClr val="142B46"/>
                </a:solidFill>
                <a:latin typeface="Noto Sans CJK SC"/>
              </a:defRPr>
            </a:pPr>
            <a:r>
              <a:t>中的方向引导改进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18688"/>
            <a:ext cx="521207" cy="4114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547872"/>
            <a:ext cx="6492240" cy="4297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42B46"/>
                </a:solidFill>
                <a:latin typeface="Noto Sans CJK SC"/>
              </a:defRPr>
            </a:pPr>
            <a:r>
              <a:t>全局目标定位 × 短时航点预测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6400800" cy="7040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748A"/>
                </a:solidFill>
                <a:latin typeface="Noto Sans CJK SC"/>
              </a:defRPr>
            </a:pPr>
            <a:r>
              <a:t>基于 NoMaD 与 DINOv2 的</a:t>
            </a:r>
          </a:p>
          <a:p>
            <a:pPr>
              <a:spcAft>
                <a:spcPts val="700"/>
              </a:spcAft>
              <a:defRPr sz="1500" b="0">
                <a:solidFill>
                  <a:srgbClr val="62748A"/>
                </a:solidFill>
                <a:latin typeface="Noto Sans CJK SC"/>
              </a:defRPr>
            </a:pPr>
            <a:r>
              <a:t>不确定性感知目标定位研究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148072"/>
            <a:ext cx="1143000" cy="3657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202936"/>
            <a:ext cx="960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NoMaD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5148072"/>
            <a:ext cx="1143000" cy="3657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1" y="5202936"/>
            <a:ext cx="960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DINOv2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5148072"/>
            <a:ext cx="1691640" cy="3657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1" y="5202936"/>
            <a:ext cx="15087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置信度加权融合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80160"/>
            <a:ext cx="3749039" cy="439826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517904"/>
            <a:ext cx="324612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短时动作，远程目标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65008" y="2240280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65008" y="2862072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65008" y="3483864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65008" y="4105656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65008" y="4727448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57031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78824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00616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22408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44200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02752" y="2304288"/>
            <a:ext cx="2615184" cy="2286000"/>
          </a:xfrm>
          <a:prstGeom prst="line">
            <a:avLst/>
          </a:prstGeom>
          <a:ln w="22860">
            <a:solidFill>
              <a:srgbClr val="477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02752" y="4425696"/>
            <a:ext cx="301752" cy="164592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604504" y="4361688"/>
            <a:ext cx="338328" cy="64008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942832" y="4325112"/>
            <a:ext cx="347472" cy="36576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290304" y="4288536"/>
            <a:ext cx="356616" cy="36576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646920" y="4178808"/>
            <a:ext cx="329184" cy="109728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976104" y="3986784"/>
            <a:ext cx="292608" cy="192024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268712" y="3730752"/>
            <a:ext cx="374904" cy="256032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563356" y="4384548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01684" y="4320540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49156" y="4283964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05772" y="4247388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34956" y="4137660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27564" y="3945636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8302752" y="3730752"/>
            <a:ext cx="2340864" cy="859536"/>
          </a:xfrm>
          <a:prstGeom prst="line">
            <a:avLst/>
          </a:prstGeom>
          <a:ln w="15875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211312" y="4498848"/>
            <a:ext cx="182880" cy="182880"/>
          </a:xfrm>
          <a:prstGeom prst="ellipse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65892" y="3653028"/>
            <a:ext cx="155448" cy="155448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808208" y="2194560"/>
            <a:ext cx="219456" cy="21945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477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76788" y="2263140"/>
            <a:ext cx="82296" cy="82296"/>
          </a:xfrm>
          <a:prstGeom prst="ellipse">
            <a:avLst/>
          </a:prstGeom>
          <a:solidFill>
            <a:srgbClr val="477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9872" y="480974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当前观测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4936" y="1947672"/>
            <a:ext cx="164592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477CCC"/>
                </a:solidFill>
                <a:latin typeface="Noto Sans CJK SC"/>
              </a:defRPr>
            </a:pPr>
            <a:r>
              <a:t>远程图像目标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2862072"/>
            <a:ext cx="18288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477CCC"/>
                </a:solidFill>
                <a:latin typeface="Noto Sans CJK SC"/>
              </a:defRPr>
            </a:pPr>
            <a:r>
              <a:t>全局目标方向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8632" y="4553712"/>
            <a:ext cx="164592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8D91"/>
                </a:solidFill>
                <a:latin typeface="Noto Sans CJK SC"/>
              </a:defRPr>
            </a:pPr>
            <a:r>
              <a:t>8 步航点方向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4152" y="5266944"/>
            <a:ext cx="3246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方法示意 · 非实验轨迹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85800" y="6108192"/>
            <a:ext cx="10817352" cy="0"/>
          </a:xfrm>
          <a:prstGeom prst="line">
            <a:avLst/>
          </a:prstGeom>
          <a:ln w="1016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318504"/>
            <a:ext cx="731520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汇报周期  2026.10.19—10.26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6318504"/>
            <a:ext cx="91440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研究进展  / 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