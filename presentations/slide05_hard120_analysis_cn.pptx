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第5页，独立单页文件。来源为main c1b3750的train/logs/revalidation/wp_hard120/summary.txt及enrichment_H_vs_control.csv（control=C_match）。</a:t>
            </a:r>
          </a:p>
          <a:p>
            <a:r>
              <a:t>Hard定义为WP bearing error&gt;=45deg，n=120/1000；93.333%为turn_strict；18.333%满足goal_err&lt;15且wp&gt;=45。</a:t>
            </a:r>
          </a:p>
          <a:p>
            <a:r>
              <a:t>中位数（H vs C_match）：path_winding_8 108.48499999999994 vs 69.43119048174236 deg；past_yaw_rate 14.101111111111116 vs 7.349444444444433；goal_bearing_err_deg 50.399990878953645 vs 15.227550674992074；wp_kappa 8.90623426437378 vs 35.79542350769043。</a:t>
            </a:r>
          </a:p>
          <a:p>
            <a:r>
              <a:t>train/analyze_wp_hard120.py:path_kinematics表明past_yaw_rate是过去最多3个采样步的平均绝对yaw变化，并非按秒归一化角速度；本页标为历史平均步间转角，单位deg，不用deg/s。</a:t>
            </a:r>
          </a:p>
          <a:p>
            <a:r>
              <a:t>C_match是按turn_strict比例匹配的非hard对照，不是全体其他帧。本页不报告对照样本数：提交的CSV n_C计数与研究设计/当前代码不一致（CSV62770，设计120），无法在缺少原始NPZ时重算；保留与summary.txt一致的中位数并准确标明来源。未据此计算新的置信区间或显著性。</a:t>
            </a:r>
          </a:p>
          <a:p>
            <a:r>
              <a:t>四组柱图各自从零起点按本指标最大值定标，不能跨指标比较柱长；所有中位数均来自现有记录，并未重新运行分析。</a:t>
            </a:r>
          </a:p>
          <a:p>
            <a:r>
              <a:t>κ是方向分布集中度，较低表明分散程度更高；不采用旧文字结论中“κ更低意味着错还很自信”的错误解释。组间差异只提供历史感知模型的动机，不构成因果证明。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P1b / Hard120 失败样本分析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严重航点方向错误，主要出现在哪里？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Hard120：WP 角误差 ≥45° 的 120 帧 · 与转弯比例匹配的非 hard 对照比较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9424"/>
            <a:ext cx="3456432" cy="83210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340864"/>
            <a:ext cx="1600200" cy="38404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148D91"/>
                </a:solidFill>
                <a:latin typeface="Noto Sans CJK SC"/>
              </a:defRPr>
            </a:pPr>
            <a:r>
              <a:t>120 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9152" y="2404872"/>
            <a:ext cx="1700784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困难样本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825496"/>
            <a:ext cx="3200400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占锁定远目标帧的 12%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2249424"/>
            <a:ext cx="3456432" cy="83210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2340864"/>
            <a:ext cx="1600200" cy="38404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148D91"/>
                </a:solidFill>
                <a:latin typeface="Noto Sans CJK SC"/>
              </a:defRPr>
            </a:pPr>
            <a:r>
              <a:t>93.3%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4184" y="2404872"/>
            <a:ext cx="1700784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属于严格转弯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2825496"/>
            <a:ext cx="3200400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未来短时路径的转弯难例为主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249424"/>
            <a:ext cx="3456432" cy="83210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2340864"/>
            <a:ext cx="1600200" cy="38404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148D91"/>
                </a:solidFill>
                <a:latin typeface="Noto Sans CJK SC"/>
              </a:defRPr>
            </a:pPr>
            <a:r>
              <a:t>18.3%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29216" y="2404872"/>
            <a:ext cx="1700784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Goal 仍较准确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2168" y="2825496"/>
            <a:ext cx="3200400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仅这部分难例的 Goal 误差 &lt;15°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291840"/>
            <a:ext cx="640080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特征对比：困难组 vs 匹配对照（中位数）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30183" y="3328416"/>
            <a:ext cx="155448" cy="118872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77072" y="3264408"/>
            <a:ext cx="118872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困难组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57232" y="3328416"/>
            <a:ext cx="155448" cy="118872"/>
          </a:xfrm>
          <a:prstGeom prst="rect">
            <a:avLst/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4120" y="3264408"/>
            <a:ext cx="13716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匹配对照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675887"/>
            <a:ext cx="2542032" cy="1728216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831336"/>
            <a:ext cx="228600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未来 8 步累计转角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187952"/>
            <a:ext cx="22860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路径弯曲程度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668012"/>
            <a:ext cx="1320800" cy="146304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40864" y="4576572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108.5°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52060"/>
            <a:ext cx="845321" cy="146304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40864" y="4960620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62748A"/>
                </a:solidFill>
                <a:latin typeface="Noto Sans CJK SC"/>
              </a:defRPr>
            </a:pPr>
            <a:r>
              <a:t>69.4°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47288" y="3675887"/>
            <a:ext cx="2542032" cy="1728216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84448" y="3831336"/>
            <a:ext cx="228600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历史平均步间转角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84448" y="4187952"/>
            <a:ext cx="22860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过去 3 步的 |Δyaw| 均值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84448" y="4668012"/>
            <a:ext cx="1320800" cy="146304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02352" y="4576572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14.1°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5052060"/>
            <a:ext cx="688395" cy="146304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02352" y="4960620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62748A"/>
                </a:solidFill>
                <a:latin typeface="Noto Sans CJK SC"/>
              </a:defRPr>
            </a:pPr>
            <a:r>
              <a:t>7.3°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08776" y="3675887"/>
            <a:ext cx="2542032" cy="1728216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45936" y="3831336"/>
            <a:ext cx="228600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全局目标方位误差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5936" y="4187952"/>
            <a:ext cx="22860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Goal 方向也常同时出错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45936" y="4668012"/>
            <a:ext cx="1320799" cy="146304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63840" y="4576572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50.4°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45936" y="5052060"/>
            <a:ext cx="399058" cy="146304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63840" y="4960620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62748A"/>
                </a:solidFill>
                <a:latin typeface="Noto Sans CJK SC"/>
              </a:defRPr>
            </a:pPr>
            <a:r>
              <a:t>15.2°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70264" y="3675887"/>
            <a:ext cx="2542032" cy="1728216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07424" y="3831336"/>
            <a:ext cx="228600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WP 方向集中度 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07424" y="4187952"/>
            <a:ext cx="22860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分布集中度，不是误差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07424" y="4668012"/>
            <a:ext cx="328627" cy="146304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25328" y="4576572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8.9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07424" y="5052060"/>
            <a:ext cx="1320799" cy="146304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25328" y="4960620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62748A"/>
                </a:solidFill>
                <a:latin typeface="Noto Sans CJK SC"/>
              </a:defRPr>
            </a:pPr>
            <a:r>
              <a:t>35.8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5541264"/>
            <a:ext cx="109728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κ 更低表示预测分布更分散；这些组间差异是相关性证据，不能直接证明因果。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85800" y="5952744"/>
            <a:ext cx="10826496" cy="44805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9536" y="6035040"/>
            <a:ext cx="104241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启示：转弯与近期旋转运动值得关注，为引入视觉历史提供实验动机。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85800" y="6519672"/>
            <a:ext cx="10817352" cy="0"/>
          </a:xfrm>
          <a:prstGeom prst="line">
            <a:avLst/>
          </a:prstGeom>
          <a:ln w="1016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85800" y="6601968"/>
            <a:ext cx="987552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来源：wp_hard120/summary.txt、enrichment_H_vs_control.csv；各指标使用独立刻度。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7312" y="6601968"/>
            <a:ext cx="10058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难例分析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