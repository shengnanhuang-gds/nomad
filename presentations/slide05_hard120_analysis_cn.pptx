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第5页重写：承接收益归因页，问题改为转弯比例相近时困难样本还有哪些运动特征，不再用“错误出现在哪里”的标题承载多个无关特征。</a:t>
            </a:r>
          </a:p>
          <a:p>
            <a:r>
              <a:t>来源main c1b3750，train/logs/revalidation/wp_hard120/summary.txt、enrichment_H_vs_control.csv（control=C_match）、train/analyze_wp_hard120.py。</a:t>
            </a:r>
          </a:p>
          <a:p>
            <a:r>
              <a:t>Hard为预测WP相对真实8步endpoint方位误差&gt;=45deg，n=120，属于locked1000帧的12%。strict turn=GT endpoint abs(lateral)&gt;=.30m OR abs(yawchange)&gt;=45deg，Hard中占93.333%。C_match从非hard池抽样，匹配strict turn比例93.333%；它并非全部普通帧，也不是所有其他混杂因素均已控制。</a:t>
            </a:r>
          </a:p>
          <a:p>
            <a:r>
              <a:t>未来累计绝对转角path_winding_8 med_H108.48499999999994 / med_C69.43119048174236deg（页内108.5/69.4）；历史平均步间转角past_yaw_rate med_H14.101111111111116 / med_C7.349444444444433deg（页内14.10/7.35）。后者是过去最多3采样步绝对yaw变化均值，不是deg/s角速度。</a:t>
            </a:r>
          </a:p>
          <a:p>
            <a:r>
              <a:t>比较为中位数，两指标分别从零按120deg和16deg线性刻度画柱。只描述相关特征，不作因果断言。由此提出“视觉历史是否帮助”的可检验假设，下一页P2才给实验回答。</a:t>
            </a:r>
          </a:p>
          <a:p>
            <a:r>
              <a:t>Goal方位误差与κ比较从主页面移出，以聚焦引出历史实验的证据；18.3%按此前用户要求不显示。</a:t>
            </a:r>
          </a:p>
          <a:p>
            <a:r>
              <a:t>资料限制：CSV n_C与研究设计/当前代码不一致（62770 vs设计120），无法无原始NPZ复算；不报告对照数，采用与summary.txt一致的中位数，不据此计算新显著性。统计来自上传汇总，非本次重跑。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P1b / 从转弯集中现象，到运动特征对比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转弯比例相近时，难例还有什么特点？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748A"/>
                </a:solidFill>
                <a:latin typeface="Noto Sans CJK SC"/>
              </a:defRPr>
            </a:pPr>
            <a:r>
              <a:t>承接上一页：严重错误集中在转弯场景；这里进一步比较困难帧与非困难帧的运动特征。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9424"/>
            <a:ext cx="5303520" cy="68580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50008"/>
            <a:ext cx="498348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困难组：120 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34056"/>
            <a:ext cx="498348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WP 方向误差 ≥45°；其中严格转弯占 93.3%。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49424"/>
            <a:ext cx="5303520" cy="68580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2350008"/>
            <a:ext cx="498348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对照组：从非困难帧中选取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734056"/>
            <a:ext cx="498348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匹配转弯占比为 93.3%，减少弯道与直道差异的影响。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10128"/>
            <a:ext cx="5303520" cy="2276856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456432"/>
            <a:ext cx="4937760" cy="3291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8D91"/>
                </a:solidFill>
                <a:latin typeface="Noto Sans CJK SC"/>
              </a:defRPr>
            </a:pPr>
            <a:r>
              <a:t>① 未来路径更弯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922776"/>
            <a:ext cx="49377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未来 8 步累计绝对转角（中位数）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393692"/>
            <a:ext cx="822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困难组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5648" y="4443984"/>
            <a:ext cx="2761030" cy="182880"/>
          </a:xfrm>
          <a:prstGeom prst="roundRect">
            <a:avLst>
              <a:gd name="adj" fmla="val 12000"/>
            </a:avLst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46904" y="4343400"/>
            <a:ext cx="896112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8D91"/>
                </a:solidFill>
                <a:latin typeface="Noto Sans CJK SC"/>
              </a:defRPr>
            </a:pPr>
            <a:r>
              <a:t>108.5°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832604"/>
            <a:ext cx="822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对照组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5648" y="4882896"/>
            <a:ext cx="1767079" cy="182880"/>
          </a:xfrm>
          <a:prstGeom prst="roundRect">
            <a:avLst>
              <a:gd name="adj" fmla="val 12000"/>
            </a:avLst>
          </a:prstGeom>
          <a:solidFill>
            <a:srgbClr val="9CB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4782312"/>
            <a:ext cx="896112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748A"/>
                </a:solidFill>
                <a:latin typeface="Noto Sans CJK SC"/>
              </a:defRPr>
            </a:pPr>
            <a:r>
              <a:t>69.4°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5285232"/>
            <a:ext cx="493776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每步转了多少角度，取绝对值后累加。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3310128"/>
            <a:ext cx="5303520" cy="2276856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456432"/>
            <a:ext cx="4937760" cy="3291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8D91"/>
                </a:solidFill>
                <a:latin typeface="Noto Sans CJK SC"/>
              </a:defRPr>
            </a:pPr>
            <a:r>
              <a:t>② 近期旋转更强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922776"/>
            <a:ext cx="49377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历史平均步间转角（中位数）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393692"/>
            <a:ext cx="822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困难组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4443984"/>
            <a:ext cx="2691634" cy="182880"/>
          </a:xfrm>
          <a:prstGeom prst="roundRect">
            <a:avLst>
              <a:gd name="adj" fmla="val 12000"/>
            </a:avLst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9880" y="4343400"/>
            <a:ext cx="896112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8D91"/>
                </a:solidFill>
                <a:latin typeface="Noto Sans CJK SC"/>
              </a:defRPr>
            </a:pPr>
            <a:r>
              <a:t>14.10°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832604"/>
            <a:ext cx="822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对照组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78624" y="4882896"/>
            <a:ext cx="1402869" cy="182880"/>
          </a:xfrm>
          <a:prstGeom prst="roundRect">
            <a:avLst>
              <a:gd name="adj" fmla="val 12000"/>
            </a:avLst>
          </a:prstGeom>
          <a:solidFill>
            <a:srgbClr val="9CB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4782312"/>
            <a:ext cx="896112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748A"/>
                </a:solidFill>
                <a:latin typeface="Noto Sans CJK SC"/>
              </a:defRPr>
            </a:pPr>
            <a:r>
              <a:t>7.35°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5285232"/>
            <a:ext cx="493776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过去 3 步绝对航向变化的均值。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06440"/>
            <a:ext cx="10826496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这些是组间相关特征；对照只匹配了转弯比例，尚不能证明近期旋转或路径弯曲导致预测错误。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6199632"/>
            <a:ext cx="10826496" cy="41148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6272784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下一步假设：既然难例伴随更强的近期旋转，就检验视觉历史能否帮助方向预测。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684264"/>
            <a:ext cx="1005840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来源：wp_hard120/summary.txt、enrichment_H_vs_control.csv（C_match）；两图按各自指标独立定标。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6684264"/>
            <a:ext cx="1133856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难例特征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