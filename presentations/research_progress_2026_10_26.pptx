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中文封面风格预览，仅第一页。研究主题来自用户提供的研究汇报 prompt。右侧为概念示意，不代表真实轨迹或实验结果。未填写未经确认的姓名、学校或导师信息。全部标题、线条、路径和标记均为可编辑 PowerPoint 对象。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研究问题：全局目标方位与未来8步轨迹终点方位不同。框架来自用户提供的研究描述，以及 train/logs/revalidation/kappa_fusion_summary.txt（远程 main c1b3750）。DINOv2、NoMaD基线B（含距离预测）以及E-oracle扩散策略保持冻结。Goal Head和WP Head是方向预测模块，本轮实验主要优化WP Head；图中未声称本轮联合训练两个头。κ表示预测方向分布集中度，较大通常表示更集中。融合位置条件为B预测距离乘以融合方向；B在图中作为独立距离分支。E-oracle是冻结策略的名称，不表示部署使用真实目标或真实未来航点。use_cm定义为相对于masked条件的ADE改善，非导航成功率。所有框图、连线、公式文字均可编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85216"/>
            <a:ext cx="54864" cy="201168"/>
          </a:xfrm>
          <a:prstGeom prst="rect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48640"/>
            <a:ext cx="6400800" cy="3200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毕业设计 · 研究进展汇报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6949440" cy="1417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142B46"/>
                </a:solidFill>
                <a:latin typeface="Noto Sans CJK SC"/>
              </a:defRPr>
            </a:pPr>
            <a:r>
              <a:t>扩散式视觉导航</a:t>
            </a:r>
          </a:p>
          <a:p>
            <a:pPr>
              <a:spcAft>
                <a:spcPts val="700"/>
              </a:spcAft>
              <a:defRPr sz="3400" b="1">
                <a:solidFill>
                  <a:srgbClr val="142B46"/>
                </a:solidFill>
                <a:latin typeface="Noto Sans CJK SC"/>
              </a:defRPr>
            </a:pPr>
            <a:r>
              <a:t>中的方向引导改进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218688"/>
            <a:ext cx="521207" cy="41148"/>
          </a:xfrm>
          <a:prstGeom prst="rect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3547872"/>
            <a:ext cx="6492240" cy="42976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142B46"/>
                </a:solidFill>
                <a:latin typeface="Noto Sans CJK SC"/>
              </a:defRPr>
            </a:pPr>
            <a:r>
              <a:t>全局目标定位 × 短时航点预测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160520"/>
            <a:ext cx="6400800" cy="7040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2748A"/>
                </a:solidFill>
                <a:latin typeface="Noto Sans CJK SC"/>
              </a:defRPr>
            </a:pPr>
            <a:r>
              <a:t>基于 NoMaD 与 DINOv2 的</a:t>
            </a:r>
          </a:p>
          <a:p>
            <a:pPr>
              <a:spcAft>
                <a:spcPts val="700"/>
              </a:spcAft>
              <a:defRPr sz="1500" b="0">
                <a:solidFill>
                  <a:srgbClr val="62748A"/>
                </a:solidFill>
                <a:latin typeface="Noto Sans CJK SC"/>
              </a:defRPr>
            </a:pPr>
            <a:r>
              <a:t>不确定性感知目标定位研究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148072"/>
            <a:ext cx="1143000" cy="365760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5202936"/>
            <a:ext cx="96012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NoMaD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5148072"/>
            <a:ext cx="1143000" cy="365760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84831" y="5202936"/>
            <a:ext cx="96012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DINOv2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5148072"/>
            <a:ext cx="1691640" cy="365760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4991" y="5202936"/>
            <a:ext cx="150876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置信度加权融合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280160"/>
            <a:ext cx="3749039" cy="4398264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517904"/>
            <a:ext cx="3246120" cy="29260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2B46"/>
                </a:solidFill>
                <a:latin typeface="Noto Sans CJK SC"/>
              </a:defRPr>
            </a:pPr>
            <a:r>
              <a:t>短时动作，远程目标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065008" y="2240280"/>
            <a:ext cx="3154680" cy="0"/>
          </a:xfrm>
          <a:prstGeom prst="line">
            <a:avLst/>
          </a:prstGeom>
          <a:ln w="8255">
            <a:solidFill>
              <a:srgbClr val="E3EA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65008" y="2862072"/>
            <a:ext cx="3154680" cy="0"/>
          </a:xfrm>
          <a:prstGeom prst="line">
            <a:avLst/>
          </a:prstGeom>
          <a:ln w="8255">
            <a:solidFill>
              <a:srgbClr val="E3EA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065008" y="3483864"/>
            <a:ext cx="3154680" cy="0"/>
          </a:xfrm>
          <a:prstGeom prst="line">
            <a:avLst/>
          </a:prstGeom>
          <a:ln w="8255">
            <a:solidFill>
              <a:srgbClr val="E3EA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065008" y="4105656"/>
            <a:ext cx="3154680" cy="0"/>
          </a:xfrm>
          <a:prstGeom prst="line">
            <a:avLst/>
          </a:prstGeom>
          <a:ln w="8255">
            <a:solidFill>
              <a:srgbClr val="E3EA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065008" y="4727448"/>
            <a:ext cx="3154680" cy="0"/>
          </a:xfrm>
          <a:prstGeom prst="line">
            <a:avLst/>
          </a:prstGeom>
          <a:ln w="8255">
            <a:solidFill>
              <a:srgbClr val="E3EA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57031" y="2103120"/>
            <a:ext cx="0" cy="2862072"/>
          </a:xfrm>
          <a:prstGeom prst="line">
            <a:avLst/>
          </a:prstGeom>
          <a:ln w="8255">
            <a:solidFill>
              <a:srgbClr val="E3EA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878824" y="2103120"/>
            <a:ext cx="0" cy="2862072"/>
          </a:xfrm>
          <a:prstGeom prst="line">
            <a:avLst/>
          </a:prstGeom>
          <a:ln w="8255">
            <a:solidFill>
              <a:srgbClr val="E3EA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500616" y="2103120"/>
            <a:ext cx="0" cy="2862072"/>
          </a:xfrm>
          <a:prstGeom prst="line">
            <a:avLst/>
          </a:prstGeom>
          <a:ln w="8255">
            <a:solidFill>
              <a:srgbClr val="E3EA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122408" y="2103120"/>
            <a:ext cx="0" cy="2862072"/>
          </a:xfrm>
          <a:prstGeom prst="line">
            <a:avLst/>
          </a:prstGeom>
          <a:ln w="8255">
            <a:solidFill>
              <a:srgbClr val="E3EA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744200" y="2103120"/>
            <a:ext cx="0" cy="2862072"/>
          </a:xfrm>
          <a:prstGeom prst="line">
            <a:avLst/>
          </a:prstGeom>
          <a:ln w="8255">
            <a:solidFill>
              <a:srgbClr val="E3EA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302752" y="2304288"/>
            <a:ext cx="2615184" cy="2286000"/>
          </a:xfrm>
          <a:prstGeom prst="line">
            <a:avLst/>
          </a:prstGeom>
          <a:ln w="22860">
            <a:solidFill>
              <a:srgbClr val="477CC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302752" y="4425696"/>
            <a:ext cx="301752" cy="164592"/>
          </a:xfrm>
          <a:prstGeom prst="line">
            <a:avLst/>
          </a:prstGeom>
          <a:ln w="3048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604504" y="4361688"/>
            <a:ext cx="338328" cy="64008"/>
          </a:xfrm>
          <a:prstGeom prst="line">
            <a:avLst/>
          </a:prstGeom>
          <a:ln w="3048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942832" y="4325112"/>
            <a:ext cx="347472" cy="36576"/>
          </a:xfrm>
          <a:prstGeom prst="line">
            <a:avLst/>
          </a:prstGeom>
          <a:ln w="3048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290304" y="4288536"/>
            <a:ext cx="356616" cy="36576"/>
          </a:xfrm>
          <a:prstGeom prst="line">
            <a:avLst/>
          </a:prstGeom>
          <a:ln w="3048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646920" y="4178808"/>
            <a:ext cx="329184" cy="109728"/>
          </a:xfrm>
          <a:prstGeom prst="line">
            <a:avLst/>
          </a:prstGeom>
          <a:ln w="3048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9976104" y="3986784"/>
            <a:ext cx="292608" cy="192024"/>
          </a:xfrm>
          <a:prstGeom prst="line">
            <a:avLst/>
          </a:prstGeom>
          <a:ln w="3048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0268712" y="3730752"/>
            <a:ext cx="374904" cy="256032"/>
          </a:xfrm>
          <a:prstGeom prst="line">
            <a:avLst/>
          </a:prstGeom>
          <a:ln w="3048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8563356" y="4384548"/>
            <a:ext cx="82296" cy="82296"/>
          </a:xfrm>
          <a:prstGeom prst="ellipse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901684" y="4320540"/>
            <a:ext cx="82296" cy="82296"/>
          </a:xfrm>
          <a:prstGeom prst="ellipse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249156" y="4283964"/>
            <a:ext cx="82296" cy="82296"/>
          </a:xfrm>
          <a:prstGeom prst="ellipse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605772" y="4247388"/>
            <a:ext cx="82296" cy="82296"/>
          </a:xfrm>
          <a:prstGeom prst="ellipse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934956" y="4137660"/>
            <a:ext cx="82296" cy="82296"/>
          </a:xfrm>
          <a:prstGeom prst="ellipse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27564" y="3945636"/>
            <a:ext cx="82296" cy="82296"/>
          </a:xfrm>
          <a:prstGeom prst="ellipse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 flipV="1">
            <a:off x="8302752" y="3730752"/>
            <a:ext cx="2340864" cy="859536"/>
          </a:xfrm>
          <a:prstGeom prst="line">
            <a:avLst/>
          </a:prstGeom>
          <a:ln w="15875">
            <a:solidFill>
              <a:srgbClr val="148D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8211312" y="4498848"/>
            <a:ext cx="182880" cy="182880"/>
          </a:xfrm>
          <a:prstGeom prst="ellipse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565892" y="3653028"/>
            <a:ext cx="155448" cy="155448"/>
          </a:xfrm>
          <a:prstGeom prst="ellipse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808208" y="2194560"/>
            <a:ext cx="219456" cy="219456"/>
          </a:xfrm>
          <a:prstGeom prst="ellipse">
            <a:avLst/>
          </a:prstGeom>
          <a:solidFill>
            <a:srgbClr val="F1F5F9"/>
          </a:solidFill>
          <a:ln w="19050">
            <a:solidFill>
              <a:srgbClr val="477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876788" y="2263140"/>
            <a:ext cx="82296" cy="82296"/>
          </a:xfrm>
          <a:prstGeom prst="ellipse">
            <a:avLst/>
          </a:prstGeom>
          <a:solidFill>
            <a:srgbClr val="477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19872" y="4809744"/>
            <a:ext cx="137160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当前观测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74936" y="1947672"/>
            <a:ext cx="164592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477CCC"/>
                </a:solidFill>
                <a:latin typeface="Noto Sans CJK SC"/>
              </a:defRPr>
            </a:pPr>
            <a:r>
              <a:t>远程图像目标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57616" y="2862072"/>
            <a:ext cx="18288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477CCC"/>
                </a:solidFill>
                <a:latin typeface="Noto Sans CJK SC"/>
              </a:defRPr>
            </a:pPr>
            <a:r>
              <a:t>全局目标方向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28632" y="4553712"/>
            <a:ext cx="1645920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48D91"/>
                </a:solidFill>
                <a:latin typeface="Noto Sans CJK SC"/>
              </a:defRPr>
            </a:pPr>
            <a:r>
              <a:t>8 步航点方向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74152" y="5266944"/>
            <a:ext cx="324612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2748A"/>
                </a:solidFill>
                <a:latin typeface="Noto Sans CJK SC"/>
              </a:defRPr>
            </a:pPr>
            <a:r>
              <a:t>方法示意 · 非实验轨迹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85800" y="6108192"/>
            <a:ext cx="10817352" cy="0"/>
          </a:xfrm>
          <a:prstGeom prst="line">
            <a:avLst/>
          </a:prstGeom>
          <a:ln w="10160">
            <a:solidFill>
              <a:srgbClr val="DC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85800" y="6318504"/>
            <a:ext cx="7315200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汇报周期  2026.10.19—10.26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69880" y="6318504"/>
            <a:ext cx="914400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2748A"/>
                </a:solidFill>
                <a:latin typeface="Noto Sans CJK SC"/>
              </a:defRPr>
            </a:pPr>
            <a:r>
              <a:t>研究进展  /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85216"/>
            <a:ext cx="54864" cy="201168"/>
          </a:xfrm>
          <a:prstGeom prst="rect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48640"/>
            <a:ext cx="82296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研究问题 / 方法框架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87552"/>
            <a:ext cx="10972800" cy="5486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B46"/>
                </a:solidFill>
                <a:latin typeface="Noto Sans CJK SC"/>
              </a:defRPr>
            </a:pPr>
            <a:r>
              <a:t>如何用远程目标，引导短时导航动作？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01368"/>
            <a:ext cx="5303520" cy="694944"/>
          </a:xfrm>
          <a:prstGeom prst="roundRect">
            <a:avLst>
              <a:gd name="adj" fmla="val 12000"/>
            </a:avLst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901952"/>
            <a:ext cx="4937760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477CCC"/>
                </a:solidFill>
                <a:latin typeface="Noto Sans CJK SC"/>
              </a:defRPr>
            </a:pPr>
            <a:r>
              <a:t>全局目标方位：目标在哪里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212848"/>
            <a:ext cx="493776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远程定位信息，未必与当前可行路径一致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801368"/>
            <a:ext cx="5303520" cy="694944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01952"/>
            <a:ext cx="4937760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8D91"/>
                </a:solidFill>
                <a:latin typeface="Noto Sans CJK SC"/>
              </a:defRPr>
            </a:pPr>
            <a:r>
              <a:t>局部航点方向：未来 8 步往哪里走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212848"/>
            <a:ext cx="493776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短时路径信息，急转弯时可能出现严重预测误差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63824"/>
            <a:ext cx="1188720" cy="1033271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300984"/>
            <a:ext cx="1042416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2B46"/>
                </a:solidFill>
                <a:latin typeface="Noto Sans CJK SC"/>
              </a:defRPr>
            </a:pPr>
            <a:r>
              <a:t>视觉输入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3675887"/>
            <a:ext cx="1078992" cy="4754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观测 / 历史</a:t>
            </a:r>
          </a:p>
          <a:p>
            <a:pPr algn="ctr"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目标图像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4560" y="3163824"/>
            <a:ext cx="1280160" cy="1033271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67712" y="3300984"/>
            <a:ext cx="1133856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2B46"/>
                </a:solidFill>
                <a:latin typeface="Noto Sans CJK SC"/>
              </a:defRPr>
            </a:pPr>
            <a:r>
              <a:t>DINOv2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9424" y="3675887"/>
            <a:ext cx="1170431" cy="4754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视觉特征</a:t>
            </a:r>
          </a:p>
          <a:p>
            <a:pPr algn="ctr"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冻结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22191" y="2779776"/>
            <a:ext cx="1417320" cy="877824"/>
          </a:xfrm>
          <a:prstGeom prst="roundRect">
            <a:avLst>
              <a:gd name="adj" fmla="val 12000"/>
            </a:avLst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95344" y="2916936"/>
            <a:ext cx="1271016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477CCC"/>
                </a:solidFill>
                <a:latin typeface="Noto Sans CJK SC"/>
              </a:defRPr>
            </a:pPr>
            <a:r>
              <a:t>Goal 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7055" y="3291840"/>
            <a:ext cx="1307592" cy="4754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d_goal，κ_goal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22191" y="3813048"/>
            <a:ext cx="1417320" cy="877824"/>
          </a:xfrm>
          <a:prstGeom prst="roundRect">
            <a:avLst>
              <a:gd name="adj" fmla="val 12000"/>
            </a:avLst>
          </a:prstGeom>
          <a:solidFill>
            <a:srgbClr val="DF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95344" y="3950208"/>
            <a:ext cx="1271016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WP Head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77055" y="4325112"/>
            <a:ext cx="1307592" cy="4754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d_wp，κ_wp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22776" y="4736592"/>
            <a:ext cx="173736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148D91"/>
                </a:solidFill>
                <a:latin typeface="Noto Sans CJK SC"/>
              </a:defRPr>
            </a:pPr>
            <a:r>
              <a:t>本轮优化方向头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3273552"/>
            <a:ext cx="1161288" cy="932688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96712" y="3410712"/>
            <a:ext cx="1014984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2B46"/>
                </a:solidFill>
                <a:latin typeface="Noto Sans CJK SC"/>
              </a:defRPr>
            </a:pPr>
            <a:r>
              <a:t>κ 融合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78424" y="3785616"/>
            <a:ext cx="1051560" cy="4754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置信度加权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05472" y="3273552"/>
            <a:ext cx="1170432" cy="932688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78624" y="3410712"/>
            <a:ext cx="1024128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2B46"/>
                </a:solidFill>
                <a:latin typeface="Noto Sans CJK SC"/>
              </a:defRPr>
            </a:pPr>
            <a:r>
              <a:t>位置估计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0336" y="3785616"/>
            <a:ext cx="1060704" cy="4754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距离 × 方向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78240" y="3273552"/>
            <a:ext cx="1335024" cy="932688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51392" y="3410712"/>
            <a:ext cx="118872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2B46"/>
                </a:solidFill>
                <a:latin typeface="Noto Sans CJK SC"/>
              </a:defRPr>
            </a:pPr>
            <a:r>
              <a:t>E-oracle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3104" y="3785616"/>
            <a:ext cx="1225295" cy="4754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扩散策略 · 冻结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06456" y="3273552"/>
            <a:ext cx="1005840" cy="932688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79608" y="3410712"/>
            <a:ext cx="859536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2B46"/>
                </a:solidFill>
                <a:latin typeface="Noto Sans CJK SC"/>
              </a:defRPr>
            </a:pPr>
            <a:r>
              <a:t>动作输出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61320" y="3785616"/>
            <a:ext cx="896112" cy="4754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短时航点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874519" y="3675887"/>
            <a:ext cx="320041" cy="0"/>
          </a:xfrm>
          <a:prstGeom prst="line">
            <a:avLst/>
          </a:prstGeom>
          <a:ln w="16510">
            <a:solidFill>
              <a:srgbClr val="62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474720" y="3675887"/>
            <a:ext cx="164592" cy="0"/>
          </a:xfrm>
          <a:prstGeom prst="line">
            <a:avLst/>
          </a:prstGeom>
          <a:ln w="16510">
            <a:solidFill>
              <a:srgbClr val="6274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639312" y="3218688"/>
            <a:ext cx="0" cy="1033272"/>
          </a:xfrm>
          <a:prstGeom prst="line">
            <a:avLst/>
          </a:prstGeom>
          <a:ln w="16510">
            <a:solidFill>
              <a:srgbClr val="6274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639312" y="3218688"/>
            <a:ext cx="182879" cy="0"/>
          </a:xfrm>
          <a:prstGeom prst="line">
            <a:avLst/>
          </a:prstGeom>
          <a:ln w="16510">
            <a:solidFill>
              <a:srgbClr val="477CC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639312" y="4251960"/>
            <a:ext cx="182879" cy="0"/>
          </a:xfrm>
          <a:prstGeom prst="line">
            <a:avLst/>
          </a:prstGeom>
          <a:ln w="16510">
            <a:solidFill>
              <a:srgbClr val="148D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239512" y="3218688"/>
            <a:ext cx="192024" cy="0"/>
          </a:xfrm>
          <a:prstGeom prst="line">
            <a:avLst/>
          </a:prstGeom>
          <a:ln w="16510">
            <a:solidFill>
              <a:srgbClr val="477C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431536" y="3218688"/>
            <a:ext cx="0" cy="1033272"/>
          </a:xfrm>
          <a:prstGeom prst="line">
            <a:avLst/>
          </a:prstGeom>
          <a:ln w="16510">
            <a:solidFill>
              <a:srgbClr val="6274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239512" y="4251960"/>
            <a:ext cx="192024" cy="0"/>
          </a:xfrm>
          <a:prstGeom prst="line">
            <a:avLst/>
          </a:prstGeom>
          <a:ln w="1651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431536" y="3739896"/>
            <a:ext cx="192024" cy="0"/>
          </a:xfrm>
          <a:prstGeom prst="line">
            <a:avLst/>
          </a:prstGeom>
          <a:ln w="16510">
            <a:solidFill>
              <a:srgbClr val="62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784848" y="3739896"/>
            <a:ext cx="420624" cy="0"/>
          </a:xfrm>
          <a:prstGeom prst="line">
            <a:avLst/>
          </a:prstGeom>
          <a:ln w="19050">
            <a:solidFill>
              <a:srgbClr val="148D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375904" y="3739896"/>
            <a:ext cx="402336" cy="0"/>
          </a:xfrm>
          <a:prstGeom prst="line">
            <a:avLst/>
          </a:prstGeom>
          <a:ln w="16510">
            <a:solidFill>
              <a:srgbClr val="62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113264" y="3739896"/>
            <a:ext cx="393192" cy="0"/>
          </a:xfrm>
          <a:prstGeom prst="line">
            <a:avLst/>
          </a:prstGeom>
          <a:ln w="16510">
            <a:solidFill>
              <a:srgbClr val="62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2194560" y="4736592"/>
            <a:ext cx="1280160" cy="539496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95144" y="4873752"/>
            <a:ext cx="1097280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2B46"/>
                </a:solidFill>
                <a:latin typeface="Noto Sans CJK SC"/>
              </a:defRPr>
            </a:pPr>
            <a:r>
              <a:t>B 距离预测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271016" y="4197096"/>
            <a:ext cx="0" cy="813816"/>
          </a:xfrm>
          <a:prstGeom prst="line">
            <a:avLst/>
          </a:prstGeom>
          <a:ln w="13970">
            <a:solidFill>
              <a:srgbClr val="6274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271016" y="5010912"/>
            <a:ext cx="923544" cy="0"/>
          </a:xfrm>
          <a:prstGeom prst="line">
            <a:avLst/>
          </a:prstGeom>
          <a:ln w="13970">
            <a:solidFill>
              <a:srgbClr val="62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474720" y="5010912"/>
            <a:ext cx="4315968" cy="0"/>
          </a:xfrm>
          <a:prstGeom prst="line">
            <a:avLst/>
          </a:prstGeom>
          <a:ln w="13970">
            <a:solidFill>
              <a:srgbClr val="6274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790688" y="4206240"/>
            <a:ext cx="0" cy="804672"/>
          </a:xfrm>
          <a:prstGeom prst="line">
            <a:avLst/>
          </a:prstGeom>
          <a:ln w="13970">
            <a:solidFill>
              <a:srgbClr val="62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650992" y="4718304"/>
            <a:ext cx="1280160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预测距离 · 冻结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23560" y="2715768"/>
            <a:ext cx="585216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42B46"/>
                </a:solidFill>
                <a:latin typeface="Noto Sans CJK SC"/>
              </a:defRPr>
            </a:pPr>
            <a:r>
              <a:t>d_blend = normalize(κ_goal × d_goal + κ_wp × d_wp)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5800" y="5504688"/>
            <a:ext cx="10826496" cy="466344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9536" y="5605272"/>
            <a:ext cx="10424160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8D91"/>
                </a:solidFill>
                <a:latin typeface="Noto Sans CJK SC"/>
              </a:defRPr>
            </a:pPr>
            <a:r>
              <a:t>核心思路：保持主策略冻结，改善方向引导，再检验下游条件收益。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85800" y="6190488"/>
            <a:ext cx="10817352" cy="0"/>
          </a:xfrm>
          <a:prstGeom prst="line">
            <a:avLst/>
          </a:prstGeom>
          <a:ln w="10160">
            <a:solidFill>
              <a:srgbClr val="DC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85800" y="6355080"/>
            <a:ext cx="987552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评估：use_cm = 100 × (ADE_masked − ADE_conditioned)；越大越好，不等同于导航成功率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69880" y="6355080"/>
            <a:ext cx="100584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2748A"/>
                </a:solidFill>
                <a:latin typeface="Noto Sans CJK SC"/>
              </a:defRPr>
            </a:pPr>
            <a:r>
              <a:t>方法框架 / 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