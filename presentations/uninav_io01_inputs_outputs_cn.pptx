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UniNav精读第1页：输入输出与数据格式，独立单页。保留原uninav01_architecture_cn.pptx，不覆盖、不合并、不改已有页码。</a:t>
            </a:r>
          </a:p>
          <a:p>
            <a:r>
              <a:t>来源：用户上传2608.03244v1.pdf，UniNav: A Unified World-Action Diffusion Model for Visual Navigation，§3.1与§3.2（PDF第3–4页）、§4.1（第5页）。</a:t>
            </a:r>
          </a:p>
          <a:p>
            <a:r>
              <a:t>默认C=3历史包含当前帧，K=6未来图像/航点，所有图像resize256×192；另有一张目标图像。图上t±索引为论文的采样时刻示意，不声称原视频相邻帧、固定秒数或FPS。按角色有3+1+6个图像槽，不声称必须10张不同的原始图片，目标图不默认等于第6未来帧。</a:t>
            </a:r>
          </a:p>
          <a:p>
            <a:r>
              <a:t>Full输出包括6帧未来RGB与K×3连续轨迹。每行(Δx,Δy,Δψ)是局部坐标系下的平移与yaw变化；不把它讲成仅yaw积分。正文未充分说明相对前一步/相对当前、归一化或具体单位，因此本页不补造这些细节。矩阵是符号占位，不是测量/预测数值，也不代表实际CSV或NPZ文件格式。</a:t>
            </a:r>
          </a:p>
          <a:p>
            <a:r>
              <a:t>本页只说明外部任务输入输出；不涉及VAE特征维度、视觉token数量、DA3、几何token、噪声或损失，留后页。相机token是联合训练的重要监督对象，在架构/训练页说明，不把本页理解为完整内部网络接口清单。</a:t>
            </a:r>
          </a:p>
          <a:p>
            <a:r>
              <a:t>训练时真实未来画面和真实轨迹用作监督；推理时仅可见历史与目标，不输入真实未来。Fast与Full有独立训练设计，Fast可省未来视频生成，后页讲解；本页明确以Full默认设置为例。</a:t>
            </a:r>
          </a:p>
          <a:p>
            <a:r>
              <a:t>所有图框均为可编辑占位图标，不是实验照片。未将用户上传论文或数据图片复制上传至GitHub；只有自绘页面与备注引用。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UniNav 精读 / 任务与数据格式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B46"/>
                </a:solidFill>
                <a:latin typeface="Noto Sans CJK SC"/>
              </a:defRPr>
            </a:pPr>
            <a:r>
              <a:t>模型看什么，又要生成什么？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以 UniNav-Full 默认设置为例：图像是视觉信息，航点是连续数值，不是轨迹图片。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498348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B46"/>
                </a:solidFill>
                <a:latin typeface="Noto Sans CJK SC"/>
              </a:defRPr>
            </a:pPr>
            <a:r>
              <a:t>输入：已知的历史与目标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04288"/>
            <a:ext cx="5202936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8D91"/>
                </a:solidFill>
                <a:latin typeface="Noto Sans CJK SC"/>
              </a:defRPr>
            </a:pPr>
            <a:r>
              <a:t>输出：未来画面与运动轨迹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34056"/>
            <a:ext cx="4983480" cy="305409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734056"/>
            <a:ext cx="5202936" cy="305409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89504"/>
            <a:ext cx="452628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3 帧历史观测，包含当前帧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74136"/>
            <a:ext cx="11887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1116482" y="3543300"/>
            <a:ext cx="273406" cy="182697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89888" y="3543300"/>
            <a:ext cx="202082" cy="128564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91970" y="3583899"/>
            <a:ext cx="154534" cy="87965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46504" y="3583899"/>
            <a:ext cx="166420" cy="142098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834262"/>
            <a:ext cx="1188720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1">
                <a:solidFill>
                  <a:srgbClr val="477CCC"/>
                </a:solidFill>
                <a:latin typeface="Noto Sans CJK SC"/>
              </a:defRPr>
            </a:pPr>
            <a:r>
              <a:t>I(t−2)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86584" y="3374136"/>
            <a:ext cx="11887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2588666" y="3543300"/>
            <a:ext cx="273406" cy="182697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62072" y="3543300"/>
            <a:ext cx="202082" cy="128564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64154" y="3583899"/>
            <a:ext cx="154533" cy="87965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18687" y="3583899"/>
            <a:ext cx="166421" cy="142098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86584" y="3834262"/>
            <a:ext cx="1188720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1">
                <a:solidFill>
                  <a:srgbClr val="477CCC"/>
                </a:solidFill>
                <a:latin typeface="Noto Sans CJK SC"/>
              </a:defRPr>
            </a:pPr>
            <a:r>
              <a:t>I(t−1)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58768" y="3374136"/>
            <a:ext cx="11887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4060850" y="3543300"/>
            <a:ext cx="273406" cy="182697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334256" y="3543300"/>
            <a:ext cx="202082" cy="128564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36338" y="3583899"/>
            <a:ext cx="154534" cy="87965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90872" y="3583899"/>
            <a:ext cx="166420" cy="142098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858768" y="3834262"/>
            <a:ext cx="1188720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1">
                <a:solidFill>
                  <a:srgbClr val="477CCC"/>
                </a:solidFill>
                <a:latin typeface="Noto Sans CJK SC"/>
              </a:defRPr>
            </a:pPr>
            <a:r>
              <a:t>I(t) 当前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4206240"/>
            <a:ext cx="4251960" cy="0"/>
          </a:xfrm>
          <a:prstGeom prst="line">
            <a:avLst/>
          </a:prstGeom>
          <a:ln w="12700">
            <a:solidFill>
              <a:srgbClr val="477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4315968"/>
            <a:ext cx="452628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RGB 图像 · 默认分辨率 256 × 192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809744"/>
            <a:ext cx="11887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1116482" y="4978907"/>
            <a:ext cx="273406" cy="1826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89888" y="4978907"/>
            <a:ext cx="202082" cy="1285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591970" y="5019507"/>
            <a:ext cx="154534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46504" y="5019507"/>
            <a:ext cx="166420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5269870"/>
            <a:ext cx="1188720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1">
                <a:solidFill>
                  <a:srgbClr val="148D91"/>
                </a:solidFill>
                <a:latin typeface="Noto Sans CJK SC"/>
              </a:defRPr>
            </a:pPr>
            <a:r>
              <a:t>I(goal)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86584" y="4818888"/>
            <a:ext cx="29718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另外输入 1 张目标图像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86584" y="5257800"/>
            <a:ext cx="29718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表示目的地，不默认等于未来第 6 帧。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0" y="4151376"/>
            <a:ext cx="640080" cy="0"/>
          </a:xfrm>
          <a:prstGeom prst="line">
            <a:avLst/>
          </a:prstGeom>
          <a:ln w="2286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0" y="3776472"/>
            <a:ext cx="64008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8D91"/>
                </a:solidFill>
                <a:latin typeface="Noto Sans CJK SC"/>
              </a:defRPr>
            </a:pPr>
            <a:r>
              <a:t>预测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889504"/>
            <a:ext cx="474573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A｜6 帧未来 RGB 画面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60" y="3374136"/>
            <a:ext cx="667512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6651437" y="3543300"/>
            <a:ext cx="153527" cy="182697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04964" y="3543300"/>
            <a:ext cx="113477" cy="128564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918441" y="3583899"/>
            <a:ext cx="86777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005218" y="3583899"/>
            <a:ext cx="93452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37960" y="3834262"/>
            <a:ext cx="667512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700" b="1">
                <a:solidFill>
                  <a:srgbClr val="148D91"/>
                </a:solidFill>
                <a:latin typeface="Noto Sans CJK SC"/>
              </a:defRPr>
            </a:pPr>
            <a:r>
              <a:t>I(t+1)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24344" y="3374136"/>
            <a:ext cx="667512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7437821" y="3543300"/>
            <a:ext cx="153527" cy="182697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591348" y="3543300"/>
            <a:ext cx="113477" cy="128564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704825" y="3583899"/>
            <a:ext cx="86777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791602" y="3583899"/>
            <a:ext cx="93452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324344" y="3834262"/>
            <a:ext cx="667512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700" b="1">
                <a:solidFill>
                  <a:srgbClr val="148D91"/>
                </a:solidFill>
                <a:latin typeface="Noto Sans CJK SC"/>
              </a:defRPr>
            </a:pPr>
            <a:r>
              <a:t>I(t+2)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10728" y="3374136"/>
            <a:ext cx="667512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8224205" y="3543300"/>
            <a:ext cx="153527" cy="182697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377732" y="3543300"/>
            <a:ext cx="113477" cy="128564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491209" y="3583899"/>
            <a:ext cx="86777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577986" y="3583899"/>
            <a:ext cx="93452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110728" y="3834262"/>
            <a:ext cx="667512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700" b="1">
                <a:solidFill>
                  <a:srgbClr val="148D91"/>
                </a:solidFill>
                <a:latin typeface="Noto Sans CJK SC"/>
              </a:defRPr>
            </a:pPr>
            <a:r>
              <a:t>I(t+3)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897112" y="3374136"/>
            <a:ext cx="667512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V="1">
            <a:off x="9010589" y="3543300"/>
            <a:ext cx="153527" cy="182697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164116" y="3543300"/>
            <a:ext cx="113477" cy="128564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277593" y="3583899"/>
            <a:ext cx="86777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364370" y="3583899"/>
            <a:ext cx="93452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897112" y="3834262"/>
            <a:ext cx="667512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700" b="1">
                <a:solidFill>
                  <a:srgbClr val="148D91"/>
                </a:solidFill>
                <a:latin typeface="Noto Sans CJK SC"/>
              </a:defRPr>
            </a:pPr>
            <a:r>
              <a:t>I(t+4)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83496" y="3374136"/>
            <a:ext cx="667512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9796973" y="3543300"/>
            <a:ext cx="153527" cy="182697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950500" y="3543300"/>
            <a:ext cx="113477" cy="128564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063977" y="3583899"/>
            <a:ext cx="86777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150754" y="3583899"/>
            <a:ext cx="93452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683496" y="3834262"/>
            <a:ext cx="667512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700" b="1">
                <a:solidFill>
                  <a:srgbClr val="148D91"/>
                </a:solidFill>
                <a:latin typeface="Noto Sans CJK SC"/>
              </a:defRPr>
            </a:pPr>
            <a:r>
              <a:t>I(t+5)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469880" y="3374136"/>
            <a:ext cx="667512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10583357" y="3543300"/>
            <a:ext cx="153527" cy="182697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736884" y="3543300"/>
            <a:ext cx="113477" cy="128564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850361" y="3583899"/>
            <a:ext cx="86777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937138" y="3583899"/>
            <a:ext cx="93452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0469880" y="3834262"/>
            <a:ext cx="667512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700" b="1">
                <a:solidFill>
                  <a:srgbClr val="148D91"/>
                </a:solidFill>
                <a:latin typeface="Noto Sans CJK SC"/>
              </a:defRPr>
            </a:pPr>
            <a:r>
              <a:t>I(t+6)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7960" y="4315968"/>
            <a:ext cx="474573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B｜6 × 3 航点矩阵：每点 3 个量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7059168" y="4736592"/>
          <a:ext cx="237744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"/>
                <a:gridCol w="792480"/>
                <a:gridCol w="792480"/>
              </a:tblGrid>
              <a:tr h="1554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Δx1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Δy1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Δψ1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Δx2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Δy2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Δψ2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Δx3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Δy3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Δψ3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Δx4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Δy4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Δψ4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Δx5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Δy5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Δψ5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Δx6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Δy6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Δψ6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6537960" y="4736592"/>
            <a:ext cx="4572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点1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37960" y="4892040"/>
            <a:ext cx="4572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点2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37960" y="5047488"/>
            <a:ext cx="4572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点3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37960" y="5202936"/>
            <a:ext cx="4572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点4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37960" y="5358383"/>
            <a:ext cx="4572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点5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37960" y="5513831"/>
            <a:ext cx="4572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点6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65208" y="4764024"/>
            <a:ext cx="16916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Δx、Δy：平移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65208" y="5175504"/>
            <a:ext cx="16916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Δψ：航向变化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65208" y="5504688"/>
            <a:ext cx="169164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均在局部坐标系中描述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85800" y="6080760"/>
            <a:ext cx="10826496" cy="475488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9536" y="6208776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训练：真实未来画面与轨迹用于监督；推理：只给历史与目标，由模型生成未知未来。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6665976"/>
            <a:ext cx="100584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来源：UniNav §3.1、§3.2、§4.1；图框为格式示意，矩阵仅示变量，不代表实验数值。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78440" y="6665976"/>
            <a:ext cx="1133856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输入输出 /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