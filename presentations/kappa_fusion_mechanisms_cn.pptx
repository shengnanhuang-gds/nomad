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独立新增页kappa_fusion_mechanisms_cn，不改合并稿。用户要求解释κ调整机制与证据边界。</a:t>
            </a:r>
          </a:p>
          <a:p>
            <a:r>
              <a:t>来源：train/logs/revalidation/kappa_fusion_summary.txt（含10/26晚间总结）、kappa_gate_sweep/summary.txt、p5b_harmful_predictor/summary.txt、run_p5b_harmful_predictor.py、adaptive_blend.py。</a:t>
            </a:r>
          </a:p>
          <a:p>
            <a:r>
              <a:t>普通融合：normalize(κg*dg+κw*dw)，dg/dw为单位方向，κ是von Mises方向集中度，不是角误差、不保证校准。位置条件仍为冻结B距离乘融合方向；没有重训扩散导航策略。</a:t>
            </a:r>
          </a:p>
          <a:p>
            <a:r>
              <a:t>① kappa_fusion_summary晚间总结记载turnhard wp×1.3约2.93，几乎无增益；此行是摘要精度，原始scale逐帧表不在当前文件，故只说本次调整未明显改善，不宣称所有缩放无效。</a:t>
            </a:r>
          </a:p>
          <a:p>
            <a:r>
              <a:t>② adaptive_blend.suppress_from_wp_turn、blend_suppress：s=clip((θ-35)/20,0,1)，turn_weight=0,cap=1,wp_scale=1；κw′=κw*(1-s)，κg不变，重新单位化。θ=acos(clip(dg·dw,-1,1))，转成度。θ40则s.25、45则.5、50则.75。θ≤35原融合、θ≥55goalonly。阈值来自GT WP error的oracle扫参，并未证明适用于部署时的goal-WP分歧。同组ctx2 ordinaryκ2.80 CI[2.42,3.18]，deploy门控2.24 CI[1.78,2.69]，goal1.95；oracle gate3.16不是可部署结果。本页不给出本无配对区间的显著性断言。</a:t>
            </a:r>
          </a:p>
          <a:p>
            <a:r>
              <a:t>③ y=1[ADEblend&gt;ADEgoal]。ADE为预测轨迹与GT各步欧氏距离平均，再对采样轨迹平均，非best-of-N。模型是特征标准化+带截距逻辑回归，BCE加L2=2；按轨迹分5折生成折外概率。实际特征theta、kw/(kw+kg)、log1p(kw)、log1p(kg)、GT turn_strict、GT yaw8、spread、GT turn_loose、GT endpoint_lateral；部分含真实未来，不能称全可部署。AUC .520不等于52%分类准确率。</a:t>
            </a:r>
          </a:p>
          <a:p>
            <a:r>
              <a:t>在同一组折外结果上扫描阈值.05~.95选收益最佳，选p&gt;=.60用goal但frac_goal=0，故结果与κ同2.61999，goal2.034。它是缓存轨迹ADE反事实选择，非重新闭环实机执行、非独立测试阈值。未证明所有门控不可行。</a:t>
            </a:r>
          </a:p>
          <a:p>
            <a:r>
              <a:t>P5c ridge无截距且目标未居中影响输出，当前不作为负结果证据。约束fallback在另一proxy协议可从2.62到2.73，不能声称所有融合改动均无效；本页结论仅限展示的三项。</a:t>
            </a:r>
          </a:p>
          <a:p>
            <a:r>
              <a:t>use_cm=100*(masked_ADE-conditioned_ADE)，收益越高越好，不等于绝对ADE或成功率；各行基线不同不得跨行排序。ctx2普通κ相对goal收益差.85cm，不宣称它是全部由κ权重形式独立造成，验证权重形式本身仍需等权等对照。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50292" cy="210312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02336"/>
            <a:ext cx="100584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融合消融 / 三种已尝试的调整机制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B46"/>
                </a:solidFill>
                <a:latin typeface="Noto Sans CJK SC"/>
              </a:defRPr>
            </a:pPr>
            <a:r>
              <a:t>调整 κ 融合，是否带来额外收益？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81912"/>
            <a:ext cx="10853928" cy="941832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00784"/>
            <a:ext cx="10424160" cy="2926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B46"/>
                </a:solidFill>
                <a:latin typeface="Noto Sans CJK SC"/>
              </a:defRPr>
            </a:pPr>
            <a:r>
              <a:t>原方法：融合方向 = 单位化（κg × 目标方向 + κw × 航点方向）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21408"/>
            <a:ext cx="1042416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κg 是目标方向集中度，κw 是航点方向集中度，均用作权重；单位化：长度变成 1，只保留方向。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182880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62748A"/>
                </a:solidFill>
                <a:latin typeface="Noto Sans CJK SC"/>
              </a:defRPr>
            </a:pPr>
            <a:r>
              <a:t>改动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52344" y="2715768"/>
            <a:ext cx="589788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62748A"/>
                </a:solidFill>
                <a:latin typeface="Noto Sans CJK SC"/>
              </a:defRPr>
            </a:pPr>
            <a:r>
              <a:t>具体怎么改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7152" y="2715768"/>
            <a:ext cx="210312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2748A"/>
                </a:solidFill>
                <a:latin typeface="Noto Sans CJK SC"/>
              </a:defRPr>
            </a:pPr>
            <a:r>
              <a:t>收益 cm（越高越好）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" y="3072384"/>
            <a:ext cx="10853928" cy="941832"/>
          </a:xfrm>
          <a:prstGeom prst="roundRect">
            <a:avLst>
              <a:gd name="adj" fmla="val 12000"/>
            </a:avLst>
          </a:prstGeom>
          <a:solidFill>
            <a:srgbClr val="EF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4142232"/>
            <a:ext cx="10853928" cy="941832"/>
          </a:xfrm>
          <a:prstGeom prst="roundRect">
            <a:avLst>
              <a:gd name="adj" fmla="val 12000"/>
            </a:avLst>
          </a:prstGeom>
          <a:solidFill>
            <a:srgbClr val="EF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7512" y="5212080"/>
            <a:ext cx="10853928" cy="941832"/>
          </a:xfrm>
          <a:prstGeom prst="roundRect">
            <a:avLst>
              <a:gd name="adj" fmla="val 12000"/>
            </a:avLst>
          </a:prstGeom>
          <a:solidFill>
            <a:srgbClr val="EF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209544"/>
            <a:ext cx="173736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2B46"/>
                </a:solidFill>
                <a:latin typeface="Noto Sans CJK SC"/>
              </a:defRPr>
            </a:pPr>
            <a:r>
              <a:t>① 加大 WP 权重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621024"/>
            <a:ext cx="173736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不训练新模型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52344" y="3191256"/>
            <a:ext cx="608076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2B46"/>
                </a:solidFill>
                <a:latin typeface="Noto Sans CJK SC"/>
              </a:defRPr>
            </a:pPr>
            <a:r>
              <a:t>κw′ = 1.3 × κw；κg 和两种预测方向保持原样。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52344" y="3602736"/>
            <a:ext cx="608076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再代入原融合公式：让结果整体更偏向航点方向（WP）。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3209544"/>
            <a:ext cx="205740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8D91"/>
                </a:solidFill>
                <a:latin typeface="Noto Sans CJK SC"/>
              </a:defRPr>
            </a:pPr>
            <a:r>
              <a:t>2.93 → 约 2.93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3621024"/>
            <a:ext cx="205740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turnhard：几乎不变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279392"/>
            <a:ext cx="173736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50" b="1">
                <a:solidFill>
                  <a:srgbClr val="142B46"/>
                </a:solidFill>
                <a:latin typeface="Noto Sans CJK SC"/>
              </a:defRPr>
            </a:pPr>
            <a:r>
              <a:t>② 分歧大就少信 WP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690872"/>
            <a:ext cx="173736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748A"/>
                </a:solidFill>
                <a:latin typeface="Noto Sans CJK SC"/>
              </a:defRPr>
            </a:pPr>
            <a:r>
              <a:t>s 为抑制比例，范围 0～1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52344" y="4242816"/>
            <a:ext cx="608076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50" b="1">
                <a:solidFill>
                  <a:srgbClr val="142B46"/>
                </a:solidFill>
                <a:latin typeface="Noto Sans CJK SC"/>
              </a:defRPr>
            </a:pPr>
            <a:r>
              <a:t>θ = 目标方向与航点方向的夹角；s = 限制到 0～1［(θ − 35°) / 20°］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52344" y="4553712"/>
            <a:ext cx="608076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50" b="0">
                <a:solidFill>
                  <a:srgbClr val="142B46"/>
                </a:solidFill>
                <a:latin typeface="Noto Sans CJK SC"/>
              </a:defRPr>
            </a:pPr>
            <a:r>
              <a:t>κw′ = (1 − s) × κw；θ≤35° 不抑制，45° 减半，θ≥55° 只用目标。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52344" y="4855464"/>
            <a:ext cx="608076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748A"/>
                </a:solidFill>
                <a:latin typeface="Noto Sans CJK SC"/>
              </a:defRPr>
            </a:pPr>
            <a:r>
              <a:t>35° / 55° 原按真实 WP 误差选取，直接换成预测分歧后未奏效。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2" y="4279392"/>
            <a:ext cx="205740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477CCC"/>
                </a:solidFill>
                <a:latin typeface="Noto Sans CJK SC"/>
              </a:defRPr>
            </a:pPr>
            <a:r>
              <a:t>2.80 → 2.24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2" y="4690872"/>
            <a:ext cx="205740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ctx2：收益下降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5349240"/>
            <a:ext cx="173736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50" b="1">
                <a:solidFill>
                  <a:srgbClr val="142B46"/>
                </a:solidFill>
                <a:latin typeface="Noto Sans CJK SC"/>
              </a:defRPr>
            </a:pPr>
            <a:r>
              <a:t>③ 预测是否只用目标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5760720"/>
            <a:ext cx="173736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训练二分类器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52344" y="5312664"/>
            <a:ext cx="608076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50" b="0">
                <a:solidFill>
                  <a:srgbClr val="142B46"/>
                </a:solidFill>
                <a:latin typeface="Noto Sans CJK SC"/>
              </a:defRPr>
            </a:pPr>
            <a:r>
              <a:t>标签：若融合轨迹误差 &gt; 只用目标的轨迹误差，标为“有害”；否则为 0。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52344" y="5623560"/>
            <a:ext cx="608076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50" b="0">
                <a:solidFill>
                  <a:srgbClr val="142B46"/>
                </a:solidFill>
                <a:latin typeface="Noto Sans CJK SC"/>
              </a:defRPr>
            </a:pPr>
            <a:r>
              <a:t>用方向分歧、κ 等特征预测有害概率 p；p≥0.60 则只用目标，否则 κ 融合。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52344" y="5925312"/>
            <a:ext cx="608076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748A"/>
                </a:solidFill>
                <a:latin typeface="Noto Sans CJK SC"/>
              </a:defRPr>
            </a:pPr>
            <a:r>
              <a:t>按轨迹分 5 折；部分特征含真实未来信息，仅离线分析。区分能力 AUC=0.52（0.5 为随机排序）。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17152" y="5349240"/>
            <a:ext cx="205740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8D91"/>
                </a:solidFill>
                <a:latin typeface="Noto Sans CJK SC"/>
              </a:defRPr>
            </a:pPr>
            <a:r>
              <a:t>2.62 → 2.62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17152" y="5760720"/>
            <a:ext cx="205740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最终没有样本退回目标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" y="6272784"/>
            <a:ext cx="10853928" cy="301752"/>
          </a:xfrm>
          <a:prstGeom prst="roundRect">
            <a:avLst>
              <a:gd name="adj" fmla="val 12000"/>
            </a:avLst>
          </a:prstGeom>
          <a:solidFill>
            <a:srgbClr val="E0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" y="6318504"/>
            <a:ext cx="1051560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结论：这些调整未带来额外改善；普通 κ 融合仍有价值——ctx2 同组对照：只用目标 1.95 → κ 融合 2.80 cm。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629400"/>
            <a:ext cx="10835640" cy="1463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ADE：预测轨迹与真实轨迹的平均位置距离；收益 = 100 ×（无目标条件 ADE − 当前方法 ADE），单位 cm；各行仅与本组对照比较。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775704"/>
            <a:ext cx="10835640" cy="7315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600" b="0">
                <a:solidFill>
                  <a:srgbClr val="62748A"/>
                </a:solidFill>
                <a:latin typeface="Noto Sans CJK SC"/>
              </a:defRPr>
            </a:pPr>
            <a:r>
              <a:t>来源：kappa_fusion_summary.txt、p5b_harmful_predictor/summary.txt；阈值选择与离线评估限制详见备注。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