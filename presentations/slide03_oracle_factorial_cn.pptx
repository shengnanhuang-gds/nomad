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第3页，单页独立文件；不与前两页合并。</a:t>
            </a:r>
          </a:p>
          <a:p>
            <a:r>
              <a:t>来源：train/logs/revalidation/oracle_factorial/factorial_use.csv，main c1b3750，subset=all，n=1000。</a:t>
            </a:r>
          </a:p>
          <a:p>
            <a:r>
              <a:t>矩阵行=Goal（预测/真实），列=WP（预测/真实）；保持B预测距离与E-oracle不变。</a:t>
            </a:r>
          </a:p>
          <a:p>
            <a:r>
              <a:t>Db_d_blend=2.619988886081</a:t>
            </a:r>
          </a:p>
          <a:p>
            <a:r>
              <a:t>Db_blend_dgp_dwGT=4.655938766897</a:t>
            </a:r>
          </a:p>
          <a:p>
            <a:r>
              <a:t>Db_blend_dgGT_dwp=2.985680126399</a:t>
            </a:r>
          </a:p>
          <a:p>
            <a:r>
              <a:t>Db_blend_dgGT_dwGT=5.026780039445</a:t>
            </a:r>
          </a:p>
          <a:p>
            <a:r>
              <a:t>相对于预测组合，仅替换Goal的差值=0.365691240318cm；仅替换WP的差值=2.035949880816cm。差值在原始精度上计算，最后四舍五入。</a:t>
            </a:r>
          </a:p>
          <a:p>
            <a:r>
              <a:t>指标：use_cm=100*(masked_ADE-conditioned_ADE)。图中数值不是导航成功率，不能理解为绝对ADE。</a:t>
            </a:r>
          </a:p>
          <a:p>
            <a:r>
              <a:t>真实WP是未来8步轨迹终点方位，包含部署时不可获得的未来信息。本页表明当前栈中WP方向有较大Oracle恢复空间，不声称实际可训练方法必然达到该收益，也不声称显著性或跨协议可比。</a:t>
            </a:r>
          </a:p>
          <a:p>
            <a:r>
              <a:t>没有将P0的2.62cm与其他评估协议下e60的2.56cm混用。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P0 / Oracle 消融与瓶颈归因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主要损失来自目标方位，还是航点方向？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锁定远目标 1,000 帧 · 固定 B 预测距离与 E-oracle 策略 · 仅替换方向输入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0008"/>
            <a:ext cx="548640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2 × 2 方向替换实验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770632"/>
            <a:ext cx="1801368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预测 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9624" y="2770632"/>
            <a:ext cx="1801368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真实 WP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02736"/>
            <a:ext cx="1078992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预测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36008"/>
            <a:ext cx="1078992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真实 Goal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1952" y="3236976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3328416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2.62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858768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142B46"/>
                </a:solidFill>
                <a:latin typeface="Noto Sans CJK SC"/>
              </a:defRPr>
            </a:pPr>
            <a:r>
              <a:t>当前预测组合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9624" y="3236976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D9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9624" y="3328416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48D91"/>
                </a:solidFill>
                <a:latin typeface="Noto Sans CJK SC"/>
              </a:defRPr>
            </a:pPr>
            <a:r>
              <a:t>4.66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3858768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148D91"/>
                </a:solidFill>
                <a:latin typeface="Noto Sans CJK SC"/>
              </a:defRPr>
            </a:pPr>
            <a:r>
              <a:t>仅替换 WP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1952" y="4297680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DF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1952" y="4389120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477CCC"/>
                </a:solidFill>
                <a:latin typeface="Noto Sans CJK SC"/>
              </a:defRPr>
            </a:pPr>
            <a:r>
              <a:t>2.99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919472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477CCC"/>
                </a:solidFill>
                <a:latin typeface="Noto Sans CJK SC"/>
              </a:defRPr>
            </a:pPr>
            <a:r>
              <a:t>仅替换 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9624" y="4297680"/>
            <a:ext cx="1801368" cy="932688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4389120"/>
            <a:ext cx="1801368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5.03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4919472"/>
            <a:ext cx="1801368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FFFFFF"/>
                </a:solidFill>
                <a:latin typeface="Noto Sans CJK SC"/>
              </a:defRPr>
            </a:pPr>
            <a:r>
              <a:t>同时替换两者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5330952"/>
            <a:ext cx="42062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数值：目标条件收益 use_cm（cm），越大越好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350008"/>
            <a:ext cx="466344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相对预测组合，能恢复多少收益？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743200"/>
            <a:ext cx="46634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同一基线：预测 Goal + 预测 WP = 2.62 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319272"/>
            <a:ext cx="3657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仅将 Goal 替换为真实方向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3739896"/>
            <a:ext cx="3246120" cy="146304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0528" y="3739896"/>
            <a:ext cx="583058" cy="146304"/>
          </a:xfrm>
          <a:prstGeom prst="roundRect">
            <a:avLst>
              <a:gd name="adj" fmla="val 12000"/>
            </a:avLst>
          </a:prstGeom>
          <a:solidFill>
            <a:srgbClr val="477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3547872"/>
            <a:ext cx="1463040" cy="3931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477CCC"/>
                </a:solidFill>
                <a:latin typeface="Noto Sans CJK SC"/>
              </a:defRPr>
            </a:pPr>
            <a:r>
              <a:t>+0.37 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215384"/>
            <a:ext cx="36576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仅将 WP 替换为真实方向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0528" y="4636008"/>
            <a:ext cx="3246120" cy="146304"/>
          </a:xfrm>
          <a:prstGeom prst="roundRect">
            <a:avLst>
              <a:gd name="adj" fmla="val 12000"/>
            </a:avLst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1824" y="4443984"/>
            <a:ext cx="1463040" cy="39319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8D91"/>
                </a:solidFill>
                <a:latin typeface="Noto Sans CJK SC"/>
              </a:defRPr>
            </a:pPr>
            <a:r>
              <a:t>+2.04 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5157216"/>
            <a:ext cx="4709160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真实 WP 使用未来轨迹信息，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仅用于离线 Oracle 分析，部署时不可用。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760720"/>
            <a:ext cx="10826496" cy="43891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843016"/>
            <a:ext cx="104241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结论：在当前融合与策略设定下，航点方向具有更大的可恢复收益空间。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6373368"/>
            <a:ext cx="10817352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85800" y="6473952"/>
            <a:ext cx="9875520" cy="2011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来源：oracle_factorial/factorial_use.csv · all, n=1000；Oracle 收益不等同于可部署改进。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6473952"/>
            <a:ext cx="100584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748A"/>
                </a:solidFill>
                <a:latin typeface="Noto Sans CJK SC"/>
              </a:defRPr>
            </a:pPr>
            <a:r>
              <a:t>瓶颈归因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